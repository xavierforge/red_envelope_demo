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B1F27"/>
        </a:solidFill>
        <a:effectLst/>
        <a:uFillTx/>
        <a:latin typeface="+mj-lt"/>
        <a:ea typeface="+mj-ea"/>
        <a:cs typeface="+mj-cs"/>
        <a:sym typeface="IBM Plex Sans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B1F27"/>
        </a:solidFill>
        <a:effectLst/>
        <a:uFillTx/>
        <a:latin typeface="+mj-lt"/>
        <a:ea typeface="+mj-ea"/>
        <a:cs typeface="+mj-cs"/>
        <a:sym typeface="IBM Plex Sans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B1F27"/>
        </a:solidFill>
        <a:effectLst/>
        <a:uFillTx/>
        <a:latin typeface="+mj-lt"/>
        <a:ea typeface="+mj-ea"/>
        <a:cs typeface="+mj-cs"/>
        <a:sym typeface="IBM Plex Sans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B1F27"/>
        </a:solidFill>
        <a:effectLst/>
        <a:uFillTx/>
        <a:latin typeface="+mj-lt"/>
        <a:ea typeface="+mj-ea"/>
        <a:cs typeface="+mj-cs"/>
        <a:sym typeface="IBM Plex Sans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B1F27"/>
        </a:solidFill>
        <a:effectLst/>
        <a:uFillTx/>
        <a:latin typeface="+mj-lt"/>
        <a:ea typeface="+mj-ea"/>
        <a:cs typeface="+mj-cs"/>
        <a:sym typeface="IBM Plex Sans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B1F27"/>
        </a:solidFill>
        <a:effectLst/>
        <a:uFillTx/>
        <a:latin typeface="+mj-lt"/>
        <a:ea typeface="+mj-ea"/>
        <a:cs typeface="+mj-cs"/>
        <a:sym typeface="IBM Plex Sans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B1F27"/>
        </a:solidFill>
        <a:effectLst/>
        <a:uFillTx/>
        <a:latin typeface="+mj-lt"/>
        <a:ea typeface="+mj-ea"/>
        <a:cs typeface="+mj-cs"/>
        <a:sym typeface="IBM Plex Sans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B1F27"/>
        </a:solidFill>
        <a:effectLst/>
        <a:uFillTx/>
        <a:latin typeface="+mj-lt"/>
        <a:ea typeface="+mj-ea"/>
        <a:cs typeface="+mj-cs"/>
        <a:sym typeface="IBM Plex Sans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B1F27"/>
        </a:solidFill>
        <a:effectLst/>
        <a:uFillTx/>
        <a:latin typeface="+mj-lt"/>
        <a:ea typeface="+mj-ea"/>
        <a:cs typeface="+mj-cs"/>
        <a:sym typeface="IBM Plex Sans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1B1F27"/>
        </a:fontRef>
        <a:srgbClr val="1B1F27"/>
      </a:tcTxStyle>
      <a:tcStyle>
        <a:tcBdr>
          <a:left>
            <a:ln w="12700" cap="flat">
              <a:solidFill>
                <a:srgbClr val="F6F5F0"/>
              </a:solidFill>
              <a:prstDash val="solid"/>
              <a:round/>
            </a:ln>
          </a:left>
          <a:right>
            <a:ln w="12700" cap="flat">
              <a:solidFill>
                <a:srgbClr val="F6F5F0"/>
              </a:solidFill>
              <a:prstDash val="solid"/>
              <a:round/>
            </a:ln>
          </a:right>
          <a:top>
            <a:ln w="12700" cap="flat">
              <a:solidFill>
                <a:srgbClr val="F6F5F0"/>
              </a:solidFill>
              <a:prstDash val="solid"/>
              <a:round/>
            </a:ln>
          </a:top>
          <a:bottom>
            <a:ln w="12700" cap="flat">
              <a:solidFill>
                <a:srgbClr val="F6F5F0"/>
              </a:solidFill>
              <a:prstDash val="solid"/>
              <a:round/>
            </a:ln>
          </a:bottom>
          <a:insideH>
            <a:ln w="12700" cap="flat">
              <a:solidFill>
                <a:srgbClr val="F6F5F0"/>
              </a:solidFill>
              <a:prstDash val="solid"/>
              <a:round/>
            </a:ln>
          </a:insideH>
          <a:insideV>
            <a:ln w="12700" cap="flat">
              <a:solidFill>
                <a:srgbClr val="F6F5F0"/>
              </a:solidFill>
              <a:prstDash val="solid"/>
              <a:round/>
            </a:ln>
          </a:insideV>
        </a:tcBdr>
        <a:fill>
          <a:solidFill>
            <a:srgbClr val="CCD1E3"/>
          </a:solidFill>
        </a:fill>
      </a:tcStyle>
    </a:wholeTbl>
    <a:band2H>
      <a:tcTxStyle b="def" i="def"/>
      <a:tcStyle>
        <a:tcBdr/>
        <a:fill>
          <a:solidFill>
            <a:srgbClr val="E7EAF2"/>
          </a:solidFill>
        </a:fill>
      </a:tcStyle>
    </a:band2H>
    <a:firstCol>
      <a:tcTxStyle b="on" i="off">
        <a:font>
          <a:latin typeface="IBM Plex Sans Bold"/>
          <a:ea typeface="IBM Plex Sans Bold"/>
          <a:cs typeface="IBM Plex Sans Bold"/>
        </a:font>
        <a:srgbClr val="F6F5F0"/>
      </a:tcTxStyle>
      <a:tcStyle>
        <a:tcBdr>
          <a:left>
            <a:ln w="12700" cap="flat">
              <a:solidFill>
                <a:srgbClr val="F6F5F0"/>
              </a:solidFill>
              <a:prstDash val="solid"/>
              <a:round/>
            </a:ln>
          </a:left>
          <a:right>
            <a:ln w="12700" cap="flat">
              <a:solidFill>
                <a:srgbClr val="F6F5F0"/>
              </a:solidFill>
              <a:prstDash val="solid"/>
              <a:round/>
            </a:ln>
          </a:right>
          <a:top>
            <a:ln w="12700" cap="flat">
              <a:solidFill>
                <a:srgbClr val="F6F5F0"/>
              </a:solidFill>
              <a:prstDash val="solid"/>
              <a:round/>
            </a:ln>
          </a:top>
          <a:bottom>
            <a:ln w="12700" cap="flat">
              <a:solidFill>
                <a:srgbClr val="F6F5F0"/>
              </a:solidFill>
              <a:prstDash val="solid"/>
              <a:round/>
            </a:ln>
          </a:bottom>
          <a:insideH>
            <a:ln w="12700" cap="flat">
              <a:solidFill>
                <a:srgbClr val="F6F5F0"/>
              </a:solidFill>
              <a:prstDash val="solid"/>
              <a:round/>
            </a:ln>
          </a:insideH>
          <a:insideV>
            <a:ln w="12700" cap="flat">
              <a:solidFill>
                <a:srgbClr val="F6F5F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IBM Plex Sans Bold"/>
          <a:ea typeface="IBM Plex Sans Bold"/>
          <a:cs typeface="IBM Plex Sans Bold"/>
        </a:font>
        <a:srgbClr val="F6F5F0"/>
      </a:tcTxStyle>
      <a:tcStyle>
        <a:tcBdr>
          <a:left>
            <a:ln w="12700" cap="flat">
              <a:solidFill>
                <a:srgbClr val="F6F5F0"/>
              </a:solidFill>
              <a:prstDash val="solid"/>
              <a:round/>
            </a:ln>
          </a:left>
          <a:right>
            <a:ln w="12700" cap="flat">
              <a:solidFill>
                <a:srgbClr val="F6F5F0"/>
              </a:solidFill>
              <a:prstDash val="solid"/>
              <a:round/>
            </a:ln>
          </a:right>
          <a:top>
            <a:ln w="38100" cap="flat">
              <a:solidFill>
                <a:srgbClr val="F6F5F0"/>
              </a:solidFill>
              <a:prstDash val="solid"/>
              <a:round/>
            </a:ln>
          </a:top>
          <a:bottom>
            <a:ln w="12700" cap="flat">
              <a:solidFill>
                <a:srgbClr val="F6F5F0"/>
              </a:solidFill>
              <a:prstDash val="solid"/>
              <a:round/>
            </a:ln>
          </a:bottom>
          <a:insideH>
            <a:ln w="12700" cap="flat">
              <a:solidFill>
                <a:srgbClr val="F6F5F0"/>
              </a:solidFill>
              <a:prstDash val="solid"/>
              <a:round/>
            </a:ln>
          </a:insideH>
          <a:insideV>
            <a:ln w="12700" cap="flat">
              <a:solidFill>
                <a:srgbClr val="F6F5F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IBM Plex Sans Bold"/>
          <a:ea typeface="IBM Plex Sans Bold"/>
          <a:cs typeface="IBM Plex Sans Bold"/>
        </a:font>
        <a:srgbClr val="F6F5F0"/>
      </a:tcTxStyle>
      <a:tcStyle>
        <a:tcBdr>
          <a:left>
            <a:ln w="12700" cap="flat">
              <a:solidFill>
                <a:srgbClr val="F6F5F0"/>
              </a:solidFill>
              <a:prstDash val="solid"/>
              <a:round/>
            </a:ln>
          </a:left>
          <a:right>
            <a:ln w="12700" cap="flat">
              <a:solidFill>
                <a:srgbClr val="F6F5F0"/>
              </a:solidFill>
              <a:prstDash val="solid"/>
              <a:round/>
            </a:ln>
          </a:right>
          <a:top>
            <a:ln w="12700" cap="flat">
              <a:solidFill>
                <a:srgbClr val="F6F5F0"/>
              </a:solidFill>
              <a:prstDash val="solid"/>
              <a:round/>
            </a:ln>
          </a:top>
          <a:bottom>
            <a:ln w="38100" cap="flat">
              <a:solidFill>
                <a:srgbClr val="F6F5F0"/>
              </a:solidFill>
              <a:prstDash val="solid"/>
              <a:round/>
            </a:ln>
          </a:bottom>
          <a:insideH>
            <a:ln w="12700" cap="flat">
              <a:solidFill>
                <a:srgbClr val="F6F5F0"/>
              </a:solidFill>
              <a:prstDash val="solid"/>
              <a:round/>
            </a:ln>
          </a:insideH>
          <a:insideV>
            <a:ln w="12700" cap="flat">
              <a:solidFill>
                <a:srgbClr val="F6F5F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1B1F27"/>
        </a:fontRef>
        <a:srgbClr val="1B1F27"/>
      </a:tcTxStyle>
      <a:tcStyle>
        <a:tcBdr>
          <a:left>
            <a:ln w="12700" cap="flat">
              <a:solidFill>
                <a:srgbClr val="F6F5F0"/>
              </a:solidFill>
              <a:prstDash val="solid"/>
              <a:round/>
            </a:ln>
          </a:left>
          <a:right>
            <a:ln w="12700" cap="flat">
              <a:solidFill>
                <a:srgbClr val="F6F5F0"/>
              </a:solidFill>
              <a:prstDash val="solid"/>
              <a:round/>
            </a:ln>
          </a:right>
          <a:top>
            <a:ln w="12700" cap="flat">
              <a:solidFill>
                <a:srgbClr val="F6F5F0"/>
              </a:solidFill>
              <a:prstDash val="solid"/>
              <a:round/>
            </a:ln>
          </a:top>
          <a:bottom>
            <a:ln w="12700" cap="flat">
              <a:solidFill>
                <a:srgbClr val="F6F5F0"/>
              </a:solidFill>
              <a:prstDash val="solid"/>
              <a:round/>
            </a:ln>
          </a:bottom>
          <a:insideH>
            <a:ln w="12700" cap="flat">
              <a:solidFill>
                <a:srgbClr val="F6F5F0"/>
              </a:solidFill>
              <a:prstDash val="solid"/>
              <a:round/>
            </a:ln>
          </a:insideH>
          <a:insideV>
            <a:ln w="12700" cap="flat">
              <a:solidFill>
                <a:srgbClr val="F6F5F0"/>
              </a:solidFill>
              <a:prstDash val="solid"/>
              <a:round/>
            </a:ln>
          </a:insideV>
        </a:tcBdr>
        <a:fill>
          <a:solidFill>
            <a:srgbClr val="FCF2D6"/>
          </a:solidFill>
        </a:fill>
      </a:tcStyle>
    </a:wholeTbl>
    <a:band2H>
      <a:tcTxStyle b="def" i="def"/>
      <a:tcStyle>
        <a:tcBdr/>
        <a:fill>
          <a:solidFill>
            <a:srgbClr val="FDF8EC"/>
          </a:solidFill>
        </a:fill>
      </a:tcStyle>
    </a:band2H>
    <a:firstCol>
      <a:tcTxStyle b="on" i="off">
        <a:font>
          <a:latin typeface="IBM Plex Sans Bold"/>
          <a:ea typeface="IBM Plex Sans Bold"/>
          <a:cs typeface="IBM Plex Sans Bold"/>
        </a:font>
        <a:srgbClr val="F6F5F0"/>
      </a:tcTxStyle>
      <a:tcStyle>
        <a:tcBdr>
          <a:left>
            <a:ln w="12700" cap="flat">
              <a:solidFill>
                <a:srgbClr val="F6F5F0"/>
              </a:solidFill>
              <a:prstDash val="solid"/>
              <a:round/>
            </a:ln>
          </a:left>
          <a:right>
            <a:ln w="12700" cap="flat">
              <a:solidFill>
                <a:srgbClr val="F6F5F0"/>
              </a:solidFill>
              <a:prstDash val="solid"/>
              <a:round/>
            </a:ln>
          </a:right>
          <a:top>
            <a:ln w="12700" cap="flat">
              <a:solidFill>
                <a:srgbClr val="F6F5F0"/>
              </a:solidFill>
              <a:prstDash val="solid"/>
              <a:round/>
            </a:ln>
          </a:top>
          <a:bottom>
            <a:ln w="12700" cap="flat">
              <a:solidFill>
                <a:srgbClr val="F6F5F0"/>
              </a:solidFill>
              <a:prstDash val="solid"/>
              <a:round/>
            </a:ln>
          </a:bottom>
          <a:insideH>
            <a:ln w="12700" cap="flat">
              <a:solidFill>
                <a:srgbClr val="F6F5F0"/>
              </a:solidFill>
              <a:prstDash val="solid"/>
              <a:round/>
            </a:ln>
          </a:insideH>
          <a:insideV>
            <a:ln w="12700" cap="flat">
              <a:solidFill>
                <a:srgbClr val="F6F5F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IBM Plex Sans Bold"/>
          <a:ea typeface="IBM Plex Sans Bold"/>
          <a:cs typeface="IBM Plex Sans Bold"/>
        </a:font>
        <a:srgbClr val="F6F5F0"/>
      </a:tcTxStyle>
      <a:tcStyle>
        <a:tcBdr>
          <a:left>
            <a:ln w="12700" cap="flat">
              <a:solidFill>
                <a:srgbClr val="F6F5F0"/>
              </a:solidFill>
              <a:prstDash val="solid"/>
              <a:round/>
            </a:ln>
          </a:left>
          <a:right>
            <a:ln w="12700" cap="flat">
              <a:solidFill>
                <a:srgbClr val="F6F5F0"/>
              </a:solidFill>
              <a:prstDash val="solid"/>
              <a:round/>
            </a:ln>
          </a:right>
          <a:top>
            <a:ln w="38100" cap="flat">
              <a:solidFill>
                <a:srgbClr val="F6F5F0"/>
              </a:solidFill>
              <a:prstDash val="solid"/>
              <a:round/>
            </a:ln>
          </a:top>
          <a:bottom>
            <a:ln w="12700" cap="flat">
              <a:solidFill>
                <a:srgbClr val="F6F5F0"/>
              </a:solidFill>
              <a:prstDash val="solid"/>
              <a:round/>
            </a:ln>
          </a:bottom>
          <a:insideH>
            <a:ln w="12700" cap="flat">
              <a:solidFill>
                <a:srgbClr val="F6F5F0"/>
              </a:solidFill>
              <a:prstDash val="solid"/>
              <a:round/>
            </a:ln>
          </a:insideH>
          <a:insideV>
            <a:ln w="12700" cap="flat">
              <a:solidFill>
                <a:srgbClr val="F6F5F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IBM Plex Sans Bold"/>
          <a:ea typeface="IBM Plex Sans Bold"/>
          <a:cs typeface="IBM Plex Sans Bold"/>
        </a:font>
        <a:srgbClr val="F6F5F0"/>
      </a:tcTxStyle>
      <a:tcStyle>
        <a:tcBdr>
          <a:left>
            <a:ln w="12700" cap="flat">
              <a:solidFill>
                <a:srgbClr val="F6F5F0"/>
              </a:solidFill>
              <a:prstDash val="solid"/>
              <a:round/>
            </a:ln>
          </a:left>
          <a:right>
            <a:ln w="12700" cap="flat">
              <a:solidFill>
                <a:srgbClr val="F6F5F0"/>
              </a:solidFill>
              <a:prstDash val="solid"/>
              <a:round/>
            </a:ln>
          </a:right>
          <a:top>
            <a:ln w="12700" cap="flat">
              <a:solidFill>
                <a:srgbClr val="F6F5F0"/>
              </a:solidFill>
              <a:prstDash val="solid"/>
              <a:round/>
            </a:ln>
          </a:top>
          <a:bottom>
            <a:ln w="38100" cap="flat">
              <a:solidFill>
                <a:srgbClr val="F6F5F0"/>
              </a:solidFill>
              <a:prstDash val="solid"/>
              <a:round/>
            </a:ln>
          </a:bottom>
          <a:insideH>
            <a:ln w="12700" cap="flat">
              <a:solidFill>
                <a:srgbClr val="F6F5F0"/>
              </a:solidFill>
              <a:prstDash val="solid"/>
              <a:round/>
            </a:ln>
          </a:insideH>
          <a:insideV>
            <a:ln w="12700" cap="flat">
              <a:solidFill>
                <a:srgbClr val="F6F5F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1B1F27"/>
        </a:fontRef>
        <a:srgbClr val="1B1F27"/>
      </a:tcTxStyle>
      <a:tcStyle>
        <a:tcBdr>
          <a:left>
            <a:ln w="12700" cap="flat">
              <a:solidFill>
                <a:srgbClr val="F6F5F0"/>
              </a:solidFill>
              <a:prstDash val="solid"/>
              <a:round/>
            </a:ln>
          </a:left>
          <a:right>
            <a:ln w="12700" cap="flat">
              <a:solidFill>
                <a:srgbClr val="F6F5F0"/>
              </a:solidFill>
              <a:prstDash val="solid"/>
              <a:round/>
            </a:ln>
          </a:right>
          <a:top>
            <a:ln w="12700" cap="flat">
              <a:solidFill>
                <a:srgbClr val="F6F5F0"/>
              </a:solidFill>
              <a:prstDash val="solid"/>
              <a:round/>
            </a:ln>
          </a:top>
          <a:bottom>
            <a:ln w="12700" cap="flat">
              <a:solidFill>
                <a:srgbClr val="F6F5F0"/>
              </a:solidFill>
              <a:prstDash val="solid"/>
              <a:round/>
            </a:ln>
          </a:bottom>
          <a:insideH>
            <a:ln w="12700" cap="flat">
              <a:solidFill>
                <a:srgbClr val="F6F5F0"/>
              </a:solidFill>
              <a:prstDash val="solid"/>
              <a:round/>
            </a:ln>
          </a:insideH>
          <a:insideV>
            <a:ln w="12700" cap="flat">
              <a:solidFill>
                <a:srgbClr val="F6F5F0"/>
              </a:solidFill>
              <a:prstDash val="solid"/>
              <a:round/>
            </a:ln>
          </a:insideV>
        </a:tcBdr>
        <a:fill>
          <a:solidFill>
            <a:srgbClr val="D7E0F3"/>
          </a:solidFill>
        </a:fill>
      </a:tcStyle>
    </a:wholeTbl>
    <a:band2H>
      <a:tcTxStyle b="def" i="def"/>
      <a:tcStyle>
        <a:tcBdr/>
        <a:fill>
          <a:solidFill>
            <a:srgbClr val="ECF0F9"/>
          </a:solidFill>
        </a:fill>
      </a:tcStyle>
    </a:band2H>
    <a:firstCol>
      <a:tcTxStyle b="on" i="off">
        <a:font>
          <a:latin typeface="IBM Plex Sans Bold"/>
          <a:ea typeface="IBM Plex Sans Bold"/>
          <a:cs typeface="IBM Plex Sans Bold"/>
        </a:font>
        <a:srgbClr val="F6F5F0"/>
      </a:tcTxStyle>
      <a:tcStyle>
        <a:tcBdr>
          <a:left>
            <a:ln w="12700" cap="flat">
              <a:solidFill>
                <a:srgbClr val="F6F5F0"/>
              </a:solidFill>
              <a:prstDash val="solid"/>
              <a:round/>
            </a:ln>
          </a:left>
          <a:right>
            <a:ln w="12700" cap="flat">
              <a:solidFill>
                <a:srgbClr val="F6F5F0"/>
              </a:solidFill>
              <a:prstDash val="solid"/>
              <a:round/>
            </a:ln>
          </a:right>
          <a:top>
            <a:ln w="12700" cap="flat">
              <a:solidFill>
                <a:srgbClr val="F6F5F0"/>
              </a:solidFill>
              <a:prstDash val="solid"/>
              <a:round/>
            </a:ln>
          </a:top>
          <a:bottom>
            <a:ln w="12700" cap="flat">
              <a:solidFill>
                <a:srgbClr val="F6F5F0"/>
              </a:solidFill>
              <a:prstDash val="solid"/>
              <a:round/>
            </a:ln>
          </a:bottom>
          <a:insideH>
            <a:ln w="12700" cap="flat">
              <a:solidFill>
                <a:srgbClr val="F6F5F0"/>
              </a:solidFill>
              <a:prstDash val="solid"/>
              <a:round/>
            </a:ln>
          </a:insideH>
          <a:insideV>
            <a:ln w="12700" cap="flat">
              <a:solidFill>
                <a:srgbClr val="F6F5F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IBM Plex Sans Bold"/>
          <a:ea typeface="IBM Plex Sans Bold"/>
          <a:cs typeface="IBM Plex Sans Bold"/>
        </a:font>
        <a:srgbClr val="F6F5F0"/>
      </a:tcTxStyle>
      <a:tcStyle>
        <a:tcBdr>
          <a:left>
            <a:ln w="12700" cap="flat">
              <a:solidFill>
                <a:srgbClr val="F6F5F0"/>
              </a:solidFill>
              <a:prstDash val="solid"/>
              <a:round/>
            </a:ln>
          </a:left>
          <a:right>
            <a:ln w="12700" cap="flat">
              <a:solidFill>
                <a:srgbClr val="F6F5F0"/>
              </a:solidFill>
              <a:prstDash val="solid"/>
              <a:round/>
            </a:ln>
          </a:right>
          <a:top>
            <a:ln w="38100" cap="flat">
              <a:solidFill>
                <a:srgbClr val="F6F5F0"/>
              </a:solidFill>
              <a:prstDash val="solid"/>
              <a:round/>
            </a:ln>
          </a:top>
          <a:bottom>
            <a:ln w="12700" cap="flat">
              <a:solidFill>
                <a:srgbClr val="F6F5F0"/>
              </a:solidFill>
              <a:prstDash val="solid"/>
              <a:round/>
            </a:ln>
          </a:bottom>
          <a:insideH>
            <a:ln w="12700" cap="flat">
              <a:solidFill>
                <a:srgbClr val="F6F5F0"/>
              </a:solidFill>
              <a:prstDash val="solid"/>
              <a:round/>
            </a:ln>
          </a:insideH>
          <a:insideV>
            <a:ln w="12700" cap="flat">
              <a:solidFill>
                <a:srgbClr val="F6F5F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IBM Plex Sans Bold"/>
          <a:ea typeface="IBM Plex Sans Bold"/>
          <a:cs typeface="IBM Plex Sans Bold"/>
        </a:font>
        <a:srgbClr val="F6F5F0"/>
      </a:tcTxStyle>
      <a:tcStyle>
        <a:tcBdr>
          <a:left>
            <a:ln w="12700" cap="flat">
              <a:solidFill>
                <a:srgbClr val="F6F5F0"/>
              </a:solidFill>
              <a:prstDash val="solid"/>
              <a:round/>
            </a:ln>
          </a:left>
          <a:right>
            <a:ln w="12700" cap="flat">
              <a:solidFill>
                <a:srgbClr val="F6F5F0"/>
              </a:solidFill>
              <a:prstDash val="solid"/>
              <a:round/>
            </a:ln>
          </a:right>
          <a:top>
            <a:ln w="12700" cap="flat">
              <a:solidFill>
                <a:srgbClr val="F6F5F0"/>
              </a:solidFill>
              <a:prstDash val="solid"/>
              <a:round/>
            </a:ln>
          </a:top>
          <a:bottom>
            <a:ln w="38100" cap="flat">
              <a:solidFill>
                <a:srgbClr val="F6F5F0"/>
              </a:solidFill>
              <a:prstDash val="solid"/>
              <a:round/>
            </a:ln>
          </a:bottom>
          <a:insideH>
            <a:ln w="12700" cap="flat">
              <a:solidFill>
                <a:srgbClr val="F6F5F0"/>
              </a:solidFill>
              <a:prstDash val="solid"/>
              <a:round/>
            </a:ln>
          </a:insideH>
          <a:insideV>
            <a:ln w="12700" cap="flat">
              <a:solidFill>
                <a:srgbClr val="F6F5F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1B1F27"/>
        </a:fontRef>
        <a:srgbClr val="1B1F2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 b="def" i="def"/>
      <a:tcStyle>
        <a:tcBdr/>
        <a:fill>
          <a:solidFill>
            <a:srgbClr val="F6F5F0"/>
          </a:solidFill>
        </a:fill>
      </a:tcStyle>
    </a:band2H>
    <a:firstCol>
      <a:tcTxStyle b="on" i="off">
        <a:font>
          <a:latin typeface="IBM Plex Sans Bold"/>
          <a:ea typeface="IBM Plex Sans Bold"/>
          <a:cs typeface="IBM Plex Sans Bold"/>
        </a:font>
        <a:srgbClr val="F6F5F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IBM Plex Sans Bold"/>
          <a:ea typeface="IBM Plex Sans Bold"/>
          <a:cs typeface="IBM Plex Sans Bold"/>
        </a:font>
        <a:srgbClr val="1B1F2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1B1F27"/>
              </a:solidFill>
              <a:prstDash val="solid"/>
              <a:round/>
            </a:ln>
          </a:top>
          <a:bottom>
            <a:ln w="25400" cap="flat">
              <a:solidFill>
                <a:srgbClr val="1B1F27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6F5F0"/>
          </a:solidFill>
        </a:fill>
      </a:tcStyle>
    </a:lastRow>
    <a:firstRow>
      <a:tcTxStyle b="on" i="off">
        <a:font>
          <a:latin typeface="IBM Plex Sans Bold"/>
          <a:ea typeface="IBM Plex Sans Bold"/>
          <a:cs typeface="IBM Plex Sans Bold"/>
        </a:font>
        <a:srgbClr val="F6F5F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1B1F27"/>
              </a:solidFill>
              <a:prstDash val="solid"/>
              <a:round/>
            </a:ln>
          </a:top>
          <a:bottom>
            <a:ln w="25400" cap="flat">
              <a:solidFill>
                <a:srgbClr val="1B1F27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1B1F27"/>
        </a:fontRef>
        <a:srgbClr val="1B1F27"/>
      </a:tcTxStyle>
      <a:tcStyle>
        <a:tcBdr>
          <a:left>
            <a:ln w="12700" cap="flat">
              <a:solidFill>
                <a:srgbClr val="F6F5F0"/>
              </a:solidFill>
              <a:prstDash val="solid"/>
              <a:round/>
            </a:ln>
          </a:left>
          <a:right>
            <a:ln w="12700" cap="flat">
              <a:solidFill>
                <a:srgbClr val="F6F5F0"/>
              </a:solidFill>
              <a:prstDash val="solid"/>
              <a:round/>
            </a:ln>
          </a:right>
          <a:top>
            <a:ln w="12700" cap="flat">
              <a:solidFill>
                <a:srgbClr val="F6F5F0"/>
              </a:solidFill>
              <a:prstDash val="solid"/>
              <a:round/>
            </a:ln>
          </a:top>
          <a:bottom>
            <a:ln w="12700" cap="flat">
              <a:solidFill>
                <a:srgbClr val="F6F5F0"/>
              </a:solidFill>
              <a:prstDash val="solid"/>
              <a:round/>
            </a:ln>
          </a:bottom>
          <a:insideH>
            <a:ln w="12700" cap="flat">
              <a:solidFill>
                <a:srgbClr val="F6F5F0"/>
              </a:solidFill>
              <a:prstDash val="solid"/>
              <a:round/>
            </a:ln>
          </a:insideH>
          <a:insideV>
            <a:ln w="12700" cap="flat">
              <a:solidFill>
                <a:srgbClr val="F6F5F0"/>
              </a:solidFill>
              <a:prstDash val="solid"/>
              <a:round/>
            </a:ln>
          </a:insideV>
        </a:tcBdr>
        <a:fill>
          <a:solidFill>
            <a:srgbClr val="CBCBCB"/>
          </a:solidFill>
        </a:fill>
      </a:tcStyle>
    </a:wholeTbl>
    <a:band2H>
      <a:tcTxStyle b="def" i="def"/>
      <a:tcStyle>
        <a:tcBdr/>
        <a:fill>
          <a:solidFill>
            <a:srgbClr val="E7E7E7"/>
          </a:solidFill>
        </a:fill>
      </a:tcStyle>
    </a:band2H>
    <a:firstCol>
      <a:tcTxStyle b="on" i="off">
        <a:font>
          <a:latin typeface="IBM Plex Sans Bold"/>
          <a:ea typeface="IBM Plex Sans Bold"/>
          <a:cs typeface="IBM Plex Sans Bold"/>
        </a:font>
        <a:srgbClr val="F6F5F0"/>
      </a:tcTxStyle>
      <a:tcStyle>
        <a:tcBdr>
          <a:left>
            <a:ln w="12700" cap="flat">
              <a:solidFill>
                <a:srgbClr val="F6F5F0"/>
              </a:solidFill>
              <a:prstDash val="solid"/>
              <a:round/>
            </a:ln>
          </a:left>
          <a:right>
            <a:ln w="12700" cap="flat">
              <a:solidFill>
                <a:srgbClr val="F6F5F0"/>
              </a:solidFill>
              <a:prstDash val="solid"/>
              <a:round/>
            </a:ln>
          </a:right>
          <a:top>
            <a:ln w="12700" cap="flat">
              <a:solidFill>
                <a:srgbClr val="F6F5F0"/>
              </a:solidFill>
              <a:prstDash val="solid"/>
              <a:round/>
            </a:ln>
          </a:top>
          <a:bottom>
            <a:ln w="12700" cap="flat">
              <a:solidFill>
                <a:srgbClr val="F6F5F0"/>
              </a:solidFill>
              <a:prstDash val="solid"/>
              <a:round/>
            </a:ln>
          </a:bottom>
          <a:insideH>
            <a:ln w="12700" cap="flat">
              <a:solidFill>
                <a:srgbClr val="F6F5F0"/>
              </a:solidFill>
              <a:prstDash val="solid"/>
              <a:round/>
            </a:ln>
          </a:insideH>
          <a:insideV>
            <a:ln w="12700" cap="flat">
              <a:solidFill>
                <a:srgbClr val="F6F5F0"/>
              </a:solidFill>
              <a:prstDash val="solid"/>
              <a:round/>
            </a:ln>
          </a:insideV>
        </a:tcBdr>
        <a:fill>
          <a:solidFill>
            <a:srgbClr val="1B1F27"/>
          </a:solidFill>
        </a:fill>
      </a:tcStyle>
    </a:firstCol>
    <a:lastRow>
      <a:tcTxStyle b="on" i="off">
        <a:font>
          <a:latin typeface="IBM Plex Sans Bold"/>
          <a:ea typeface="IBM Plex Sans Bold"/>
          <a:cs typeface="IBM Plex Sans Bold"/>
        </a:font>
        <a:srgbClr val="F6F5F0"/>
      </a:tcTxStyle>
      <a:tcStyle>
        <a:tcBdr>
          <a:left>
            <a:ln w="12700" cap="flat">
              <a:solidFill>
                <a:srgbClr val="F6F5F0"/>
              </a:solidFill>
              <a:prstDash val="solid"/>
              <a:round/>
            </a:ln>
          </a:left>
          <a:right>
            <a:ln w="12700" cap="flat">
              <a:solidFill>
                <a:srgbClr val="F6F5F0"/>
              </a:solidFill>
              <a:prstDash val="solid"/>
              <a:round/>
            </a:ln>
          </a:right>
          <a:top>
            <a:ln w="38100" cap="flat">
              <a:solidFill>
                <a:srgbClr val="F6F5F0"/>
              </a:solidFill>
              <a:prstDash val="solid"/>
              <a:round/>
            </a:ln>
          </a:top>
          <a:bottom>
            <a:ln w="12700" cap="flat">
              <a:solidFill>
                <a:srgbClr val="F6F5F0"/>
              </a:solidFill>
              <a:prstDash val="solid"/>
              <a:round/>
            </a:ln>
          </a:bottom>
          <a:insideH>
            <a:ln w="12700" cap="flat">
              <a:solidFill>
                <a:srgbClr val="F6F5F0"/>
              </a:solidFill>
              <a:prstDash val="solid"/>
              <a:round/>
            </a:ln>
          </a:insideH>
          <a:insideV>
            <a:ln w="12700" cap="flat">
              <a:solidFill>
                <a:srgbClr val="F6F5F0"/>
              </a:solidFill>
              <a:prstDash val="solid"/>
              <a:round/>
            </a:ln>
          </a:insideV>
        </a:tcBdr>
        <a:fill>
          <a:solidFill>
            <a:srgbClr val="1B1F27"/>
          </a:solidFill>
        </a:fill>
      </a:tcStyle>
    </a:lastRow>
    <a:firstRow>
      <a:tcTxStyle b="on" i="off">
        <a:font>
          <a:latin typeface="IBM Plex Sans Bold"/>
          <a:ea typeface="IBM Plex Sans Bold"/>
          <a:cs typeface="IBM Plex Sans Bold"/>
        </a:font>
        <a:srgbClr val="F6F5F0"/>
      </a:tcTxStyle>
      <a:tcStyle>
        <a:tcBdr>
          <a:left>
            <a:ln w="12700" cap="flat">
              <a:solidFill>
                <a:srgbClr val="F6F5F0"/>
              </a:solidFill>
              <a:prstDash val="solid"/>
              <a:round/>
            </a:ln>
          </a:left>
          <a:right>
            <a:ln w="12700" cap="flat">
              <a:solidFill>
                <a:srgbClr val="F6F5F0"/>
              </a:solidFill>
              <a:prstDash val="solid"/>
              <a:round/>
            </a:ln>
          </a:right>
          <a:top>
            <a:ln w="12700" cap="flat">
              <a:solidFill>
                <a:srgbClr val="F6F5F0"/>
              </a:solidFill>
              <a:prstDash val="solid"/>
              <a:round/>
            </a:ln>
          </a:top>
          <a:bottom>
            <a:ln w="38100" cap="flat">
              <a:solidFill>
                <a:srgbClr val="F6F5F0"/>
              </a:solidFill>
              <a:prstDash val="solid"/>
              <a:round/>
            </a:ln>
          </a:bottom>
          <a:insideH>
            <a:ln w="12700" cap="flat">
              <a:solidFill>
                <a:srgbClr val="F6F5F0"/>
              </a:solidFill>
              <a:prstDash val="solid"/>
              <a:round/>
            </a:ln>
          </a:insideH>
          <a:insideV>
            <a:ln w="12700" cap="flat">
              <a:solidFill>
                <a:srgbClr val="F6F5F0"/>
              </a:solidFill>
              <a:prstDash val="solid"/>
              <a:round/>
            </a:ln>
          </a:insideV>
        </a:tcBdr>
        <a:fill>
          <a:solidFill>
            <a:srgbClr val="1B1F27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1B1F27"/>
        </a:fontRef>
        <a:srgbClr val="1B1F27"/>
      </a:tcTxStyle>
      <a:tcStyle>
        <a:tcBdr>
          <a:left>
            <a:ln w="12700" cap="flat">
              <a:solidFill>
                <a:srgbClr val="1B1F27"/>
              </a:solidFill>
              <a:prstDash val="solid"/>
              <a:round/>
            </a:ln>
          </a:left>
          <a:right>
            <a:ln w="12700" cap="flat">
              <a:solidFill>
                <a:srgbClr val="1B1F27"/>
              </a:solidFill>
              <a:prstDash val="solid"/>
              <a:round/>
            </a:ln>
          </a:right>
          <a:top>
            <a:ln w="12700" cap="flat">
              <a:solidFill>
                <a:srgbClr val="1B1F27"/>
              </a:solidFill>
              <a:prstDash val="solid"/>
              <a:round/>
            </a:ln>
          </a:top>
          <a:bottom>
            <a:ln w="12700" cap="flat">
              <a:solidFill>
                <a:srgbClr val="1B1F27"/>
              </a:solidFill>
              <a:prstDash val="solid"/>
              <a:round/>
            </a:ln>
          </a:bottom>
          <a:insideH>
            <a:ln w="12700" cap="flat">
              <a:solidFill>
                <a:srgbClr val="1B1F27"/>
              </a:solidFill>
              <a:prstDash val="solid"/>
              <a:round/>
            </a:ln>
          </a:insideH>
          <a:insideV>
            <a:ln w="12700" cap="flat">
              <a:solidFill>
                <a:srgbClr val="1B1F27"/>
              </a:solidFill>
              <a:prstDash val="solid"/>
              <a:round/>
            </a:ln>
          </a:insideV>
        </a:tcBdr>
        <a:fill>
          <a:solidFill>
            <a:srgbClr val="1B1F27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IBM Plex Sans Bold"/>
          <a:ea typeface="IBM Plex Sans Bold"/>
          <a:cs typeface="IBM Plex Sans Bold"/>
        </a:font>
        <a:srgbClr val="1B1F27"/>
      </a:tcTxStyle>
      <a:tcStyle>
        <a:tcBdr>
          <a:left>
            <a:ln w="12700" cap="flat">
              <a:solidFill>
                <a:srgbClr val="1B1F27"/>
              </a:solidFill>
              <a:prstDash val="solid"/>
              <a:round/>
            </a:ln>
          </a:left>
          <a:right>
            <a:ln w="12700" cap="flat">
              <a:solidFill>
                <a:srgbClr val="1B1F27"/>
              </a:solidFill>
              <a:prstDash val="solid"/>
              <a:round/>
            </a:ln>
          </a:right>
          <a:top>
            <a:ln w="12700" cap="flat">
              <a:solidFill>
                <a:srgbClr val="1B1F27"/>
              </a:solidFill>
              <a:prstDash val="solid"/>
              <a:round/>
            </a:ln>
          </a:top>
          <a:bottom>
            <a:ln w="12700" cap="flat">
              <a:solidFill>
                <a:srgbClr val="1B1F27"/>
              </a:solidFill>
              <a:prstDash val="solid"/>
              <a:round/>
            </a:ln>
          </a:bottom>
          <a:insideH>
            <a:ln w="12700" cap="flat">
              <a:solidFill>
                <a:srgbClr val="1B1F27"/>
              </a:solidFill>
              <a:prstDash val="solid"/>
              <a:round/>
            </a:ln>
          </a:insideH>
          <a:insideV>
            <a:ln w="12700" cap="flat">
              <a:solidFill>
                <a:srgbClr val="1B1F27"/>
              </a:solidFill>
              <a:prstDash val="solid"/>
              <a:round/>
            </a:ln>
          </a:insideV>
        </a:tcBdr>
        <a:fill>
          <a:solidFill>
            <a:srgbClr val="1B1F27">
              <a:alpha val="20000"/>
            </a:srgbClr>
          </a:solidFill>
        </a:fill>
      </a:tcStyle>
    </a:firstCol>
    <a:lastRow>
      <a:tcTxStyle b="on" i="off">
        <a:font>
          <a:latin typeface="IBM Plex Sans Bold"/>
          <a:ea typeface="IBM Plex Sans Bold"/>
          <a:cs typeface="IBM Plex Sans Bold"/>
        </a:font>
        <a:srgbClr val="1B1F27"/>
      </a:tcTxStyle>
      <a:tcStyle>
        <a:tcBdr>
          <a:left>
            <a:ln w="12700" cap="flat">
              <a:solidFill>
                <a:srgbClr val="1B1F27"/>
              </a:solidFill>
              <a:prstDash val="solid"/>
              <a:round/>
            </a:ln>
          </a:left>
          <a:right>
            <a:ln w="12700" cap="flat">
              <a:solidFill>
                <a:srgbClr val="1B1F27"/>
              </a:solidFill>
              <a:prstDash val="solid"/>
              <a:round/>
            </a:ln>
          </a:right>
          <a:top>
            <a:ln w="50800" cap="flat">
              <a:solidFill>
                <a:srgbClr val="1B1F27"/>
              </a:solidFill>
              <a:prstDash val="solid"/>
              <a:round/>
            </a:ln>
          </a:top>
          <a:bottom>
            <a:ln w="12700" cap="flat">
              <a:solidFill>
                <a:srgbClr val="1B1F27"/>
              </a:solidFill>
              <a:prstDash val="solid"/>
              <a:round/>
            </a:ln>
          </a:bottom>
          <a:insideH>
            <a:ln w="12700" cap="flat">
              <a:solidFill>
                <a:srgbClr val="1B1F27"/>
              </a:solidFill>
              <a:prstDash val="solid"/>
              <a:round/>
            </a:ln>
          </a:insideH>
          <a:insideV>
            <a:ln w="12700" cap="flat">
              <a:solidFill>
                <a:srgbClr val="1B1F27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IBM Plex Sans Bold"/>
          <a:ea typeface="IBM Plex Sans Bold"/>
          <a:cs typeface="IBM Plex Sans Bold"/>
        </a:font>
        <a:srgbClr val="1B1F27"/>
      </a:tcTxStyle>
      <a:tcStyle>
        <a:tcBdr>
          <a:left>
            <a:ln w="12700" cap="flat">
              <a:solidFill>
                <a:srgbClr val="1B1F27"/>
              </a:solidFill>
              <a:prstDash val="solid"/>
              <a:round/>
            </a:ln>
          </a:left>
          <a:right>
            <a:ln w="12700" cap="flat">
              <a:solidFill>
                <a:srgbClr val="1B1F27"/>
              </a:solidFill>
              <a:prstDash val="solid"/>
              <a:round/>
            </a:ln>
          </a:right>
          <a:top>
            <a:ln w="12700" cap="flat">
              <a:solidFill>
                <a:srgbClr val="1B1F27"/>
              </a:solidFill>
              <a:prstDash val="solid"/>
              <a:round/>
            </a:ln>
          </a:top>
          <a:bottom>
            <a:ln w="25400" cap="flat">
              <a:solidFill>
                <a:srgbClr val="1B1F27"/>
              </a:solidFill>
              <a:prstDash val="solid"/>
              <a:round/>
            </a:ln>
          </a:bottom>
          <a:insideH>
            <a:ln w="12700" cap="flat">
              <a:solidFill>
                <a:srgbClr val="1B1F27"/>
              </a:solidFill>
              <a:prstDash val="solid"/>
              <a:round/>
            </a:ln>
          </a:insideH>
          <a:insideV>
            <a:ln w="12700" cap="flat">
              <a:solidFill>
                <a:srgbClr val="1B1F27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IBM Plex Sans Regular"/>
      </a:defRPr>
    </a:lvl1pPr>
    <a:lvl2pPr indent="228600" latinLnBrk="0">
      <a:defRPr sz="1200">
        <a:latin typeface="+mj-lt"/>
        <a:ea typeface="+mj-ea"/>
        <a:cs typeface="+mj-cs"/>
        <a:sym typeface="IBM Plex Sans Regular"/>
      </a:defRPr>
    </a:lvl2pPr>
    <a:lvl3pPr indent="457200" latinLnBrk="0">
      <a:defRPr sz="1200">
        <a:latin typeface="+mj-lt"/>
        <a:ea typeface="+mj-ea"/>
        <a:cs typeface="+mj-cs"/>
        <a:sym typeface="IBM Plex Sans Regular"/>
      </a:defRPr>
    </a:lvl3pPr>
    <a:lvl4pPr indent="685800" latinLnBrk="0">
      <a:defRPr sz="1200">
        <a:latin typeface="+mj-lt"/>
        <a:ea typeface="+mj-ea"/>
        <a:cs typeface="+mj-cs"/>
        <a:sym typeface="IBM Plex Sans Regular"/>
      </a:defRPr>
    </a:lvl4pPr>
    <a:lvl5pPr indent="914400" latinLnBrk="0">
      <a:defRPr sz="1200">
        <a:latin typeface="+mj-lt"/>
        <a:ea typeface="+mj-ea"/>
        <a:cs typeface="+mj-cs"/>
        <a:sym typeface="IBM Plex Sans Regular"/>
      </a:defRPr>
    </a:lvl5pPr>
    <a:lvl6pPr indent="1143000" latinLnBrk="0">
      <a:defRPr sz="1200">
        <a:latin typeface="+mj-lt"/>
        <a:ea typeface="+mj-ea"/>
        <a:cs typeface="+mj-cs"/>
        <a:sym typeface="IBM Plex Sans Regular"/>
      </a:defRPr>
    </a:lvl6pPr>
    <a:lvl7pPr indent="1371600" latinLnBrk="0">
      <a:defRPr sz="1200">
        <a:latin typeface="+mj-lt"/>
        <a:ea typeface="+mj-ea"/>
        <a:cs typeface="+mj-cs"/>
        <a:sym typeface="IBM Plex Sans Regular"/>
      </a:defRPr>
    </a:lvl7pPr>
    <a:lvl8pPr indent="1600200" latinLnBrk="0">
      <a:defRPr sz="1200">
        <a:latin typeface="+mj-lt"/>
        <a:ea typeface="+mj-ea"/>
        <a:cs typeface="+mj-cs"/>
        <a:sym typeface="IBM Plex Sans Regular"/>
      </a:defRPr>
    </a:lvl8pPr>
    <a:lvl9pPr indent="1828800" latinLnBrk="0">
      <a:defRPr sz="1200">
        <a:latin typeface="+mj-lt"/>
        <a:ea typeface="+mj-ea"/>
        <a:cs typeface="+mj-cs"/>
        <a:sym typeface="IBM Plex Sans Regular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Shape 9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04" name="Shape 9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原因是 </a:t>
            </a:r>
            <a:r>
              <a:t>account.lock().unwrap()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回傳的 </a:t>
            </a:r>
            <a:r>
              <a:t>MutexGuard&lt;u64&gt;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在這裡是一個 </a:t>
            </a:r>
            <a:r>
              <a:t>temporary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，沒有綁定到任何具名變數。</a:t>
            </a:r>
            <a:r>
              <a:t>Rust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對 </a:t>
            </a:r>
            <a:r>
              <a:t>temporary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的規則是它活到所在的那個 </a:t>
            </a:r>
            <a:r>
              <a:t>statement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結束，也就是分號為止。這一行真正綁定到 </a:t>
            </a:r>
            <a:r>
              <a:t>ok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的東西是 </a:t>
            </a:r>
            <a:r>
              <a:t>*guard &gt;= amount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的結果，一個 </a:t>
            </a:r>
            <a:r>
              <a:t>bool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，是 </a:t>
            </a:r>
            <a:r>
              <a:t>Copy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，跟 </a:t>
            </a:r>
            <a:r>
              <a:t>guard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之間沒有任何借用關係，所以 </a:t>
            </a:r>
            <a:r>
              <a:t>temporary lifetime extension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也不會啟動（那只在 </a:t>
            </a:r>
            <a:r>
              <a:t>let x = &amp;temp;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這類直接借用 </a:t>
            </a:r>
            <a:r>
              <a:t>temporary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的寫法才會發生）。分號一到，</a:t>
            </a:r>
            <a:r>
              <a:t>guard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被 </a:t>
            </a:r>
            <a:r>
              <a:t>drop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</a:t>
            </a:r>
            <a:r>
              <a:t>Drop for MutexGuard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把 </a:t>
            </a:r>
            <a:r>
              <a:t>lock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釋放掉。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大標題文字"/>
          <p:cNvSpPr txBox="1"/>
          <p:nvPr>
            <p:ph type="title"/>
          </p:nvPr>
        </p:nvSpPr>
        <p:spPr>
          <a:xfrm>
            <a:off x="812800" y="812800"/>
            <a:ext cx="10566400" cy="36322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大標題文字</a:t>
            </a:r>
          </a:p>
        </p:txBody>
      </p:sp>
      <p:sp>
        <p:nvSpPr>
          <p:cNvPr id="19" name="內文層級一…"/>
          <p:cNvSpPr txBox="1"/>
          <p:nvPr>
            <p:ph type="body" idx="1"/>
          </p:nvPr>
        </p:nvSpPr>
        <p:spPr>
          <a:xfrm>
            <a:off x="812800" y="1480819"/>
            <a:ext cx="10566400" cy="45643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20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大標題文字"/>
          <p:cNvSpPr txBox="1"/>
          <p:nvPr>
            <p:ph type="title"/>
          </p:nvPr>
        </p:nvSpPr>
        <p:spPr>
          <a:xfrm>
            <a:off x="609600" y="274637"/>
            <a:ext cx="109728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大標題文字</a:t>
            </a:r>
          </a:p>
        </p:txBody>
      </p:sp>
      <p:sp>
        <p:nvSpPr>
          <p:cNvPr id="3" name="內文層級一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" name="幻燈片編號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1B1F27"/>
          </a:solidFill>
          <a:uFillTx/>
          <a:latin typeface="Space Grotesk Regular"/>
          <a:ea typeface="Space Grotesk Regular"/>
          <a:cs typeface="Space Grotesk Regular"/>
          <a:sym typeface="Space Grotesk Regular"/>
        </a:defRPr>
      </a:lvl1pPr>
      <a:lvl2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1B1F27"/>
          </a:solidFill>
          <a:uFillTx/>
          <a:latin typeface="Space Grotesk Regular"/>
          <a:ea typeface="Space Grotesk Regular"/>
          <a:cs typeface="Space Grotesk Regular"/>
          <a:sym typeface="Space Grotesk Regular"/>
        </a:defRPr>
      </a:lvl2pPr>
      <a:lvl3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1B1F27"/>
          </a:solidFill>
          <a:uFillTx/>
          <a:latin typeface="Space Grotesk Regular"/>
          <a:ea typeface="Space Grotesk Regular"/>
          <a:cs typeface="Space Grotesk Regular"/>
          <a:sym typeface="Space Grotesk Regular"/>
        </a:defRPr>
      </a:lvl3pPr>
      <a:lvl4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1B1F27"/>
          </a:solidFill>
          <a:uFillTx/>
          <a:latin typeface="Space Grotesk Regular"/>
          <a:ea typeface="Space Grotesk Regular"/>
          <a:cs typeface="Space Grotesk Regular"/>
          <a:sym typeface="Space Grotesk Regular"/>
        </a:defRPr>
      </a:lvl4pPr>
      <a:lvl5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1B1F27"/>
          </a:solidFill>
          <a:uFillTx/>
          <a:latin typeface="Space Grotesk Regular"/>
          <a:ea typeface="Space Grotesk Regular"/>
          <a:cs typeface="Space Grotesk Regular"/>
          <a:sym typeface="Space Grotesk Regular"/>
        </a:defRPr>
      </a:lvl5pPr>
      <a:lvl6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1B1F27"/>
          </a:solidFill>
          <a:uFillTx/>
          <a:latin typeface="Space Grotesk Regular"/>
          <a:ea typeface="Space Grotesk Regular"/>
          <a:cs typeface="Space Grotesk Regular"/>
          <a:sym typeface="Space Grotesk Regular"/>
        </a:defRPr>
      </a:lvl6pPr>
      <a:lvl7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1B1F27"/>
          </a:solidFill>
          <a:uFillTx/>
          <a:latin typeface="Space Grotesk Regular"/>
          <a:ea typeface="Space Grotesk Regular"/>
          <a:cs typeface="Space Grotesk Regular"/>
          <a:sym typeface="Space Grotesk Regular"/>
        </a:defRPr>
      </a:lvl7pPr>
      <a:lvl8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1B1F27"/>
          </a:solidFill>
          <a:uFillTx/>
          <a:latin typeface="Space Grotesk Regular"/>
          <a:ea typeface="Space Grotesk Regular"/>
          <a:cs typeface="Space Grotesk Regular"/>
          <a:sym typeface="Space Grotesk Regular"/>
        </a:defRPr>
      </a:lvl8pPr>
      <a:lvl9pPr marL="0" marR="0" indent="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1B1F27"/>
          </a:solidFill>
          <a:uFillTx/>
          <a:latin typeface="Space Grotesk Regular"/>
          <a:ea typeface="Space Grotesk Regular"/>
          <a:cs typeface="Space Grotesk Regular"/>
          <a:sym typeface="Space Grotesk Regular"/>
        </a:defRPr>
      </a:lvl9pPr>
    </p:titleStyle>
    <p:bodyStyle>
      <a:lvl1pPr marL="0" marR="0" indent="0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rgbClr val="1B1F27"/>
          </a:solidFill>
          <a:uFillTx/>
          <a:latin typeface="+mj-lt"/>
          <a:ea typeface="+mj-ea"/>
          <a:cs typeface="+mj-cs"/>
          <a:sym typeface="IBM Plex Sans Regular"/>
        </a:defRPr>
      </a:lvl1pPr>
      <a:lvl2pPr marL="620485" marR="0" indent="-163285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600" u="none">
          <a:solidFill>
            <a:srgbClr val="1B1F27"/>
          </a:solidFill>
          <a:uFillTx/>
          <a:latin typeface="+mj-lt"/>
          <a:ea typeface="+mj-ea"/>
          <a:cs typeface="+mj-cs"/>
          <a:sym typeface="IBM Plex Sans Regular"/>
        </a:defRPr>
      </a:lvl2pPr>
      <a:lvl3pPr marL="1066800" marR="0" indent="-152400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1B1F27"/>
          </a:solidFill>
          <a:uFillTx/>
          <a:latin typeface="+mj-lt"/>
          <a:ea typeface="+mj-ea"/>
          <a:cs typeface="+mj-cs"/>
          <a:sym typeface="IBM Plex Sans Regular"/>
        </a:defRPr>
      </a:lvl3pPr>
      <a:lvl4pPr marL="1554480" marR="0" indent="-182880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600" u="none">
          <a:solidFill>
            <a:srgbClr val="1B1F27"/>
          </a:solidFill>
          <a:uFillTx/>
          <a:latin typeface="+mj-lt"/>
          <a:ea typeface="+mj-ea"/>
          <a:cs typeface="+mj-cs"/>
          <a:sym typeface="IBM Plex Sans Regular"/>
        </a:defRPr>
      </a:lvl4pPr>
      <a:lvl5pPr marL="2011679" marR="0" indent="-182879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600" u="none">
          <a:solidFill>
            <a:srgbClr val="1B1F27"/>
          </a:solidFill>
          <a:uFillTx/>
          <a:latin typeface="+mj-lt"/>
          <a:ea typeface="+mj-ea"/>
          <a:cs typeface="+mj-cs"/>
          <a:sym typeface="IBM Plex Sans Regular"/>
        </a:defRPr>
      </a:lvl5pPr>
      <a:lvl6pPr marL="2468879" marR="0" indent="-182879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1B1F27"/>
          </a:solidFill>
          <a:uFillTx/>
          <a:latin typeface="+mj-lt"/>
          <a:ea typeface="+mj-ea"/>
          <a:cs typeface="+mj-cs"/>
          <a:sym typeface="IBM Plex Sans Regular"/>
        </a:defRPr>
      </a:lvl6pPr>
      <a:lvl7pPr marL="2926079" marR="0" indent="-182879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1B1F27"/>
          </a:solidFill>
          <a:uFillTx/>
          <a:latin typeface="+mj-lt"/>
          <a:ea typeface="+mj-ea"/>
          <a:cs typeface="+mj-cs"/>
          <a:sym typeface="IBM Plex Sans Regular"/>
        </a:defRPr>
      </a:lvl7pPr>
      <a:lvl8pPr marL="3383279" marR="0" indent="-182879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1B1F27"/>
          </a:solidFill>
          <a:uFillTx/>
          <a:latin typeface="+mj-lt"/>
          <a:ea typeface="+mj-ea"/>
          <a:cs typeface="+mj-cs"/>
          <a:sym typeface="IBM Plex Sans Regular"/>
        </a:defRPr>
      </a:lvl8pPr>
      <a:lvl9pPr marL="3840479" marR="0" indent="-182879" algn="l" defTabSz="914400" rtl="0" latinLnBrk="0">
        <a:lnSpc>
          <a:spcPct val="14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1B1F27"/>
          </a:solidFill>
          <a:uFillTx/>
          <a:latin typeface="+mj-lt"/>
          <a:ea typeface="+mj-ea"/>
          <a:cs typeface="+mj-cs"/>
          <a:sym typeface="IBM Plex Sans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IBM Plex Sans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IBM Plex Sans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IBM Plex Sans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IBM Plex Sans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IBM Plex Sans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IBM Plex Sans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IBM Plex Sans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IBM Plex Sans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IBM Plex Sans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812800" y="1985010"/>
            <a:ext cx="609600" cy="63501"/>
          </a:xfrm>
          <a:prstGeom prst="roundRect">
            <a:avLst>
              <a:gd name="adj" fmla="val 40000"/>
            </a:avLst>
          </a:prstGeom>
          <a:solidFill>
            <a:srgbClr val="3F78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Shape 1"/>
          <p:cNvSpPr/>
          <p:nvPr/>
        </p:nvSpPr>
        <p:spPr>
          <a:xfrm>
            <a:off x="1498600" y="1985010"/>
            <a:ext cx="609600" cy="63501"/>
          </a:xfrm>
          <a:prstGeom prst="roundRect">
            <a:avLst>
              <a:gd name="adj" fmla="val 40000"/>
            </a:avLst>
          </a:prstGeom>
          <a:solidFill>
            <a:srgbClr val="D4602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2"/>
          <p:cNvSpPr txBox="1"/>
          <p:nvPr>
            <p:ph type="title"/>
          </p:nvPr>
        </p:nvSpPr>
        <p:spPr>
          <a:xfrm>
            <a:off x="812799" y="2302510"/>
            <a:ext cx="10883394" cy="1305561"/>
          </a:xfrm>
          <a:prstGeom prst="rect">
            <a:avLst/>
          </a:prstGeom>
        </p:spPr>
        <p:txBody>
          <a:bodyPr/>
          <a:lstStyle/>
          <a:p>
            <a:pPr defTabSz="905255">
              <a:lnSpc>
                <a:spcPts val="4900"/>
              </a:lnSpc>
              <a:defRPr spc="-99" sz="4752">
                <a:solidFill>
                  <a:srgbClr val="F1EFE8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Unlearning the GIL</a:t>
            </a:r>
          </a:p>
          <a:p>
            <a:pPr defTabSz="905255">
              <a:lnSpc>
                <a:spcPts val="4900"/>
              </a:lnSpc>
              <a:defRPr spc="-99" sz="4752">
                <a:solidFill>
                  <a:srgbClr val="F1EFE8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in Free-threaded Python</a:t>
            </a:r>
          </a:p>
        </p:txBody>
      </p:sp>
      <p:sp>
        <p:nvSpPr>
          <p:cNvPr id="32" name="Text 3"/>
          <p:cNvSpPr txBox="1"/>
          <p:nvPr/>
        </p:nvSpPr>
        <p:spPr>
          <a:xfrm>
            <a:off x="812799" y="3836670"/>
            <a:ext cx="10883394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600"/>
              </a:lnSpc>
              <a:defRPr sz="2000">
                <a:solidFill>
                  <a:srgbClr val="C9CED8"/>
                </a:solidFill>
              </a:defRPr>
            </a:lvl1pPr>
          </a:lstStyle>
          <a:p>
            <a:pPr/>
            <a:r>
              <a:t>Rethinking Python concurrency through a Rust lens</a:t>
            </a:r>
          </a:p>
        </p:txBody>
      </p:sp>
      <p:sp>
        <p:nvSpPr>
          <p:cNvPr id="33" name="Text 4"/>
          <p:cNvSpPr txBox="1"/>
          <p:nvPr/>
        </p:nvSpPr>
        <p:spPr>
          <a:xfrm>
            <a:off x="812799" y="4420870"/>
            <a:ext cx="10883394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A9B0BC"/>
                </a:solidFill>
              </a:defRPr>
            </a:lvl1pPr>
          </a:lstStyle>
          <a:p>
            <a:pPr/>
            <a:r>
              <a:t>Xavier Yen (顏志穎) · PyCon TW 2026 · Day 1, R0, 14:00</a:t>
            </a:r>
          </a:p>
        </p:txBody>
      </p:sp>
      <p:sp>
        <p:nvSpPr>
          <p:cNvPr id="34" name="Text 5"/>
          <p:cNvSpPr txBox="1"/>
          <p:nvPr/>
        </p:nvSpPr>
        <p:spPr>
          <a:xfrm>
            <a:off x="812799" y="6238240"/>
            <a:ext cx="1088339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A9B0BC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github.com/xavierforge/red_envelope_demo (tag pycon-tw-2026-r2)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About me</a:t>
            </a:r>
          </a:p>
        </p:txBody>
      </p:sp>
      <p:pic>
        <p:nvPicPr>
          <p:cNvPr id="3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2800" y="1758950"/>
            <a:ext cx="2159000" cy="2159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62" y="0"/>
                </a:moveTo>
                <a:cubicBezTo>
                  <a:pt x="341" y="0"/>
                  <a:pt x="0" y="341"/>
                  <a:pt x="0" y="762"/>
                </a:cubicBezTo>
                <a:lnTo>
                  <a:pt x="0" y="20838"/>
                </a:lnTo>
                <a:cubicBezTo>
                  <a:pt x="0" y="21259"/>
                  <a:pt x="341" y="21600"/>
                  <a:pt x="762" y="21600"/>
                </a:cubicBezTo>
                <a:lnTo>
                  <a:pt x="20838" y="21600"/>
                </a:lnTo>
                <a:cubicBezTo>
                  <a:pt x="21259" y="21600"/>
                  <a:pt x="21600" y="21259"/>
                  <a:pt x="21600" y="20838"/>
                </a:cubicBezTo>
                <a:lnTo>
                  <a:pt x="21600" y="762"/>
                </a:lnTo>
                <a:cubicBezTo>
                  <a:pt x="21600" y="341"/>
                  <a:pt x="21259" y="0"/>
                  <a:pt x="20838" y="0"/>
                </a:cubicBezTo>
                <a:lnTo>
                  <a:pt x="762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38" name="Text 1"/>
          <p:cNvSpPr txBox="1"/>
          <p:nvPr/>
        </p:nvSpPr>
        <p:spPr>
          <a:xfrm>
            <a:off x="3225800" y="1689100"/>
            <a:ext cx="6566662" cy="334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400"/>
              </a:lnSpc>
            </a:lvl1pPr>
          </a:lstStyle>
          <a:p>
            <a:pPr/>
            <a:r>
              <a:t>Author of “From Pythonista to Rustacean” (深智數位, 2026)</a:t>
            </a:r>
          </a:p>
        </p:txBody>
      </p:sp>
      <p:sp>
        <p:nvSpPr>
          <p:cNvPr id="39" name="Text 2"/>
          <p:cNvSpPr txBox="1"/>
          <p:nvPr/>
        </p:nvSpPr>
        <p:spPr>
          <a:xfrm>
            <a:off x="3225800" y="2099310"/>
            <a:ext cx="6566662" cy="642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400"/>
              </a:lnSpc>
            </a:pPr>
            <a:r>
              <a:t>Contributor to PyO3, cuda-oxide, and HuggingFace Candle;</a:t>
            </a:r>
          </a:p>
          <a:p>
            <a:pPr>
              <a:lnSpc>
                <a:spcPts val="2400"/>
              </a:lnSpc>
            </a:pPr>
            <a:r>
              <a:t>co-maintainer of zerostack</a:t>
            </a:r>
          </a:p>
        </p:txBody>
      </p:sp>
      <p:sp>
        <p:nvSpPr>
          <p:cNvPr id="40" name="Text 3"/>
          <p:cNvSpPr txBox="1"/>
          <p:nvPr/>
        </p:nvSpPr>
        <p:spPr>
          <a:xfrm>
            <a:off x="3225800" y="2818129"/>
            <a:ext cx="6566662" cy="334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400"/>
              </a:lnSpc>
            </a:lvl1pPr>
          </a:lstStyle>
          <a:p>
            <a:pPr/>
            <a:r>
              <a:t>Data engineer at a multinational telecom equipment vendor</a:t>
            </a:r>
          </a:p>
        </p:txBody>
      </p:sp>
      <p:sp>
        <p:nvSpPr>
          <p:cNvPr id="41" name="Text 4"/>
          <p:cNvSpPr txBox="1"/>
          <p:nvPr/>
        </p:nvSpPr>
        <p:spPr>
          <a:xfrm>
            <a:off x="3225800" y="3228339"/>
            <a:ext cx="6566662" cy="334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400"/>
              </a:lnSpc>
              <a:defRPr>
                <a:solidFill>
                  <a:schemeClr val="accent1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xavierforge.dev</a:t>
            </a:r>
          </a:p>
        </p:txBody>
      </p:sp>
      <p:pic>
        <p:nvPicPr>
          <p:cNvPr id="4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25800" y="3716182"/>
            <a:ext cx="3048000" cy="176878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27861" y="3639343"/>
            <a:ext cx="1523879" cy="19494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Does this survive without the GIL?</a:t>
            </a:r>
          </a:p>
        </p:txBody>
      </p:sp>
      <p:sp>
        <p:nvSpPr>
          <p:cNvPr id="46" name="Shape 1"/>
          <p:cNvSpPr/>
          <p:nvPr/>
        </p:nvSpPr>
        <p:spPr>
          <a:xfrm>
            <a:off x="815975" y="1483994"/>
            <a:ext cx="8502650" cy="2531112"/>
          </a:xfrm>
          <a:prstGeom prst="roundRect">
            <a:avLst>
              <a:gd name="adj" fmla="val 2885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49" name="Text 2"/>
          <p:cNvGrpSpPr/>
          <p:nvPr/>
        </p:nvGrpSpPr>
        <p:grpSpPr>
          <a:xfrm>
            <a:off x="819150" y="1487169"/>
            <a:ext cx="8496300" cy="340361"/>
            <a:chOff x="0" y="0"/>
            <a:chExt cx="8496300" cy="340360"/>
          </a:xfrm>
        </p:grpSpPr>
        <p:sp>
          <p:nvSpPr>
            <p:cNvPr id="47" name="形狀"/>
            <p:cNvSpPr/>
            <p:nvPr/>
          </p:nvSpPr>
          <p:spPr>
            <a:xfrm>
              <a:off x="0" y="-1"/>
              <a:ext cx="8496300" cy="3403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4433"/>
                  </a:moveTo>
                  <a:cubicBezTo>
                    <a:pt x="0" y="1985"/>
                    <a:pt x="80" y="0"/>
                    <a:pt x="178" y="0"/>
                  </a:cubicBezTo>
                  <a:lnTo>
                    <a:pt x="21422" y="0"/>
                  </a:lnTo>
                  <a:cubicBezTo>
                    <a:pt x="21520" y="0"/>
                    <a:pt x="21600" y="1985"/>
                    <a:pt x="21600" y="4433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600"/>
                </a:lnSpc>
                <a:defRPr sz="1200"/>
              </a:pPr>
            </a:p>
          </p:txBody>
        </p:sp>
        <p:sp>
          <p:nvSpPr>
            <p:cNvPr id="48" name="Python"/>
            <p:cNvSpPr txBox="1"/>
            <p:nvPr/>
          </p:nvSpPr>
          <p:spPr>
            <a:xfrm>
              <a:off x="139700" y="25399"/>
              <a:ext cx="8216900" cy="3149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100" tIns="38100" rIns="38100" bIns="38100" numCol="1" anchor="t">
              <a:normAutofit fontScale="100000" lnSpcReduction="0"/>
            </a:bodyPr>
            <a:lstStyle>
              <a:lvl1pPr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Python</a:t>
              </a:r>
            </a:p>
          </p:txBody>
        </p:sp>
      </p:grpSp>
      <p:sp>
        <p:nvSpPr>
          <p:cNvPr id="50" name="Text 3"/>
          <p:cNvSpPr txBox="1"/>
          <p:nvPr/>
        </p:nvSpPr>
        <p:spPr>
          <a:xfrm>
            <a:off x="1047750" y="2005329"/>
            <a:ext cx="318262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400"/>
              </a:lnSpc>
              <a:defRPr sz="16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cache: dict[int, int] = {}</a:t>
            </a:r>
          </a:p>
        </p:txBody>
      </p:sp>
      <p:sp>
        <p:nvSpPr>
          <p:cNvPr id="51" name="Text 4"/>
          <p:cNvSpPr txBox="1"/>
          <p:nvPr/>
        </p:nvSpPr>
        <p:spPr>
          <a:xfrm>
            <a:off x="1047750" y="2614929"/>
            <a:ext cx="30607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400"/>
              </a:lnSpc>
              <a:defRPr sz="16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def get(key: int) -&gt; int:</a:t>
            </a:r>
          </a:p>
        </p:txBody>
      </p:sp>
      <p:sp>
        <p:nvSpPr>
          <p:cNvPr id="52" name="Text 5"/>
          <p:cNvSpPr txBox="1"/>
          <p:nvPr/>
        </p:nvSpPr>
        <p:spPr>
          <a:xfrm>
            <a:off x="1047750" y="2919729"/>
            <a:ext cx="52552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2400"/>
              </a:lnSpc>
              <a:defRPr sz="16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    if key not in cache:            </a:t>
            </a:r>
            <a:r>
              <a:rPr>
                <a:solidFill>
                  <a:srgbClr val="5C6370"/>
                </a:solidFill>
              </a:rPr>
              <a:t># check</a:t>
            </a:r>
          </a:p>
        </p:txBody>
      </p:sp>
      <p:sp>
        <p:nvSpPr>
          <p:cNvPr id="53" name="Text 6"/>
          <p:cNvSpPr txBox="1"/>
          <p:nvPr/>
        </p:nvSpPr>
        <p:spPr>
          <a:xfrm>
            <a:off x="1047750" y="3224529"/>
            <a:ext cx="805942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2400"/>
              </a:lnSpc>
              <a:defRPr sz="16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        cache[key] = compute(key)   </a:t>
            </a:r>
            <a:r>
              <a:rPr>
                <a:solidFill>
                  <a:srgbClr val="5C6370"/>
                </a:solidFill>
              </a:rPr>
              <a:t># act (with a CALL in between)</a:t>
            </a:r>
          </a:p>
        </p:txBody>
      </p:sp>
      <p:sp>
        <p:nvSpPr>
          <p:cNvPr id="54" name="Text 7"/>
          <p:cNvSpPr txBox="1"/>
          <p:nvPr/>
        </p:nvSpPr>
        <p:spPr>
          <a:xfrm>
            <a:off x="1047750" y="3529329"/>
            <a:ext cx="257302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400"/>
              </a:lnSpc>
              <a:defRPr sz="16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return cache[key]</a:t>
            </a:r>
          </a:p>
        </p:txBody>
      </p:sp>
      <p:grpSp>
        <p:nvGrpSpPr>
          <p:cNvPr id="57" name="Text 8"/>
          <p:cNvGrpSpPr/>
          <p:nvPr/>
        </p:nvGrpSpPr>
        <p:grpSpPr>
          <a:xfrm>
            <a:off x="812800" y="4323079"/>
            <a:ext cx="4975331" cy="751841"/>
            <a:chOff x="0" y="0"/>
            <a:chExt cx="4975330" cy="751840"/>
          </a:xfrm>
        </p:grpSpPr>
        <p:sp>
          <p:nvSpPr>
            <p:cNvPr id="55" name="圓角矩形"/>
            <p:cNvSpPr/>
            <p:nvPr/>
          </p:nvSpPr>
          <p:spPr>
            <a:xfrm>
              <a:off x="0" y="0"/>
              <a:ext cx="4975331" cy="751841"/>
            </a:xfrm>
            <a:prstGeom prst="roundRect">
              <a:avLst>
                <a:gd name="adj" fmla="val 6757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100"/>
                </a:lnSpc>
                <a:defRPr sz="1600"/>
              </a:pPr>
            </a:p>
          </p:txBody>
        </p:sp>
        <p:sp>
          <p:nvSpPr>
            <p:cNvPr id="56" name="Requirement: each key is computed at most once…"/>
            <p:cNvSpPr txBox="1"/>
            <p:nvPr/>
          </p:nvSpPr>
          <p:spPr>
            <a:xfrm>
              <a:off x="153471" y="77271"/>
              <a:ext cx="4806981" cy="6226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4329" tIns="24329" rIns="24329" bIns="24329" numCol="1" anchor="t">
              <a:normAutofit fontScale="100000" lnSpcReduction="0"/>
            </a:bodyPr>
            <a:lstStyle/>
            <a:p>
              <a:pPr>
                <a:lnSpc>
                  <a:spcPts val="2100"/>
                </a:lnSpc>
                <a:defRPr sz="1600">
                  <a:latin typeface="IBM Plex Sans Bold"/>
                  <a:ea typeface="IBM Plex Sans Bold"/>
                  <a:cs typeface="IBM Plex Sans Bold"/>
                  <a:sym typeface="IBM Plex Sans Bold"/>
                </a:defRPr>
              </a:pPr>
              <a:r>
                <a:t>Requirement: each key is computed at most once</a:t>
              </a:r>
            </a:p>
            <a:p>
              <a:pPr>
                <a:lnSpc>
                  <a:spcPts val="2100"/>
                </a:lnSpc>
                <a:defRPr sz="1600">
                  <a:latin typeface="IBM Plex Sans Bold"/>
                  <a:ea typeface="IBM Plex Sans Bold"/>
                  <a:cs typeface="IBM Plex Sans Bold"/>
                  <a:sym typeface="IBM Plex Sans Bold"/>
                </a:defRPr>
              </a:pPr>
              <a:r>
                <a:t>(compute is expensive, or has side effects).</a:t>
              </a:r>
            </a:p>
          </p:txBody>
        </p:sp>
      </p:grpSp>
      <p:sp>
        <p:nvSpPr>
          <p:cNvPr id="58" name="Text 9"/>
          <p:cNvSpPr txBox="1"/>
          <p:nvPr/>
        </p:nvSpPr>
        <p:spPr>
          <a:xfrm>
            <a:off x="9316719" y="2730500"/>
            <a:ext cx="2092961" cy="2565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 defTabSz="841247">
              <a:lnSpc>
                <a:spcPts val="18400"/>
              </a:lnSpc>
              <a:defRPr sz="18400">
                <a:solidFill>
                  <a:schemeClr val="accent1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It was never safe. The GIL just made it rare.</a:t>
            </a:r>
          </a:p>
        </p:txBody>
      </p:sp>
      <p:sp>
        <p:nvSpPr>
          <p:cNvPr id="61" name="Shape 1"/>
          <p:cNvSpPr/>
          <p:nvPr/>
        </p:nvSpPr>
        <p:spPr>
          <a:xfrm>
            <a:off x="815975" y="2258061"/>
            <a:ext cx="5175250" cy="2075180"/>
          </a:xfrm>
          <a:prstGeom prst="roundRect">
            <a:avLst>
              <a:gd name="adj" fmla="val 4743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2"/>
          <p:cNvSpPr txBox="1"/>
          <p:nvPr/>
        </p:nvSpPr>
        <p:spPr>
          <a:xfrm>
            <a:off x="1174750" y="2566036"/>
            <a:ext cx="459143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6627A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GIL on (default 5 ms)</a:t>
            </a:r>
          </a:p>
        </p:txBody>
      </p:sp>
      <p:sp>
        <p:nvSpPr>
          <p:cNvPr id="63" name="Text 3"/>
          <p:cNvSpPr txBox="1"/>
          <p:nvPr/>
        </p:nvSpPr>
        <p:spPr>
          <a:xfrm>
            <a:off x="1174750" y="2855595"/>
            <a:ext cx="4591431" cy="87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68680">
              <a:lnSpc>
                <a:spcPts val="6300"/>
              </a:lnSpc>
              <a:defRPr sz="6080">
                <a:solidFill>
                  <a:srgbClr val="56627A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10–11</a:t>
            </a:r>
          </a:p>
        </p:txBody>
      </p:sp>
      <p:sp>
        <p:nvSpPr>
          <p:cNvPr id="64" name="Text 4"/>
          <p:cNvSpPr txBox="1"/>
          <p:nvPr/>
        </p:nvSpPr>
        <p:spPr>
          <a:xfrm>
            <a:off x="1174750" y="3785236"/>
            <a:ext cx="4591431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duplicates out of 512 lookups (~2%)</a:t>
            </a:r>
          </a:p>
        </p:txBody>
      </p:sp>
      <p:sp>
        <p:nvSpPr>
          <p:cNvPr id="65" name="Shape 5"/>
          <p:cNvSpPr/>
          <p:nvPr/>
        </p:nvSpPr>
        <p:spPr>
          <a:xfrm>
            <a:off x="6200775" y="2258061"/>
            <a:ext cx="5175250" cy="2075180"/>
          </a:xfrm>
          <a:prstGeom prst="roundRect">
            <a:avLst>
              <a:gd name="adj" fmla="val 4743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6"/>
          <p:cNvSpPr txBox="1"/>
          <p:nvPr/>
        </p:nvSpPr>
        <p:spPr>
          <a:xfrm>
            <a:off x="6559550" y="2566036"/>
            <a:ext cx="459143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4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GIL off</a:t>
            </a:r>
          </a:p>
        </p:txBody>
      </p:sp>
      <p:sp>
        <p:nvSpPr>
          <p:cNvPr id="67" name="Text 7"/>
          <p:cNvSpPr txBox="1"/>
          <p:nvPr/>
        </p:nvSpPr>
        <p:spPr>
          <a:xfrm>
            <a:off x="6559550" y="2855595"/>
            <a:ext cx="4591431" cy="87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68680">
              <a:lnSpc>
                <a:spcPts val="6300"/>
              </a:lnSpc>
              <a:defRPr sz="6080">
                <a:solidFill>
                  <a:schemeClr val="accent4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183–276</a:t>
            </a:r>
          </a:p>
        </p:txBody>
      </p:sp>
      <p:sp>
        <p:nvSpPr>
          <p:cNvPr id="68" name="Text 8"/>
          <p:cNvSpPr txBox="1"/>
          <p:nvPr/>
        </p:nvSpPr>
        <p:spPr>
          <a:xfrm>
            <a:off x="6559550" y="3785236"/>
            <a:ext cx="4591431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duplicates out of 512 lookups (36–54%)</a:t>
            </a:r>
          </a:p>
        </p:txBody>
      </p:sp>
      <p:grpSp>
        <p:nvGrpSpPr>
          <p:cNvPr id="71" name="Text 9"/>
          <p:cNvGrpSpPr/>
          <p:nvPr/>
        </p:nvGrpSpPr>
        <p:grpSpPr>
          <a:xfrm>
            <a:off x="812800" y="4641213"/>
            <a:ext cx="4041563" cy="426721"/>
            <a:chOff x="0" y="0"/>
            <a:chExt cx="4041562" cy="426719"/>
          </a:xfrm>
        </p:grpSpPr>
        <p:sp>
          <p:nvSpPr>
            <p:cNvPr id="69" name="圓角矩形"/>
            <p:cNvSpPr/>
            <p:nvPr/>
          </p:nvSpPr>
          <p:spPr>
            <a:xfrm>
              <a:off x="0" y="0"/>
              <a:ext cx="4041563" cy="426720"/>
            </a:xfrm>
            <a:prstGeom prst="roundRect">
              <a:avLst>
                <a:gd name="adj" fmla="val 11905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2100"/>
                </a:lnSpc>
                <a:defRPr sz="1600"/>
              </a:pPr>
            </a:p>
          </p:txBody>
        </p:sp>
        <p:sp>
          <p:nvSpPr>
            <p:cNvPr id="70" name="The dict stayed intact. Our logic did not."/>
            <p:cNvSpPr txBox="1"/>
            <p:nvPr/>
          </p:nvSpPr>
          <p:spPr>
            <a:xfrm>
              <a:off x="119388" y="14878"/>
              <a:ext cx="3802787" cy="3969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2100"/>
                </a:lnSpc>
                <a:defRPr sz="1600"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The dict stayed intact. Our logic did not.</a:t>
              </a:r>
            </a:p>
          </p:txBody>
        </p:sp>
      </p:grpSp>
      <p:sp>
        <p:nvSpPr>
          <p:cNvPr id="72" name="Text 10"/>
          <p:cNvSpPr txBox="1"/>
          <p:nvPr/>
        </p:nvSpPr>
        <p:spPr>
          <a:xfrm>
            <a:off x="812799" y="6238238"/>
            <a:ext cx="1088339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Source: results/cache_probe_2026-10-11.txt · 64 keys, 8 threads, compute ≈ 1 ms, 5 runs per cell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Why now: pure-Python threads finally run in parallel</a:t>
            </a:r>
          </a:p>
        </p:txBody>
      </p:sp>
      <p:graphicFrame>
        <p:nvGraphicFramePr>
          <p:cNvPr id="75" name="Table 0"/>
          <p:cNvGraphicFramePr/>
          <p:nvPr/>
        </p:nvGraphicFramePr>
        <p:xfrm>
          <a:off x="825500" y="2115186"/>
          <a:ext cx="10553700" cy="13182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854702"/>
                <a:gridCol w="1794129"/>
                <a:gridCol w="1794129"/>
                <a:gridCol w="2110740"/>
              </a:tblGrid>
              <a:tr h="439419"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B1F27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Workload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56627A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GIL on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BAB8B0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GIL off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BAB8B0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B1F27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Speedup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BAB8B0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</a:tr>
              <a:tr h="439419"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B1F27"/>
                          </a:solidFill>
                        </a:rPr>
                        <a:t>Pure-Python arithmetic (1 thread)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56627A"/>
                          </a:solidFill>
                        </a:rPr>
                        <a:t>18.9 s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/>
                          </a:solidFill>
                        </a:rPr>
                        <a:t>19.1 s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B1F27"/>
                          </a:solidFill>
                        </a:rPr>
                        <a:t>baseline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</a:tr>
              <a:tr h="439419"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B1F27"/>
                          </a:solidFill>
                        </a:rPr>
                        <a:t>Pure-Python arithmetic (8 threads)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8C2A8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C8C2A8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56627A"/>
                          </a:solidFill>
                        </a:rPr>
                        <a:t>19.1 s (0.99x)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C8C2A8"/>
                      </a:solidFill>
                    </a:lnL>
                    <a:lnR w="12700">
                      <a:solidFill>
                        <a:srgbClr val="C8C2A8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C8C2A8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/>
                          </a:solidFill>
                        </a:rPr>
                        <a:t>3.8 s (5.01x)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C8C2A8"/>
                      </a:solidFill>
                    </a:lnL>
                    <a:lnR w="12700">
                      <a:solidFill>
                        <a:srgbClr val="C8C2A8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C8C2A8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/>
                          </a:solidFill>
                        </a:rPr>
                        <a:t>≈ 5.0x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C8C2A8"/>
                      </a:solidFill>
                    </a:lnL>
                    <a:lnR w="12700">
                      <a:solidFill>
                        <a:srgbClr val="C8C2A8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C8C2A8"/>
                      </a:solidFill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76" name="Text 1"/>
          <p:cNvSpPr txBox="1"/>
          <p:nvPr/>
        </p:nvSpPr>
        <p:spPr>
          <a:xfrm>
            <a:off x="812800" y="3535045"/>
            <a:ext cx="47349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Same </a:t>
            </a:r>
          </a:p>
        </p:txBody>
      </p:sp>
      <p:sp>
        <p:nvSpPr>
          <p:cNvPr id="77" name="Text 2"/>
          <p:cNvSpPr txBox="1"/>
          <p:nvPr/>
        </p:nvSpPr>
        <p:spPr>
          <a:xfrm>
            <a:off x="1235498" y="3535045"/>
            <a:ext cx="104182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free-threaded </a:t>
            </a:r>
          </a:p>
        </p:txBody>
      </p:sp>
      <p:sp>
        <p:nvSpPr>
          <p:cNvPr id="78" name="Text 3"/>
          <p:cNvSpPr txBox="1"/>
          <p:nvPr/>
        </p:nvSpPr>
        <p:spPr>
          <a:xfrm>
            <a:off x="2226522" y="3535045"/>
            <a:ext cx="42968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build </a:t>
            </a:r>
          </a:p>
        </p:txBody>
      </p:sp>
      <p:sp>
        <p:nvSpPr>
          <p:cNvPr id="79" name="Text 4"/>
          <p:cNvSpPr txBox="1"/>
          <p:nvPr/>
        </p:nvSpPr>
        <p:spPr>
          <a:xfrm>
            <a:off x="2605404" y="3535045"/>
            <a:ext cx="61817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(Python </a:t>
            </a:r>
          </a:p>
        </p:txBody>
      </p:sp>
      <p:sp>
        <p:nvSpPr>
          <p:cNvPr id="80" name="Text 5"/>
          <p:cNvSpPr txBox="1"/>
          <p:nvPr/>
        </p:nvSpPr>
        <p:spPr>
          <a:xfrm>
            <a:off x="3172777" y="3535045"/>
            <a:ext cx="6814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3.14.6t), </a:t>
            </a:r>
          </a:p>
        </p:txBody>
      </p:sp>
      <p:sp>
        <p:nvSpPr>
          <p:cNvPr id="81" name="Text 6"/>
          <p:cNvSpPr txBox="1"/>
          <p:nvPr/>
        </p:nvSpPr>
        <p:spPr>
          <a:xfrm>
            <a:off x="3803437" y="3535045"/>
            <a:ext cx="70294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switched </a:t>
            </a:r>
          </a:p>
        </p:txBody>
      </p:sp>
      <p:sp>
        <p:nvSpPr>
          <p:cNvPr id="82" name="Text 7"/>
          <p:cNvSpPr txBox="1"/>
          <p:nvPr/>
        </p:nvSpPr>
        <p:spPr>
          <a:xfrm>
            <a:off x="4455583" y="3535045"/>
            <a:ext cx="38195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with </a:t>
            </a:r>
          </a:p>
        </p:txBody>
      </p:sp>
      <p:sp>
        <p:nvSpPr>
          <p:cNvPr id="83" name="Text 8"/>
          <p:cNvSpPr txBox="1"/>
          <p:nvPr/>
        </p:nvSpPr>
        <p:spPr>
          <a:xfrm>
            <a:off x="4786736" y="3538220"/>
            <a:ext cx="96520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-X gil=1/0</a:t>
            </a:r>
          </a:p>
        </p:txBody>
      </p:sp>
      <p:sp>
        <p:nvSpPr>
          <p:cNvPr id="84" name="Text 9"/>
          <p:cNvSpPr txBox="1"/>
          <p:nvPr/>
        </p:nvSpPr>
        <p:spPr>
          <a:xfrm>
            <a:off x="5701136" y="3535045"/>
            <a:ext cx="9228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.</a:t>
            </a:r>
          </a:p>
        </p:txBody>
      </p:sp>
      <p:sp>
        <p:nvSpPr>
          <p:cNvPr id="85" name="Shape 10"/>
          <p:cNvSpPr/>
          <p:nvPr/>
        </p:nvSpPr>
        <p:spPr>
          <a:xfrm>
            <a:off x="815975" y="4134801"/>
            <a:ext cx="2679700" cy="905511"/>
          </a:xfrm>
          <a:prstGeom prst="roundRect">
            <a:avLst>
              <a:gd name="adj" fmla="val 8065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11"/>
          <p:cNvSpPr txBox="1"/>
          <p:nvPr/>
        </p:nvSpPr>
        <p:spPr>
          <a:xfrm>
            <a:off x="996950" y="4290376"/>
            <a:ext cx="2387283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  <a:defRPr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3.13</a:t>
            </a:r>
          </a:p>
        </p:txBody>
      </p:sp>
      <p:sp>
        <p:nvSpPr>
          <p:cNvPr id="87" name="Text 12"/>
          <p:cNvSpPr txBox="1"/>
          <p:nvPr/>
        </p:nvSpPr>
        <p:spPr>
          <a:xfrm>
            <a:off x="996950" y="4635815"/>
            <a:ext cx="2387283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experimental</a:t>
            </a:r>
          </a:p>
        </p:txBody>
      </p:sp>
      <p:pic>
        <p:nvPicPr>
          <p:cNvPr id="8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25850" y="4511359"/>
            <a:ext cx="304800" cy="152401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Shape 13"/>
          <p:cNvSpPr/>
          <p:nvPr/>
        </p:nvSpPr>
        <p:spPr>
          <a:xfrm>
            <a:off x="4060825" y="4134801"/>
            <a:ext cx="2679700" cy="905511"/>
          </a:xfrm>
          <a:prstGeom prst="roundRect">
            <a:avLst>
              <a:gd name="adj" fmla="val 8065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Text 14"/>
          <p:cNvSpPr txBox="1"/>
          <p:nvPr/>
        </p:nvSpPr>
        <p:spPr>
          <a:xfrm>
            <a:off x="4241800" y="4290376"/>
            <a:ext cx="2387283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  <a:defRPr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3.14</a:t>
            </a:r>
          </a:p>
        </p:txBody>
      </p:sp>
      <p:sp>
        <p:nvSpPr>
          <p:cNvPr id="91" name="Text 15"/>
          <p:cNvSpPr txBox="1"/>
          <p:nvPr/>
        </p:nvSpPr>
        <p:spPr>
          <a:xfrm>
            <a:off x="4241800" y="4635815"/>
            <a:ext cx="2387283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officially supported</a:t>
            </a:r>
          </a:p>
        </p:txBody>
      </p:sp>
      <p:pic>
        <p:nvPicPr>
          <p:cNvPr id="92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70700" y="4511359"/>
            <a:ext cx="304800" cy="152401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Shape 16"/>
          <p:cNvSpPr/>
          <p:nvPr/>
        </p:nvSpPr>
        <p:spPr>
          <a:xfrm>
            <a:off x="7305675" y="4008754"/>
            <a:ext cx="4070350" cy="1157606"/>
          </a:xfrm>
          <a:prstGeom prst="roundRect">
            <a:avLst>
              <a:gd name="adj" fmla="val 6308"/>
            </a:avLst>
          </a:prstGeom>
          <a:solidFill>
            <a:srgbClr val="FDFCF9"/>
          </a:solidFill>
          <a:ln w="635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17"/>
          <p:cNvSpPr txBox="1"/>
          <p:nvPr/>
        </p:nvSpPr>
        <p:spPr>
          <a:xfrm>
            <a:off x="7486650" y="4164329"/>
            <a:ext cx="3819653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  <a:defRPr>
                <a:solidFill>
                  <a:schemeClr val="accent4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3.15 (Oct 9, 2026)</a:t>
            </a:r>
          </a:p>
        </p:txBody>
      </p:sp>
      <p:sp>
        <p:nvSpPr>
          <p:cNvPr id="95" name="Text 18"/>
          <p:cNvSpPr txBox="1"/>
          <p:nvPr/>
        </p:nvSpPr>
        <p:spPr>
          <a:xfrm>
            <a:off x="7486650" y="4509770"/>
            <a:ext cx="1815862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macOS installer ships </a:t>
            </a:r>
          </a:p>
        </p:txBody>
      </p:sp>
      <p:sp>
        <p:nvSpPr>
          <p:cNvPr id="96" name="Text 19"/>
          <p:cNvSpPr txBox="1"/>
          <p:nvPr/>
        </p:nvSpPr>
        <p:spPr>
          <a:xfrm>
            <a:off x="9249620" y="4512945"/>
            <a:ext cx="1536193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python3.15t </a:t>
            </a:r>
          </a:p>
        </p:txBody>
      </p:sp>
      <p:sp>
        <p:nvSpPr>
          <p:cNvPr id="97" name="Text 20"/>
          <p:cNvSpPr txBox="1"/>
          <p:nvPr/>
        </p:nvSpPr>
        <p:spPr>
          <a:xfrm>
            <a:off x="7486650" y="4761863"/>
            <a:ext cx="95631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by default</a:t>
            </a:r>
          </a:p>
        </p:txBody>
      </p:sp>
      <p:sp>
        <p:nvSpPr>
          <p:cNvPr id="98" name="Text 21"/>
          <p:cNvSpPr txBox="1"/>
          <p:nvPr/>
        </p:nvSpPr>
        <p:spPr>
          <a:xfrm>
            <a:off x="812799" y="6238238"/>
            <a:ext cx="1088339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Source: results/compare_2026-10-11.txt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 txBox="1"/>
          <p:nvPr/>
        </p:nvSpPr>
        <p:spPr>
          <a:xfrm>
            <a:off x="863600" y="2839721"/>
            <a:ext cx="10464800" cy="1000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algn="ctr">
              <a:lnSpc>
                <a:spcPts val="3800"/>
              </a:lnSpc>
              <a:defRPr spc="-100" sz="3200">
                <a:solidFill>
                  <a:srgbClr val="F1EFE8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Free-threaded builds open the door to parallelism,</a:t>
            </a:r>
          </a:p>
          <a:p>
            <a:pPr algn="ctr">
              <a:lnSpc>
                <a:spcPts val="3800"/>
              </a:lnSpc>
              <a:defRPr spc="-100" sz="3200">
                <a:solidFill>
                  <a:schemeClr val="accent3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but they don't protect you once you walk through it.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The Agenda</a:t>
            </a:r>
          </a:p>
        </p:txBody>
      </p:sp>
      <p:sp>
        <p:nvSpPr>
          <p:cNvPr id="103" name="Shape 1"/>
          <p:cNvSpPr/>
          <p:nvPr/>
        </p:nvSpPr>
        <p:spPr>
          <a:xfrm>
            <a:off x="815975" y="2499996"/>
            <a:ext cx="3380317" cy="1769111"/>
          </a:xfrm>
          <a:prstGeom prst="roundRect">
            <a:avLst>
              <a:gd name="adj" fmla="val 5564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2"/>
          <p:cNvSpPr txBox="1"/>
          <p:nvPr/>
        </p:nvSpPr>
        <p:spPr>
          <a:xfrm>
            <a:off x="1073150" y="2858771"/>
            <a:ext cx="2951946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Act I</a:t>
            </a:r>
          </a:p>
        </p:txBody>
      </p:sp>
      <p:sp>
        <p:nvSpPr>
          <p:cNvPr id="105" name="Text 3"/>
          <p:cNvSpPr txBox="1"/>
          <p:nvPr/>
        </p:nvSpPr>
        <p:spPr>
          <a:xfrm>
            <a:off x="1073150" y="3209288"/>
            <a:ext cx="2951946" cy="726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700"/>
              </a:lnSpc>
              <a:defRPr sz="2400"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The GIL</a:t>
            </a:r>
          </a:p>
          <a:p>
            <a:pPr>
              <a:lnSpc>
                <a:spcPts val="2700"/>
              </a:lnSpc>
              <a:defRPr sz="2400"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Blind Spot</a:t>
            </a:r>
          </a:p>
        </p:txBody>
      </p:sp>
      <p:sp>
        <p:nvSpPr>
          <p:cNvPr id="106" name="Shape 4"/>
          <p:cNvSpPr/>
          <p:nvPr/>
        </p:nvSpPr>
        <p:spPr>
          <a:xfrm>
            <a:off x="4405841" y="2499996"/>
            <a:ext cx="3380318" cy="1769111"/>
          </a:xfrm>
          <a:prstGeom prst="roundRect">
            <a:avLst>
              <a:gd name="adj" fmla="val 5564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5"/>
          <p:cNvSpPr txBox="1"/>
          <p:nvPr/>
        </p:nvSpPr>
        <p:spPr>
          <a:xfrm>
            <a:off x="4663016" y="2858771"/>
            <a:ext cx="2951947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Act II</a:t>
            </a:r>
          </a:p>
        </p:txBody>
      </p:sp>
      <p:sp>
        <p:nvSpPr>
          <p:cNvPr id="108" name="Text 6"/>
          <p:cNvSpPr txBox="1"/>
          <p:nvPr/>
        </p:nvSpPr>
        <p:spPr>
          <a:xfrm>
            <a:off x="4663016" y="3209288"/>
            <a:ext cx="2951947" cy="726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700"/>
              </a:lnSpc>
              <a:defRPr sz="2400"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The Rust</a:t>
            </a:r>
          </a:p>
          <a:p>
            <a:pPr>
              <a:lnSpc>
                <a:spcPts val="2700"/>
              </a:lnSpc>
              <a:defRPr sz="2400"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Mindset</a:t>
            </a:r>
          </a:p>
        </p:txBody>
      </p:sp>
      <p:sp>
        <p:nvSpPr>
          <p:cNvPr id="109" name="Shape 7"/>
          <p:cNvSpPr/>
          <p:nvPr/>
        </p:nvSpPr>
        <p:spPr>
          <a:xfrm>
            <a:off x="7995708" y="2499996"/>
            <a:ext cx="3380317" cy="1769111"/>
          </a:xfrm>
          <a:prstGeom prst="roundRect">
            <a:avLst>
              <a:gd name="adj" fmla="val 5564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Text 8"/>
          <p:cNvSpPr txBox="1"/>
          <p:nvPr/>
        </p:nvSpPr>
        <p:spPr>
          <a:xfrm>
            <a:off x="8252883" y="2858771"/>
            <a:ext cx="2951947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chemeClr val="accent4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Act III</a:t>
            </a:r>
          </a:p>
        </p:txBody>
      </p:sp>
      <p:sp>
        <p:nvSpPr>
          <p:cNvPr id="111" name="Text 9"/>
          <p:cNvSpPr txBox="1"/>
          <p:nvPr/>
        </p:nvSpPr>
        <p:spPr>
          <a:xfrm>
            <a:off x="8252883" y="3209288"/>
            <a:ext cx="2951947" cy="726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700"/>
              </a:lnSpc>
              <a:defRPr sz="2400"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The Free-threaded</a:t>
            </a:r>
          </a:p>
          <a:p>
            <a:pPr>
              <a:lnSpc>
                <a:spcPts val="2700"/>
              </a:lnSpc>
              <a:defRPr sz="2400"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Future</a:t>
            </a:r>
          </a:p>
        </p:txBody>
      </p:sp>
      <p:sp>
        <p:nvSpPr>
          <p:cNvPr id="112" name="Text 10"/>
          <p:cNvSpPr txBox="1"/>
          <p:nvPr/>
        </p:nvSpPr>
        <p:spPr>
          <a:xfrm>
            <a:off x="812799" y="5593079"/>
            <a:ext cx="10883394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5C6370"/>
                </a:solidFill>
              </a:defRPr>
            </a:lvl1pPr>
          </a:lstStyle>
          <a:p>
            <a:pPr/>
            <a:r>
              <a:t>Prerequisites: GIL &amp; free-threading basics (no Rust background needed).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 txBox="1"/>
          <p:nvPr>
            <p:ph type="title"/>
          </p:nvPr>
        </p:nvSpPr>
        <p:spPr>
          <a:xfrm>
            <a:off x="812799" y="1270000"/>
            <a:ext cx="10883394" cy="288291"/>
          </a:xfrm>
          <a:prstGeom prst="rect">
            <a:avLst/>
          </a:prstGeom>
        </p:spPr>
        <p:txBody>
          <a:bodyPr/>
          <a:lstStyle>
            <a:lvl1pPr>
              <a:lnSpc>
                <a:spcPts val="2000"/>
              </a:lnSpc>
              <a:defRPr sz="1800">
                <a:solidFill>
                  <a:schemeClr val="accent6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Act I · The GIL Blind Spot</a:t>
            </a:r>
          </a:p>
        </p:txBody>
      </p:sp>
      <p:sp>
        <p:nvSpPr>
          <p:cNvPr id="115" name="Text 1"/>
          <p:cNvSpPr txBox="1"/>
          <p:nvPr/>
        </p:nvSpPr>
        <p:spPr>
          <a:xfrm>
            <a:off x="812799" y="1837688"/>
            <a:ext cx="10883394" cy="1366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5200"/>
              </a:lnSpc>
              <a:defRPr spc="-100" sz="4800">
                <a:solidFill>
                  <a:schemeClr val="accent3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Who else holds this?</a:t>
            </a:r>
          </a:p>
          <a:p>
            <a:pPr>
              <a:lnSpc>
                <a:spcPts val="5200"/>
              </a:lnSpc>
              <a:defRPr spc="-100" sz="4800">
                <a:solidFill>
                  <a:schemeClr val="accent3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Is anyone changing it?</a:t>
            </a:r>
          </a:p>
        </p:txBody>
      </p:sp>
      <p:sp>
        <p:nvSpPr>
          <p:cNvPr id="116" name="Text 2"/>
          <p:cNvSpPr txBox="1"/>
          <p:nvPr/>
        </p:nvSpPr>
        <p:spPr>
          <a:xfrm>
            <a:off x="812799" y="3483611"/>
            <a:ext cx="10883394" cy="665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500"/>
              </a:lnSpc>
              <a:defRPr>
                <a:solidFill>
                  <a:srgbClr val="C9CED8"/>
                </a:solidFill>
              </a:defRPr>
            </a:pPr>
            <a:r>
              <a:t>The GIL let us ignore these two questions.</a:t>
            </a:r>
          </a:p>
          <a:p>
            <a:pPr>
              <a:lnSpc>
                <a:spcPts val="2500"/>
              </a:lnSpc>
              <a:defRPr>
                <a:solidFill>
                  <a:srgbClr val="C9CED8"/>
                </a:solidFill>
              </a:defRPr>
            </a:pPr>
            <a:r>
              <a:t>Rust turns them into compile-time checks.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 txBox="1"/>
          <p:nvPr>
            <p:ph type="title"/>
          </p:nvPr>
        </p:nvSpPr>
        <p:spPr>
          <a:xfrm>
            <a:off x="812799" y="812800"/>
            <a:ext cx="10883394" cy="374757"/>
          </a:xfrm>
          <a:prstGeom prst="rect">
            <a:avLst/>
          </a:prstGeom>
        </p:spPr>
        <p:txBody>
          <a:bodyPr/>
          <a:lstStyle>
            <a:lvl1pPr>
              <a:lnSpc>
                <a:spcPts val="2700"/>
              </a:lnSpc>
              <a:defRPr spc="-100" sz="25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Everyone writes this</a:t>
            </a:r>
          </a:p>
        </p:txBody>
      </p:sp>
      <p:sp>
        <p:nvSpPr>
          <p:cNvPr id="119" name="Shape 1"/>
          <p:cNvSpPr/>
          <p:nvPr/>
        </p:nvSpPr>
        <p:spPr>
          <a:xfrm>
            <a:off x="815975" y="1368530"/>
            <a:ext cx="7486650" cy="2468880"/>
          </a:xfrm>
          <a:prstGeom prst="roundRect">
            <a:avLst>
              <a:gd name="adj" fmla="val 2958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Shape 2"/>
          <p:cNvSpPr/>
          <p:nvPr/>
        </p:nvSpPr>
        <p:spPr>
          <a:xfrm>
            <a:off x="819150" y="1371705"/>
            <a:ext cx="7480300" cy="3309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559"/>
                </a:moveTo>
                <a:cubicBezTo>
                  <a:pt x="0" y="2041"/>
                  <a:pt x="90" y="0"/>
                  <a:pt x="202" y="0"/>
                </a:cubicBezTo>
                <a:lnTo>
                  <a:pt x="21398" y="0"/>
                </a:lnTo>
                <a:cubicBezTo>
                  <a:pt x="21510" y="0"/>
                  <a:pt x="21600" y="2041"/>
                  <a:pt x="21600" y="4559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3"/>
          <p:cNvSpPr txBox="1"/>
          <p:nvPr/>
        </p:nvSpPr>
        <p:spPr>
          <a:xfrm>
            <a:off x="996950" y="1435205"/>
            <a:ext cx="599441" cy="229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F6F5F0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122" name="Text 4"/>
          <p:cNvSpPr txBox="1"/>
          <p:nvPr/>
        </p:nvSpPr>
        <p:spPr>
          <a:xfrm>
            <a:off x="1047749" y="1816949"/>
            <a:ext cx="1399541" cy="263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class Counter:</a:t>
            </a:r>
          </a:p>
        </p:txBody>
      </p:sp>
      <p:sp>
        <p:nvSpPr>
          <p:cNvPr id="123" name="Text 5"/>
          <p:cNvSpPr txBox="1"/>
          <p:nvPr/>
        </p:nvSpPr>
        <p:spPr>
          <a:xfrm>
            <a:off x="1047749" y="2054751"/>
            <a:ext cx="3083561" cy="263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def __init__(self) -&gt; None:</a:t>
            </a:r>
          </a:p>
        </p:txBody>
      </p:sp>
      <p:sp>
        <p:nvSpPr>
          <p:cNvPr id="124" name="Text 6"/>
          <p:cNvSpPr txBox="1"/>
          <p:nvPr/>
        </p:nvSpPr>
        <p:spPr>
          <a:xfrm>
            <a:off x="1047749" y="2292666"/>
            <a:ext cx="2192021" cy="263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    self.value = 0</a:t>
            </a:r>
          </a:p>
        </p:txBody>
      </p:sp>
      <p:sp>
        <p:nvSpPr>
          <p:cNvPr id="125" name="Text 7"/>
          <p:cNvSpPr txBox="1"/>
          <p:nvPr/>
        </p:nvSpPr>
        <p:spPr>
          <a:xfrm>
            <a:off x="1047749" y="2768388"/>
            <a:ext cx="3578861" cy="263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def run_a(self, n: int) -&gt; None:</a:t>
            </a:r>
          </a:p>
        </p:txBody>
      </p:sp>
      <p:sp>
        <p:nvSpPr>
          <p:cNvPr id="126" name="Text 8"/>
          <p:cNvSpPr txBox="1"/>
          <p:nvPr/>
        </p:nvSpPr>
        <p:spPr>
          <a:xfrm>
            <a:off x="1047749" y="3006198"/>
            <a:ext cx="2588261" cy="263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    for _ in range(n):</a:t>
            </a:r>
          </a:p>
        </p:txBody>
      </p:sp>
      <p:sp>
        <p:nvSpPr>
          <p:cNvPr id="127" name="Text 9"/>
          <p:cNvSpPr txBox="1"/>
          <p:nvPr/>
        </p:nvSpPr>
        <p:spPr>
          <a:xfrm>
            <a:off x="1047749" y="3244112"/>
            <a:ext cx="2687321" cy="263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        self.value += 1</a:t>
            </a:r>
          </a:p>
        </p:txBody>
      </p:sp>
      <p:sp>
        <p:nvSpPr>
          <p:cNvPr id="128" name="Text 10"/>
          <p:cNvSpPr txBox="1"/>
          <p:nvPr/>
        </p:nvSpPr>
        <p:spPr>
          <a:xfrm>
            <a:off x="1047749" y="3482020"/>
            <a:ext cx="3281681" cy="263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# 8 threads × 200,000 = 1,600,000</a:t>
            </a:r>
          </a:p>
        </p:txBody>
      </p:sp>
      <p:sp>
        <p:nvSpPr>
          <p:cNvPr id="129" name="Text 11"/>
          <p:cNvSpPr txBox="1"/>
          <p:nvPr/>
        </p:nvSpPr>
        <p:spPr>
          <a:xfrm>
            <a:off x="812799" y="4043784"/>
            <a:ext cx="2154334" cy="374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700"/>
              </a:lnSpc>
              <a:defRPr sz="22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Who else holds </a:t>
            </a:r>
          </a:p>
        </p:txBody>
      </p:sp>
      <p:sp>
        <p:nvSpPr>
          <p:cNvPr id="130" name="Text 12"/>
          <p:cNvSpPr txBox="1"/>
          <p:nvPr/>
        </p:nvSpPr>
        <p:spPr>
          <a:xfrm>
            <a:off x="2904383" y="4043784"/>
            <a:ext cx="1727201" cy="374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700"/>
              </a:lnSpc>
              <a:defRPr sz="2200"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self.value</a:t>
            </a:r>
          </a:p>
        </p:txBody>
      </p:sp>
      <p:sp>
        <p:nvSpPr>
          <p:cNvPr id="131" name="Text 13"/>
          <p:cNvSpPr txBox="1"/>
          <p:nvPr/>
        </p:nvSpPr>
        <p:spPr>
          <a:xfrm>
            <a:off x="4580783" y="4043784"/>
            <a:ext cx="1924051" cy="374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700"/>
              </a:lnSpc>
              <a:defRPr sz="2200"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? </a:t>
            </a:r>
            <a:r>
              <a:rPr>
                <a:solidFill>
                  <a:schemeClr val="accent1"/>
                </a:solidFill>
              </a:rPr>
              <a:t>8 threads.</a:t>
            </a:r>
          </a:p>
        </p:txBody>
      </p:sp>
      <p:sp>
        <p:nvSpPr>
          <p:cNvPr id="132" name="Text 14"/>
          <p:cNvSpPr txBox="1"/>
          <p:nvPr/>
        </p:nvSpPr>
        <p:spPr>
          <a:xfrm>
            <a:off x="812799" y="4429440"/>
            <a:ext cx="10883394" cy="360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600"/>
              </a:lnSpc>
              <a:defRPr sz="2100"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Is anyone changing it? </a:t>
            </a:r>
            <a:r>
              <a:rPr>
                <a:solidFill>
                  <a:schemeClr val="accent1"/>
                </a:solidFill>
              </a:rPr>
              <a:t>All 8.</a:t>
            </a:r>
          </a:p>
        </p:txBody>
      </p:sp>
      <p:sp>
        <p:nvSpPr>
          <p:cNvPr id="133" name="Shape 15"/>
          <p:cNvSpPr/>
          <p:nvPr/>
        </p:nvSpPr>
        <p:spPr>
          <a:xfrm>
            <a:off x="812800" y="5170804"/>
            <a:ext cx="10566400" cy="671196"/>
          </a:xfrm>
          <a:prstGeom prst="roundRect">
            <a:avLst>
              <a:gd name="adj" fmla="val 11353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16"/>
          <p:cNvSpPr txBox="1"/>
          <p:nvPr/>
        </p:nvSpPr>
        <p:spPr>
          <a:xfrm>
            <a:off x="915923" y="5323204"/>
            <a:ext cx="10360154" cy="391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lnSpc>
                <a:spcPts val="2900"/>
              </a:lnSpc>
              <a:defRPr spc="-100" sz="23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Out of 1,600,000 updates, how many get lost?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Zero.</a:t>
            </a:r>
          </a:p>
        </p:txBody>
      </p:sp>
      <p:sp>
        <p:nvSpPr>
          <p:cNvPr id="137" name="Shape 1"/>
          <p:cNvSpPr/>
          <p:nvPr/>
        </p:nvSpPr>
        <p:spPr>
          <a:xfrm>
            <a:off x="815975" y="1433196"/>
            <a:ext cx="3380317" cy="1866901"/>
          </a:xfrm>
          <a:prstGeom prst="roundRect">
            <a:avLst>
              <a:gd name="adj" fmla="val 5272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2"/>
          <p:cNvSpPr txBox="1"/>
          <p:nvPr/>
        </p:nvSpPr>
        <p:spPr>
          <a:xfrm>
            <a:off x="1073150" y="1690371"/>
            <a:ext cx="2951946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6627A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GIL on, 5 ms</a:t>
            </a:r>
          </a:p>
        </p:txBody>
      </p:sp>
      <p:sp>
        <p:nvSpPr>
          <p:cNvPr id="139" name="Text 3"/>
          <p:cNvSpPr txBox="1"/>
          <p:nvPr/>
        </p:nvSpPr>
        <p:spPr>
          <a:xfrm>
            <a:off x="1073150" y="1979928"/>
            <a:ext cx="2951946" cy="772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86968">
              <a:lnSpc>
                <a:spcPts val="5600"/>
              </a:lnSpc>
              <a:defRPr sz="5432">
                <a:solidFill>
                  <a:srgbClr val="56627A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40" name="Text 4"/>
          <p:cNvSpPr txBox="1"/>
          <p:nvPr/>
        </p:nvSpPr>
        <p:spPr>
          <a:xfrm>
            <a:off x="1073150" y="2802892"/>
            <a:ext cx="2951946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lost (5/5)</a:t>
            </a:r>
          </a:p>
        </p:txBody>
      </p:sp>
      <p:sp>
        <p:nvSpPr>
          <p:cNvPr id="141" name="Shape 5"/>
          <p:cNvSpPr/>
          <p:nvPr/>
        </p:nvSpPr>
        <p:spPr>
          <a:xfrm>
            <a:off x="4405841" y="1433196"/>
            <a:ext cx="3380318" cy="1866901"/>
          </a:xfrm>
          <a:prstGeom prst="roundRect">
            <a:avLst>
              <a:gd name="adj" fmla="val 5272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6"/>
          <p:cNvSpPr txBox="1"/>
          <p:nvPr/>
        </p:nvSpPr>
        <p:spPr>
          <a:xfrm>
            <a:off x="4663016" y="1690371"/>
            <a:ext cx="295194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6627A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GIL on, 1 µs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4663016" y="1979928"/>
            <a:ext cx="2951947" cy="772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86968">
              <a:lnSpc>
                <a:spcPts val="5600"/>
              </a:lnSpc>
              <a:defRPr sz="5432">
                <a:solidFill>
                  <a:srgbClr val="56627A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44" name="Text 8"/>
          <p:cNvSpPr txBox="1"/>
          <p:nvPr/>
        </p:nvSpPr>
        <p:spPr>
          <a:xfrm>
            <a:off x="4663016" y="2802892"/>
            <a:ext cx="2951947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lost (5/5)</a:t>
            </a:r>
          </a:p>
        </p:txBody>
      </p:sp>
      <p:sp>
        <p:nvSpPr>
          <p:cNvPr id="145" name="Shape 9"/>
          <p:cNvSpPr/>
          <p:nvPr/>
        </p:nvSpPr>
        <p:spPr>
          <a:xfrm>
            <a:off x="7995708" y="1433196"/>
            <a:ext cx="3380317" cy="1866901"/>
          </a:xfrm>
          <a:prstGeom prst="roundRect">
            <a:avLst>
              <a:gd name="adj" fmla="val 5272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10"/>
          <p:cNvSpPr txBox="1"/>
          <p:nvPr/>
        </p:nvSpPr>
        <p:spPr>
          <a:xfrm>
            <a:off x="8252883" y="1690371"/>
            <a:ext cx="295194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4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GIL off</a:t>
            </a:r>
          </a:p>
        </p:txBody>
      </p:sp>
      <p:sp>
        <p:nvSpPr>
          <p:cNvPr id="147" name="Text 11"/>
          <p:cNvSpPr txBox="1"/>
          <p:nvPr/>
        </p:nvSpPr>
        <p:spPr>
          <a:xfrm>
            <a:off x="8252883" y="1979928"/>
            <a:ext cx="2951947" cy="772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86968">
              <a:lnSpc>
                <a:spcPts val="5600"/>
              </a:lnSpc>
              <a:defRPr sz="5432">
                <a:solidFill>
                  <a:schemeClr val="accent4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78–83%</a:t>
            </a:r>
          </a:p>
        </p:txBody>
      </p:sp>
      <p:sp>
        <p:nvSpPr>
          <p:cNvPr id="148" name="Text 12"/>
          <p:cNvSpPr txBox="1"/>
          <p:nvPr/>
        </p:nvSpPr>
        <p:spPr>
          <a:xfrm>
            <a:off x="8252883" y="2802892"/>
            <a:ext cx="2951947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lost</a:t>
            </a:r>
          </a:p>
        </p:txBody>
      </p:sp>
      <p:sp>
        <p:nvSpPr>
          <p:cNvPr id="149" name="Text 13"/>
          <p:cNvSpPr txBox="1"/>
          <p:nvPr/>
        </p:nvSpPr>
        <p:spPr>
          <a:xfrm>
            <a:off x="812800" y="3557270"/>
            <a:ext cx="204772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Python 3.14.6t (switched via </a:t>
            </a:r>
          </a:p>
        </p:txBody>
      </p:sp>
      <p:sp>
        <p:nvSpPr>
          <p:cNvPr id="150" name="Text 14"/>
          <p:cNvSpPr txBox="1"/>
          <p:nvPr/>
        </p:nvSpPr>
        <p:spPr>
          <a:xfrm>
            <a:off x="2800879" y="3560445"/>
            <a:ext cx="96520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-X gil=1/0</a:t>
            </a:r>
          </a:p>
        </p:txBody>
      </p:sp>
      <p:sp>
        <p:nvSpPr>
          <p:cNvPr id="151" name="Text 15"/>
          <p:cNvSpPr txBox="1"/>
          <p:nvPr/>
        </p:nvSpPr>
        <p:spPr>
          <a:xfrm>
            <a:off x="3715279" y="3557270"/>
            <a:ext cx="1593089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), 5 runs per setting</a:t>
            </a:r>
          </a:p>
        </p:txBody>
      </p:sp>
      <p:sp>
        <p:nvSpPr>
          <p:cNvPr id="152" name="Text 16"/>
          <p:cNvSpPr txBox="1"/>
          <p:nvPr/>
        </p:nvSpPr>
        <p:spPr>
          <a:xfrm>
            <a:off x="7085076" y="5478779"/>
            <a:ext cx="4294124" cy="388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r">
              <a:lnSpc>
                <a:spcPts val="2800"/>
              </a:lnSpc>
              <a:defRPr sz="2600">
                <a:solidFill>
                  <a:schemeClr val="accent1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So the GIL protects it?</a:t>
            </a:r>
          </a:p>
        </p:txBody>
      </p:sp>
      <p:sp>
        <p:nvSpPr>
          <p:cNvPr id="153" name="Text 17"/>
          <p:cNvSpPr txBox="1"/>
          <p:nvPr/>
        </p:nvSpPr>
        <p:spPr>
          <a:xfrm>
            <a:off x="812799" y="6238242"/>
            <a:ext cx="1088339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Source: results/switchpoint_probe_2026-10-11.txt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Same logic, slightly different shape</a:t>
            </a:r>
          </a:p>
        </p:txBody>
      </p:sp>
      <p:sp>
        <p:nvSpPr>
          <p:cNvPr id="156" name="Shape 1"/>
          <p:cNvSpPr/>
          <p:nvPr/>
        </p:nvSpPr>
        <p:spPr>
          <a:xfrm>
            <a:off x="815975" y="1433196"/>
            <a:ext cx="7486650" cy="2073911"/>
          </a:xfrm>
          <a:prstGeom prst="roundRect">
            <a:avLst>
              <a:gd name="adj" fmla="val 3521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59" name="Text 2"/>
          <p:cNvGrpSpPr/>
          <p:nvPr/>
        </p:nvGrpSpPr>
        <p:grpSpPr>
          <a:xfrm>
            <a:off x="819150" y="1436371"/>
            <a:ext cx="7480300" cy="340361"/>
            <a:chOff x="0" y="0"/>
            <a:chExt cx="7480300" cy="340360"/>
          </a:xfrm>
        </p:grpSpPr>
        <p:sp>
          <p:nvSpPr>
            <p:cNvPr id="157" name="形狀"/>
            <p:cNvSpPr/>
            <p:nvPr/>
          </p:nvSpPr>
          <p:spPr>
            <a:xfrm>
              <a:off x="0" y="-1"/>
              <a:ext cx="7480300" cy="3403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4433"/>
                  </a:moveTo>
                  <a:cubicBezTo>
                    <a:pt x="0" y="1985"/>
                    <a:pt x="90" y="0"/>
                    <a:pt x="202" y="0"/>
                  </a:cubicBezTo>
                  <a:lnTo>
                    <a:pt x="21398" y="0"/>
                  </a:lnTo>
                  <a:cubicBezTo>
                    <a:pt x="21510" y="0"/>
                    <a:pt x="21600" y="1985"/>
                    <a:pt x="21600" y="4433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600"/>
                </a:lnSpc>
                <a:defRPr sz="1200"/>
              </a:pPr>
            </a:p>
          </p:txBody>
        </p:sp>
        <p:sp>
          <p:nvSpPr>
            <p:cNvPr id="158" name="Python"/>
            <p:cNvSpPr txBox="1"/>
            <p:nvPr/>
          </p:nvSpPr>
          <p:spPr>
            <a:xfrm>
              <a:off x="139700" y="25399"/>
              <a:ext cx="7200900" cy="3149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100" tIns="38100" rIns="38100" bIns="38100" numCol="1" anchor="t">
              <a:normAutofit fontScale="100000" lnSpcReduction="0"/>
            </a:bodyPr>
            <a:lstStyle>
              <a:lvl1pPr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Python</a:t>
              </a:r>
            </a:p>
          </p:txBody>
        </p:sp>
      </p:grpSp>
      <p:sp>
        <p:nvSpPr>
          <p:cNvPr id="160" name="Text 3"/>
          <p:cNvSpPr txBox="1"/>
          <p:nvPr/>
        </p:nvSpPr>
        <p:spPr>
          <a:xfrm>
            <a:off x="1047749" y="1929128"/>
            <a:ext cx="2207261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def step() -&gt; int:</a:t>
            </a:r>
          </a:p>
        </p:txBody>
      </p:sp>
      <p:sp>
        <p:nvSpPr>
          <p:cNvPr id="161" name="Text 4"/>
          <p:cNvSpPr txBox="1"/>
          <p:nvPr/>
        </p:nvSpPr>
        <p:spPr>
          <a:xfrm>
            <a:off x="1047749" y="2213607"/>
            <a:ext cx="1475741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return 1</a:t>
            </a:r>
          </a:p>
        </p:txBody>
      </p:sp>
      <p:sp>
        <p:nvSpPr>
          <p:cNvPr id="162" name="Text 5"/>
          <p:cNvSpPr txBox="1"/>
          <p:nvPr/>
        </p:nvSpPr>
        <p:spPr>
          <a:xfrm>
            <a:off x="1047749" y="2782571"/>
            <a:ext cx="1841501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# Counter.run_b</a:t>
            </a:r>
          </a:p>
        </p:txBody>
      </p:sp>
      <p:grpSp>
        <p:nvGrpSpPr>
          <p:cNvPr id="165" name="Text 6"/>
          <p:cNvGrpSpPr/>
          <p:nvPr/>
        </p:nvGrpSpPr>
        <p:grpSpPr>
          <a:xfrm>
            <a:off x="971550" y="3067050"/>
            <a:ext cx="7175500" cy="284480"/>
            <a:chOff x="0" y="0"/>
            <a:chExt cx="7175500" cy="284479"/>
          </a:xfrm>
        </p:grpSpPr>
        <p:sp>
          <p:nvSpPr>
            <p:cNvPr id="163" name="矩形"/>
            <p:cNvSpPr/>
            <p:nvPr/>
          </p:nvSpPr>
          <p:spPr>
            <a:xfrm>
              <a:off x="0" y="0"/>
              <a:ext cx="7175500" cy="284480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200"/>
                </a:lnSpc>
                <a:defRPr sz="1600"/>
              </a:pPr>
            </a:p>
          </p:txBody>
        </p:sp>
        <p:sp>
          <p:nvSpPr>
            <p:cNvPr id="164" name="self.value = self.value + step()"/>
            <p:cNvSpPr txBox="1"/>
            <p:nvPr/>
          </p:nvSpPr>
          <p:spPr>
            <a:xfrm>
              <a:off x="76200" y="0"/>
              <a:ext cx="3914141" cy="284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normAutofit fontScale="100000" lnSpcReduction="0"/>
            </a:bodyPr>
            <a:lstStyle>
              <a:lvl1pPr defTabSz="896111">
                <a:lnSpc>
                  <a:spcPts val="2100"/>
                </a:lnSpc>
                <a:defRPr sz="1568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self.value = self.value + step()</a:t>
              </a:r>
            </a:p>
          </p:txBody>
        </p:sp>
      </p:grpSp>
      <p:sp>
        <p:nvSpPr>
          <p:cNvPr id="166" name="Shape 7"/>
          <p:cNvSpPr/>
          <p:nvPr/>
        </p:nvSpPr>
        <p:spPr>
          <a:xfrm>
            <a:off x="815975" y="3767454"/>
            <a:ext cx="3380317" cy="1739901"/>
          </a:xfrm>
          <a:prstGeom prst="roundRect">
            <a:avLst>
              <a:gd name="adj" fmla="val 5657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Text 8"/>
          <p:cNvSpPr txBox="1"/>
          <p:nvPr/>
        </p:nvSpPr>
        <p:spPr>
          <a:xfrm>
            <a:off x="1073150" y="3999229"/>
            <a:ext cx="2951946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6627A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GIL on, 5 ms</a:t>
            </a:r>
          </a:p>
        </p:txBody>
      </p:sp>
      <p:sp>
        <p:nvSpPr>
          <p:cNvPr id="168" name="Text 9"/>
          <p:cNvSpPr txBox="1"/>
          <p:nvPr/>
        </p:nvSpPr>
        <p:spPr>
          <a:xfrm>
            <a:off x="1073150" y="4288792"/>
            <a:ext cx="2951946" cy="695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96111">
              <a:lnSpc>
                <a:spcPts val="5000"/>
              </a:lnSpc>
              <a:defRPr sz="4704">
                <a:solidFill>
                  <a:srgbClr val="56627A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0–58%</a:t>
            </a:r>
          </a:p>
        </p:txBody>
      </p:sp>
      <p:sp>
        <p:nvSpPr>
          <p:cNvPr id="169" name="Text 10"/>
          <p:cNvSpPr txBox="1"/>
          <p:nvPr/>
        </p:nvSpPr>
        <p:spPr>
          <a:xfrm>
            <a:off x="1073150" y="5035550"/>
            <a:ext cx="2951946" cy="265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lost (3 of 5 runs)</a:t>
            </a:r>
          </a:p>
        </p:txBody>
      </p:sp>
      <p:sp>
        <p:nvSpPr>
          <p:cNvPr id="170" name="Shape 11"/>
          <p:cNvSpPr/>
          <p:nvPr/>
        </p:nvSpPr>
        <p:spPr>
          <a:xfrm>
            <a:off x="4405841" y="3767454"/>
            <a:ext cx="3380318" cy="1739901"/>
          </a:xfrm>
          <a:prstGeom prst="roundRect">
            <a:avLst>
              <a:gd name="adj" fmla="val 5657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Text 12"/>
          <p:cNvSpPr txBox="1"/>
          <p:nvPr/>
        </p:nvSpPr>
        <p:spPr>
          <a:xfrm>
            <a:off x="4663016" y="3999229"/>
            <a:ext cx="295194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6627A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GIL on, 1 µs</a:t>
            </a:r>
          </a:p>
        </p:txBody>
      </p:sp>
      <p:sp>
        <p:nvSpPr>
          <p:cNvPr id="172" name="Text 13"/>
          <p:cNvSpPr txBox="1"/>
          <p:nvPr/>
        </p:nvSpPr>
        <p:spPr>
          <a:xfrm>
            <a:off x="4663016" y="4288792"/>
            <a:ext cx="2951947" cy="695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96111">
              <a:lnSpc>
                <a:spcPts val="5000"/>
              </a:lnSpc>
              <a:defRPr sz="4704">
                <a:solidFill>
                  <a:srgbClr val="56627A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65–68%</a:t>
            </a:r>
          </a:p>
        </p:txBody>
      </p:sp>
      <p:sp>
        <p:nvSpPr>
          <p:cNvPr id="173" name="Text 14"/>
          <p:cNvSpPr txBox="1"/>
          <p:nvPr/>
        </p:nvSpPr>
        <p:spPr>
          <a:xfrm>
            <a:off x="4663016" y="5035550"/>
            <a:ext cx="2951947" cy="265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lost</a:t>
            </a:r>
          </a:p>
        </p:txBody>
      </p:sp>
      <p:sp>
        <p:nvSpPr>
          <p:cNvPr id="174" name="Shape 15"/>
          <p:cNvSpPr/>
          <p:nvPr/>
        </p:nvSpPr>
        <p:spPr>
          <a:xfrm>
            <a:off x="7995708" y="3767454"/>
            <a:ext cx="3380317" cy="1739901"/>
          </a:xfrm>
          <a:prstGeom prst="roundRect">
            <a:avLst>
              <a:gd name="adj" fmla="val 5657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16"/>
          <p:cNvSpPr txBox="1"/>
          <p:nvPr/>
        </p:nvSpPr>
        <p:spPr>
          <a:xfrm>
            <a:off x="8252883" y="3999229"/>
            <a:ext cx="295194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4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GIL off</a:t>
            </a:r>
          </a:p>
        </p:txBody>
      </p:sp>
      <p:sp>
        <p:nvSpPr>
          <p:cNvPr id="176" name="Text 17"/>
          <p:cNvSpPr txBox="1"/>
          <p:nvPr/>
        </p:nvSpPr>
        <p:spPr>
          <a:xfrm>
            <a:off x="8252883" y="4288792"/>
            <a:ext cx="2951947" cy="695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96111">
              <a:lnSpc>
                <a:spcPts val="5000"/>
              </a:lnSpc>
              <a:defRPr sz="4704">
                <a:solidFill>
                  <a:schemeClr val="accent4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80–81%</a:t>
            </a:r>
          </a:p>
        </p:txBody>
      </p:sp>
      <p:sp>
        <p:nvSpPr>
          <p:cNvPr id="177" name="Text 18"/>
          <p:cNvSpPr txBox="1"/>
          <p:nvPr/>
        </p:nvSpPr>
        <p:spPr>
          <a:xfrm>
            <a:off x="8252883" y="5035550"/>
            <a:ext cx="2951947" cy="265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lost</a:t>
            </a:r>
          </a:p>
        </p:txBody>
      </p:sp>
      <p:sp>
        <p:nvSpPr>
          <p:cNvPr id="178" name="Text 19"/>
          <p:cNvSpPr txBox="1"/>
          <p:nvPr/>
        </p:nvSpPr>
        <p:spPr>
          <a:xfrm>
            <a:off x="812799" y="6238242"/>
            <a:ext cx="1088339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Source: results/switchpoint_probe_2026-10-11.txt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Where the GIL can switch</a:t>
            </a:r>
          </a:p>
        </p:txBody>
      </p:sp>
      <p:sp>
        <p:nvSpPr>
          <p:cNvPr id="181" name="Shape 1"/>
          <p:cNvSpPr/>
          <p:nvPr/>
        </p:nvSpPr>
        <p:spPr>
          <a:xfrm>
            <a:off x="815975" y="1407796"/>
            <a:ext cx="5200650" cy="2734311"/>
          </a:xfrm>
          <a:prstGeom prst="roundRect">
            <a:avLst>
              <a:gd name="adj" fmla="val 2671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84" name="Text 2"/>
          <p:cNvGrpSpPr/>
          <p:nvPr/>
        </p:nvGrpSpPr>
        <p:grpSpPr>
          <a:xfrm>
            <a:off x="819150" y="1410971"/>
            <a:ext cx="5194300" cy="340361"/>
            <a:chOff x="0" y="0"/>
            <a:chExt cx="5194300" cy="340360"/>
          </a:xfrm>
        </p:grpSpPr>
        <p:sp>
          <p:nvSpPr>
            <p:cNvPr id="182" name="形狀"/>
            <p:cNvSpPr/>
            <p:nvPr/>
          </p:nvSpPr>
          <p:spPr>
            <a:xfrm>
              <a:off x="0" y="-1"/>
              <a:ext cx="5194300" cy="3403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4433"/>
                  </a:moveTo>
                  <a:cubicBezTo>
                    <a:pt x="0" y="1985"/>
                    <a:pt x="130" y="0"/>
                    <a:pt x="290" y="0"/>
                  </a:cubicBezTo>
                  <a:lnTo>
                    <a:pt x="21310" y="0"/>
                  </a:lnTo>
                  <a:cubicBezTo>
                    <a:pt x="21470" y="0"/>
                    <a:pt x="21600" y="1985"/>
                    <a:pt x="21600" y="4433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600"/>
                </a:lnSpc>
                <a:defRPr sz="1200"/>
              </a:pPr>
            </a:p>
          </p:txBody>
        </p:sp>
        <p:sp>
          <p:nvSpPr>
            <p:cNvPr id="183" name="Python · self.value += 1"/>
            <p:cNvSpPr txBox="1"/>
            <p:nvPr/>
          </p:nvSpPr>
          <p:spPr>
            <a:xfrm>
              <a:off x="88900" y="25399"/>
              <a:ext cx="2283460" cy="3149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t">
              <a:normAutofit fontScale="100000" lnSpcReduction="0"/>
            </a:bodyPr>
            <a:lstStyle>
              <a:lvl1pPr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Python · self.value += 1</a:t>
              </a:r>
            </a:p>
          </p:txBody>
        </p:sp>
      </p:grpSp>
      <p:sp>
        <p:nvSpPr>
          <p:cNvPr id="185" name="Text 3"/>
          <p:cNvSpPr txBox="1"/>
          <p:nvPr/>
        </p:nvSpPr>
        <p:spPr>
          <a:xfrm>
            <a:off x="946149" y="1878328"/>
            <a:ext cx="225298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LOAD_FAST_BORROW self</a:t>
            </a:r>
          </a:p>
        </p:txBody>
      </p:sp>
      <p:sp>
        <p:nvSpPr>
          <p:cNvPr id="186" name="Text 4"/>
          <p:cNvSpPr txBox="1"/>
          <p:nvPr/>
        </p:nvSpPr>
        <p:spPr>
          <a:xfrm>
            <a:off x="946149" y="2145028"/>
            <a:ext cx="193294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COPY             1</a:t>
            </a:r>
          </a:p>
        </p:txBody>
      </p:sp>
      <p:sp>
        <p:nvSpPr>
          <p:cNvPr id="187" name="Text 5"/>
          <p:cNvSpPr txBox="1"/>
          <p:nvPr/>
        </p:nvSpPr>
        <p:spPr>
          <a:xfrm>
            <a:off x="946149" y="2411728"/>
            <a:ext cx="235966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LOAD_ATTR        value</a:t>
            </a:r>
          </a:p>
        </p:txBody>
      </p:sp>
      <p:sp>
        <p:nvSpPr>
          <p:cNvPr id="188" name="Text 6"/>
          <p:cNvSpPr txBox="1"/>
          <p:nvPr/>
        </p:nvSpPr>
        <p:spPr>
          <a:xfrm>
            <a:off x="946149" y="2678428"/>
            <a:ext cx="193294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LOAD_SMALL_INT   1</a:t>
            </a:r>
          </a:p>
        </p:txBody>
      </p:sp>
      <p:sp>
        <p:nvSpPr>
          <p:cNvPr id="189" name="Text 7"/>
          <p:cNvSpPr txBox="1"/>
          <p:nvPr/>
        </p:nvSpPr>
        <p:spPr>
          <a:xfrm>
            <a:off x="946149" y="2945128"/>
            <a:ext cx="203962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BINARY_OP        +=</a:t>
            </a:r>
          </a:p>
        </p:txBody>
      </p:sp>
      <p:sp>
        <p:nvSpPr>
          <p:cNvPr id="190" name="Text 8"/>
          <p:cNvSpPr txBox="1"/>
          <p:nvPr/>
        </p:nvSpPr>
        <p:spPr>
          <a:xfrm>
            <a:off x="946149" y="3211828"/>
            <a:ext cx="193294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SWAP             2</a:t>
            </a:r>
          </a:p>
        </p:txBody>
      </p:sp>
      <p:sp>
        <p:nvSpPr>
          <p:cNvPr id="191" name="Text 9"/>
          <p:cNvSpPr txBox="1"/>
          <p:nvPr/>
        </p:nvSpPr>
        <p:spPr>
          <a:xfrm>
            <a:off x="946149" y="3478529"/>
            <a:ext cx="235966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STORE_ATTR       value</a:t>
            </a:r>
          </a:p>
        </p:txBody>
      </p:sp>
      <p:grpSp>
        <p:nvGrpSpPr>
          <p:cNvPr id="194" name="Text 10"/>
          <p:cNvGrpSpPr/>
          <p:nvPr/>
        </p:nvGrpSpPr>
        <p:grpSpPr>
          <a:xfrm>
            <a:off x="895350" y="3745229"/>
            <a:ext cx="5041900" cy="266701"/>
            <a:chOff x="0" y="0"/>
            <a:chExt cx="5041900" cy="266700"/>
          </a:xfrm>
        </p:grpSpPr>
        <p:sp>
          <p:nvSpPr>
            <p:cNvPr id="192" name="矩形"/>
            <p:cNvSpPr/>
            <p:nvPr/>
          </p:nvSpPr>
          <p:spPr>
            <a:xfrm>
              <a:off x="0" y="0"/>
              <a:ext cx="5041900" cy="266700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100"/>
                </a:lnSpc>
                <a:defRPr sz="1400"/>
              </a:pPr>
            </a:p>
          </p:txBody>
        </p:sp>
        <p:sp>
          <p:nvSpPr>
            <p:cNvPr id="193" name="JUMP_BACKWARD    → loop  ← after the store"/>
            <p:cNvSpPr txBox="1"/>
            <p:nvPr/>
          </p:nvSpPr>
          <p:spPr>
            <a:xfrm>
              <a:off x="50800" y="0"/>
              <a:ext cx="4493260" cy="266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normAutofit fontScale="100000" lnSpcReduction="0"/>
            </a:bodyPr>
            <a:lstStyle>
              <a:lvl1pPr defTabSz="905255">
                <a:lnSpc>
                  <a:spcPts val="2000"/>
                </a:lnSpc>
                <a:defRPr sz="1386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JUMP_BACKWARD    → loop  ← after the store</a:t>
              </a:r>
            </a:p>
          </p:txBody>
        </p:sp>
      </p:grpSp>
      <p:sp>
        <p:nvSpPr>
          <p:cNvPr id="195" name="Shape 11"/>
          <p:cNvSpPr/>
          <p:nvPr/>
        </p:nvSpPr>
        <p:spPr>
          <a:xfrm>
            <a:off x="6175375" y="1407796"/>
            <a:ext cx="5200650" cy="2734311"/>
          </a:xfrm>
          <a:prstGeom prst="roundRect">
            <a:avLst>
              <a:gd name="adj" fmla="val 2671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98" name="Text 12"/>
          <p:cNvGrpSpPr/>
          <p:nvPr/>
        </p:nvGrpSpPr>
        <p:grpSpPr>
          <a:xfrm>
            <a:off x="6178550" y="1410971"/>
            <a:ext cx="5194300" cy="340361"/>
            <a:chOff x="0" y="0"/>
            <a:chExt cx="5194300" cy="340360"/>
          </a:xfrm>
        </p:grpSpPr>
        <p:sp>
          <p:nvSpPr>
            <p:cNvPr id="196" name="形狀"/>
            <p:cNvSpPr/>
            <p:nvPr/>
          </p:nvSpPr>
          <p:spPr>
            <a:xfrm>
              <a:off x="0" y="-1"/>
              <a:ext cx="5194300" cy="3403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4433"/>
                  </a:moveTo>
                  <a:cubicBezTo>
                    <a:pt x="0" y="1985"/>
                    <a:pt x="130" y="0"/>
                    <a:pt x="290" y="0"/>
                  </a:cubicBezTo>
                  <a:lnTo>
                    <a:pt x="21310" y="0"/>
                  </a:lnTo>
                  <a:cubicBezTo>
                    <a:pt x="21470" y="0"/>
                    <a:pt x="21600" y="1985"/>
                    <a:pt x="21600" y="4433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600"/>
                </a:lnSpc>
                <a:defRPr sz="1200"/>
              </a:pPr>
            </a:p>
          </p:txBody>
        </p:sp>
        <p:sp>
          <p:nvSpPr>
            <p:cNvPr id="197" name="Python · self.value = self.value + step()"/>
            <p:cNvSpPr txBox="1"/>
            <p:nvPr/>
          </p:nvSpPr>
          <p:spPr>
            <a:xfrm>
              <a:off x="88900" y="25399"/>
              <a:ext cx="3837940" cy="3149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t">
              <a:normAutofit fontScale="100000" lnSpcReduction="0"/>
            </a:bodyPr>
            <a:lstStyle>
              <a:lvl1pPr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Python · self.value = self.value + step()</a:t>
              </a:r>
            </a:p>
          </p:txBody>
        </p:sp>
      </p:grpSp>
      <p:sp>
        <p:nvSpPr>
          <p:cNvPr id="199" name="Text 13"/>
          <p:cNvSpPr txBox="1"/>
          <p:nvPr/>
        </p:nvSpPr>
        <p:spPr>
          <a:xfrm>
            <a:off x="6305550" y="1878328"/>
            <a:ext cx="225298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LOAD_FAST_BORROW self</a:t>
            </a:r>
          </a:p>
        </p:txBody>
      </p:sp>
      <p:sp>
        <p:nvSpPr>
          <p:cNvPr id="200" name="Text 14"/>
          <p:cNvSpPr txBox="1"/>
          <p:nvPr/>
        </p:nvSpPr>
        <p:spPr>
          <a:xfrm>
            <a:off x="6305550" y="2145028"/>
            <a:ext cx="235966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LOAD_ATTR        value</a:t>
            </a:r>
          </a:p>
        </p:txBody>
      </p:sp>
      <p:sp>
        <p:nvSpPr>
          <p:cNvPr id="201" name="Text 15"/>
          <p:cNvSpPr txBox="1"/>
          <p:nvPr/>
        </p:nvSpPr>
        <p:spPr>
          <a:xfrm>
            <a:off x="6305550" y="2411728"/>
            <a:ext cx="225298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LOAD_GLOBAL      step</a:t>
            </a:r>
          </a:p>
        </p:txBody>
      </p:sp>
      <p:grpSp>
        <p:nvGrpSpPr>
          <p:cNvPr id="204" name="Text 16"/>
          <p:cNvGrpSpPr/>
          <p:nvPr/>
        </p:nvGrpSpPr>
        <p:grpSpPr>
          <a:xfrm>
            <a:off x="6254750" y="2678428"/>
            <a:ext cx="5041900" cy="266701"/>
            <a:chOff x="0" y="0"/>
            <a:chExt cx="5041900" cy="266700"/>
          </a:xfrm>
        </p:grpSpPr>
        <p:sp>
          <p:nvSpPr>
            <p:cNvPr id="202" name="矩形"/>
            <p:cNvSpPr/>
            <p:nvPr/>
          </p:nvSpPr>
          <p:spPr>
            <a:xfrm>
              <a:off x="0" y="0"/>
              <a:ext cx="5041900" cy="266700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100"/>
                </a:lnSpc>
                <a:defRPr sz="1400"/>
              </a:pPr>
            </a:p>
          </p:txBody>
        </p:sp>
        <p:sp>
          <p:nvSpPr>
            <p:cNvPr id="203" name="CALL             0  ← between load and store"/>
            <p:cNvSpPr txBox="1"/>
            <p:nvPr/>
          </p:nvSpPr>
          <p:spPr>
            <a:xfrm>
              <a:off x="50800" y="0"/>
              <a:ext cx="4706620" cy="266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normAutofit fontScale="100000" lnSpcReduction="0"/>
            </a:bodyPr>
            <a:lstStyle>
              <a:lvl1pPr defTabSz="905255">
                <a:lnSpc>
                  <a:spcPts val="2000"/>
                </a:lnSpc>
                <a:defRPr sz="1386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CALL             0  ← between load and store</a:t>
              </a:r>
            </a:p>
          </p:txBody>
        </p:sp>
      </p:grpSp>
      <p:sp>
        <p:nvSpPr>
          <p:cNvPr id="205" name="Text 17"/>
          <p:cNvSpPr txBox="1"/>
          <p:nvPr/>
        </p:nvSpPr>
        <p:spPr>
          <a:xfrm>
            <a:off x="6305550" y="2945128"/>
            <a:ext cx="193294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BINARY_OP        +</a:t>
            </a:r>
          </a:p>
        </p:txBody>
      </p:sp>
      <p:sp>
        <p:nvSpPr>
          <p:cNvPr id="206" name="Text 18"/>
          <p:cNvSpPr txBox="1"/>
          <p:nvPr/>
        </p:nvSpPr>
        <p:spPr>
          <a:xfrm>
            <a:off x="6305550" y="3211828"/>
            <a:ext cx="225298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LOAD_FAST_BORROW self</a:t>
            </a:r>
          </a:p>
        </p:txBody>
      </p:sp>
      <p:sp>
        <p:nvSpPr>
          <p:cNvPr id="207" name="Text 19"/>
          <p:cNvSpPr txBox="1"/>
          <p:nvPr/>
        </p:nvSpPr>
        <p:spPr>
          <a:xfrm>
            <a:off x="6305550" y="3478529"/>
            <a:ext cx="235966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STORE_ATTR       value</a:t>
            </a:r>
          </a:p>
        </p:txBody>
      </p:sp>
      <p:sp>
        <p:nvSpPr>
          <p:cNvPr id="208" name="Text 20"/>
          <p:cNvSpPr txBox="1"/>
          <p:nvPr/>
        </p:nvSpPr>
        <p:spPr>
          <a:xfrm>
            <a:off x="6305550" y="3745229"/>
            <a:ext cx="246634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JUMP_BACKWARD    → loop</a:t>
            </a:r>
          </a:p>
        </p:txBody>
      </p:sp>
      <p:sp>
        <p:nvSpPr>
          <p:cNvPr id="209" name="Text 21"/>
          <p:cNvSpPr txBox="1"/>
          <p:nvPr/>
        </p:nvSpPr>
        <p:spPr>
          <a:xfrm>
            <a:off x="812799" y="4373879"/>
            <a:ext cx="10883394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Since 3.10 (bpo-29988), periodic GIL checks run at backward jumps, function calls, and RESUME. Other hand-off points exist.</a:t>
            </a:r>
          </a:p>
        </p:txBody>
      </p:sp>
      <p:sp>
        <p:nvSpPr>
          <p:cNvPr id="210" name="Shape 22"/>
          <p:cNvSpPr/>
          <p:nvPr/>
        </p:nvSpPr>
        <p:spPr>
          <a:xfrm flipH="1">
            <a:off x="825499" y="5539742"/>
            <a:ext cx="1" cy="50546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23"/>
          <p:cNvSpPr txBox="1"/>
          <p:nvPr/>
        </p:nvSpPr>
        <p:spPr>
          <a:xfrm>
            <a:off x="965199" y="5552442"/>
            <a:ext cx="10726422" cy="505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Safety depended on code shape, not logic.</a:t>
            </a:r>
          </a:p>
          <a:p>
            <a: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The everyday version got lucky, so we stopped checking.</a:t>
            </a:r>
          </a:p>
        </p:txBody>
      </p:sp>
      <p:pic>
        <p:nvPicPr>
          <p:cNvPr id="212" name="線條 線條" descr="線條 線條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0800000">
            <a:off x="8709608" y="2157297"/>
            <a:ext cx="614556" cy="279832"/>
          </a:xfrm>
          <a:prstGeom prst="rect">
            <a:avLst/>
          </a:prstGeom>
        </p:spPr>
      </p:pic>
      <p:pic>
        <p:nvPicPr>
          <p:cNvPr id="214" name="線條 線條" descr="線條 線條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0800000">
            <a:off x="8709608" y="3499270"/>
            <a:ext cx="614556" cy="279833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2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12" grpId="1"/>
      <p:bldP build="whole" bldLvl="1" animBg="1" rev="0" advAuto="0" spid="214" grpId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Reason 1: asking didn't help</a:t>
            </a:r>
          </a:p>
        </p:txBody>
      </p:sp>
      <p:sp>
        <p:nvSpPr>
          <p:cNvPr id="218" name="Text 1"/>
          <p:cNvSpPr txBox="1"/>
          <p:nvPr/>
        </p:nvSpPr>
        <p:spPr>
          <a:xfrm>
            <a:off x="2316618" y="3209292"/>
            <a:ext cx="7558660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lnSpc>
                <a:spcPts val="4300"/>
              </a:lnSpc>
              <a:defRPr spc="-100" sz="3600">
                <a:solidFill>
                  <a:schemeClr val="accent1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“I asked. Nothing happened.”</a:t>
            </a:r>
          </a:p>
        </p:txBody>
      </p:sp>
      <p:sp>
        <p:nvSpPr>
          <p:cNvPr id="219" name="Shape 2"/>
          <p:cNvSpPr/>
          <p:nvPr/>
        </p:nvSpPr>
        <p:spPr>
          <a:xfrm>
            <a:off x="812800" y="6111242"/>
            <a:ext cx="2565400" cy="762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Text 3"/>
          <p:cNvSpPr txBox="1"/>
          <p:nvPr/>
        </p:nvSpPr>
        <p:spPr>
          <a:xfrm>
            <a:off x="812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asking didn't help</a:t>
            </a:r>
          </a:p>
        </p:txBody>
      </p:sp>
      <p:sp>
        <p:nvSpPr>
          <p:cNvPr id="221" name="Shape 4"/>
          <p:cNvSpPr/>
          <p:nvPr/>
        </p:nvSpPr>
        <p:spPr>
          <a:xfrm>
            <a:off x="3486150" y="6117592"/>
            <a:ext cx="2552700" cy="63501"/>
          </a:xfrm>
          <a:prstGeom prst="roundRect">
            <a:avLst>
              <a:gd name="adj" fmla="val 50000"/>
            </a:avLst>
          </a:prstGeom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Text 5"/>
          <p:cNvSpPr txBox="1"/>
          <p:nvPr/>
        </p:nvSpPr>
        <p:spPr>
          <a:xfrm>
            <a:off x="3479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the dict never broke</a:t>
            </a:r>
          </a:p>
        </p:txBody>
      </p:sp>
      <p:sp>
        <p:nvSpPr>
          <p:cNvPr id="223" name="Shape 6"/>
          <p:cNvSpPr/>
          <p:nvPr/>
        </p:nvSpPr>
        <p:spPr>
          <a:xfrm>
            <a:off x="6153150" y="6117592"/>
            <a:ext cx="2552700" cy="63501"/>
          </a:xfrm>
          <a:prstGeom prst="roundRect">
            <a:avLst>
              <a:gd name="adj" fmla="val 50000"/>
            </a:avLst>
          </a:prstGeom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7"/>
          <p:cNvSpPr txBox="1"/>
          <p:nvPr/>
        </p:nvSpPr>
        <p:spPr>
          <a:xfrm>
            <a:off x="6146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it rarely happened</a:t>
            </a:r>
          </a:p>
        </p:txBody>
      </p:sp>
      <p:sp>
        <p:nvSpPr>
          <p:cNvPr id="225" name="Shape 8"/>
          <p:cNvSpPr/>
          <p:nvPr/>
        </p:nvSpPr>
        <p:spPr>
          <a:xfrm>
            <a:off x="8820150" y="6117592"/>
            <a:ext cx="2552700" cy="63501"/>
          </a:xfrm>
          <a:prstGeom prst="roundRect">
            <a:avLst>
              <a:gd name="adj" fmla="val 50000"/>
            </a:avLst>
          </a:prstGeom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 9"/>
          <p:cNvSpPr txBox="1"/>
          <p:nvPr/>
        </p:nvSpPr>
        <p:spPr>
          <a:xfrm>
            <a:off x="8813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the docs said so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Reason 2: built-in containers never broke</a:t>
            </a:r>
          </a:p>
        </p:txBody>
      </p:sp>
      <p:sp>
        <p:nvSpPr>
          <p:cNvPr id="229" name="Shape 1"/>
          <p:cNvSpPr/>
          <p:nvPr/>
        </p:nvSpPr>
        <p:spPr>
          <a:xfrm>
            <a:off x="815975" y="1552575"/>
            <a:ext cx="4184650" cy="2302511"/>
          </a:xfrm>
          <a:prstGeom prst="roundRect">
            <a:avLst>
              <a:gd name="adj" fmla="val 3172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32" name="Text 2"/>
          <p:cNvGrpSpPr/>
          <p:nvPr/>
        </p:nvGrpSpPr>
        <p:grpSpPr>
          <a:xfrm>
            <a:off x="819150" y="1555749"/>
            <a:ext cx="4178300" cy="340362"/>
            <a:chOff x="0" y="0"/>
            <a:chExt cx="4178300" cy="340360"/>
          </a:xfrm>
        </p:grpSpPr>
        <p:sp>
          <p:nvSpPr>
            <p:cNvPr id="230" name="形狀"/>
            <p:cNvSpPr/>
            <p:nvPr/>
          </p:nvSpPr>
          <p:spPr>
            <a:xfrm>
              <a:off x="0" y="-1"/>
              <a:ext cx="4178300" cy="3403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4433"/>
                  </a:moveTo>
                  <a:cubicBezTo>
                    <a:pt x="0" y="1985"/>
                    <a:pt x="162" y="0"/>
                    <a:pt x="361" y="0"/>
                  </a:cubicBezTo>
                  <a:lnTo>
                    <a:pt x="21239" y="0"/>
                  </a:lnTo>
                  <a:cubicBezTo>
                    <a:pt x="21438" y="0"/>
                    <a:pt x="21600" y="1985"/>
                    <a:pt x="21600" y="4433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600"/>
                </a:lnSpc>
                <a:defRPr sz="1200"/>
              </a:pPr>
            </a:p>
          </p:txBody>
        </p:sp>
        <p:sp>
          <p:nvSpPr>
            <p:cNvPr id="231" name="Python"/>
            <p:cNvSpPr txBox="1"/>
            <p:nvPr/>
          </p:nvSpPr>
          <p:spPr>
            <a:xfrm>
              <a:off x="139700" y="25399"/>
              <a:ext cx="3898900" cy="3149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100" tIns="38100" rIns="38100" bIns="38100" numCol="1" anchor="t">
              <a:normAutofit fontScale="100000" lnSpcReduction="0"/>
            </a:bodyPr>
            <a:lstStyle>
              <a:lvl1pPr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Python</a:t>
              </a:r>
            </a:p>
          </p:txBody>
        </p:sp>
      </p:grpSp>
      <p:sp>
        <p:nvSpPr>
          <p:cNvPr id="233" name="Text 3"/>
          <p:cNvSpPr txBox="1"/>
          <p:nvPr/>
        </p:nvSpPr>
        <p:spPr>
          <a:xfrm>
            <a:off x="1047750" y="2073907"/>
            <a:ext cx="278638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cache: dict[int, int] = {}</a:t>
            </a:r>
          </a:p>
        </p:txBody>
      </p:sp>
      <p:sp>
        <p:nvSpPr>
          <p:cNvPr id="234" name="Text 4"/>
          <p:cNvSpPr txBox="1"/>
          <p:nvPr/>
        </p:nvSpPr>
        <p:spPr>
          <a:xfrm>
            <a:off x="1047750" y="2607307"/>
            <a:ext cx="26797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def get(key: int) -&gt; int:</a:t>
            </a:r>
          </a:p>
        </p:txBody>
      </p:sp>
      <p:sp>
        <p:nvSpPr>
          <p:cNvPr id="235" name="Text 5"/>
          <p:cNvSpPr txBox="1"/>
          <p:nvPr/>
        </p:nvSpPr>
        <p:spPr>
          <a:xfrm>
            <a:off x="1047749" y="2874007"/>
            <a:ext cx="257302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if key not in cache:</a:t>
            </a:r>
          </a:p>
        </p:txBody>
      </p:sp>
      <p:grpSp>
        <p:nvGrpSpPr>
          <p:cNvPr id="238" name="Text 6"/>
          <p:cNvGrpSpPr/>
          <p:nvPr/>
        </p:nvGrpSpPr>
        <p:grpSpPr>
          <a:xfrm>
            <a:off x="971549" y="3140707"/>
            <a:ext cx="3672842" cy="266701"/>
            <a:chOff x="0" y="0"/>
            <a:chExt cx="3672840" cy="266700"/>
          </a:xfrm>
        </p:grpSpPr>
        <p:sp>
          <p:nvSpPr>
            <p:cNvPr id="236" name="形狀"/>
            <p:cNvSpPr/>
            <p:nvPr/>
          </p:nvSpPr>
          <p:spPr>
            <a:xfrm>
              <a:off x="-1" y="0"/>
              <a:ext cx="3672842" cy="2667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9" y="0"/>
                  </a:moveTo>
                  <a:lnTo>
                    <a:pt x="21451" y="0"/>
                  </a:lnTo>
                  <a:cubicBezTo>
                    <a:pt x="21533" y="0"/>
                    <a:pt x="21600" y="921"/>
                    <a:pt x="21600" y="2057"/>
                  </a:cubicBezTo>
                  <a:lnTo>
                    <a:pt x="21600" y="19543"/>
                  </a:lnTo>
                  <a:cubicBezTo>
                    <a:pt x="21600" y="20679"/>
                    <a:pt x="21533" y="21600"/>
                    <a:pt x="21451" y="21600"/>
                  </a:cubicBezTo>
                  <a:lnTo>
                    <a:pt x="149" y="21600"/>
                  </a:lnTo>
                  <a:cubicBezTo>
                    <a:pt x="67" y="21600"/>
                    <a:pt x="0" y="20679"/>
                    <a:pt x="0" y="19543"/>
                  </a:cubicBezTo>
                  <a:lnTo>
                    <a:pt x="0" y="2057"/>
                  </a:lnTo>
                  <a:cubicBezTo>
                    <a:pt x="0" y="921"/>
                    <a:pt x="67" y="0"/>
                    <a:pt x="149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2100"/>
                </a:lnSpc>
                <a:defRPr sz="1400"/>
              </a:pPr>
            </a:p>
          </p:txBody>
        </p:sp>
        <p:sp>
          <p:nvSpPr>
            <p:cNvPr id="237" name="cache[key] = compute(key)"/>
            <p:cNvSpPr txBox="1"/>
            <p:nvPr/>
          </p:nvSpPr>
          <p:spPr>
            <a:xfrm>
              <a:off x="69850" y="0"/>
              <a:ext cx="3533141" cy="266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 defTabSz="905255">
                <a:lnSpc>
                  <a:spcPts val="2000"/>
                </a:lnSpc>
                <a:defRPr sz="1386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        cache[key] = compute(key)</a:t>
              </a:r>
            </a:p>
          </p:txBody>
        </p:sp>
      </p:grpSp>
      <p:sp>
        <p:nvSpPr>
          <p:cNvPr id="239" name="Text 7"/>
          <p:cNvSpPr txBox="1"/>
          <p:nvPr/>
        </p:nvSpPr>
        <p:spPr>
          <a:xfrm>
            <a:off x="1047750" y="3407407"/>
            <a:ext cx="225298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return cache[key]</a:t>
            </a:r>
          </a:p>
        </p:txBody>
      </p:sp>
      <p:sp>
        <p:nvSpPr>
          <p:cNvPr id="240" name="Shape 8"/>
          <p:cNvSpPr/>
          <p:nvPr/>
        </p:nvSpPr>
        <p:spPr>
          <a:xfrm>
            <a:off x="6146800" y="1531621"/>
            <a:ext cx="5232400" cy="2344421"/>
          </a:xfrm>
          <a:prstGeom prst="roundRect">
            <a:avLst>
              <a:gd name="adj" fmla="val 2167"/>
            </a:avLst>
          </a:prstGeom>
          <a:solidFill>
            <a:srgbClr val="FDFC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Shape 9"/>
          <p:cNvSpPr/>
          <p:nvPr/>
        </p:nvSpPr>
        <p:spPr>
          <a:xfrm>
            <a:off x="6146800" y="1531621"/>
            <a:ext cx="50800" cy="23444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9671" y="21600"/>
                  <a:pt x="0" y="21390"/>
                  <a:pt x="0" y="21132"/>
                </a:cubicBezTo>
                <a:lnTo>
                  <a:pt x="0" y="468"/>
                </a:lnTo>
                <a:cubicBezTo>
                  <a:pt x="0" y="210"/>
                  <a:pt x="9671" y="0"/>
                  <a:pt x="21600" y="0"/>
                </a:cubicBezTo>
                <a:cubicBezTo>
                  <a:pt x="18618" y="0"/>
                  <a:pt x="16200" y="210"/>
                  <a:pt x="16200" y="468"/>
                </a:cubicBezTo>
                <a:lnTo>
                  <a:pt x="16200" y="21132"/>
                </a:lnTo>
                <a:cubicBezTo>
                  <a:pt x="16200" y="21390"/>
                  <a:pt x="18618" y="21600"/>
                  <a:pt x="2160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10"/>
          <p:cNvSpPr txBox="1"/>
          <p:nvPr/>
        </p:nvSpPr>
        <p:spPr>
          <a:xfrm>
            <a:off x="6413500" y="1709421"/>
            <a:ext cx="487921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What kinds of global value mutation are thread-safe?</a:t>
            </a:r>
          </a:p>
        </p:txBody>
      </p:sp>
      <p:sp>
        <p:nvSpPr>
          <p:cNvPr id="243" name="Text 11"/>
          <p:cNvSpPr txBox="1"/>
          <p:nvPr/>
        </p:nvSpPr>
        <p:spPr>
          <a:xfrm>
            <a:off x="6413500" y="2016757"/>
            <a:ext cx="487921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L.append(x)</a:t>
            </a:r>
          </a:p>
        </p:txBody>
      </p:sp>
      <p:sp>
        <p:nvSpPr>
          <p:cNvPr id="244" name="Text 12"/>
          <p:cNvSpPr txBox="1"/>
          <p:nvPr/>
        </p:nvSpPr>
        <p:spPr>
          <a:xfrm>
            <a:off x="6413500" y="2283457"/>
            <a:ext cx="487921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L1.extend(L2)</a:t>
            </a:r>
          </a:p>
        </p:txBody>
      </p:sp>
      <p:grpSp>
        <p:nvGrpSpPr>
          <p:cNvPr id="247" name="Text 13"/>
          <p:cNvGrpSpPr/>
          <p:nvPr/>
        </p:nvGrpSpPr>
        <p:grpSpPr>
          <a:xfrm>
            <a:off x="6413499" y="2550157"/>
            <a:ext cx="1005841" cy="266701"/>
            <a:chOff x="0" y="0"/>
            <a:chExt cx="1005839" cy="266700"/>
          </a:xfrm>
        </p:grpSpPr>
        <p:sp>
          <p:nvSpPr>
            <p:cNvPr id="245" name="形狀"/>
            <p:cNvSpPr/>
            <p:nvPr/>
          </p:nvSpPr>
          <p:spPr>
            <a:xfrm>
              <a:off x="-1" y="0"/>
              <a:ext cx="1005841" cy="2667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5" y="0"/>
                  </a:moveTo>
                  <a:lnTo>
                    <a:pt x="21055" y="0"/>
                  </a:lnTo>
                  <a:cubicBezTo>
                    <a:pt x="21356" y="0"/>
                    <a:pt x="21600" y="921"/>
                    <a:pt x="21600" y="2057"/>
                  </a:cubicBezTo>
                  <a:lnTo>
                    <a:pt x="21600" y="19543"/>
                  </a:lnTo>
                  <a:cubicBezTo>
                    <a:pt x="21600" y="20679"/>
                    <a:pt x="21356" y="21600"/>
                    <a:pt x="21055" y="21600"/>
                  </a:cubicBezTo>
                  <a:lnTo>
                    <a:pt x="545" y="21600"/>
                  </a:lnTo>
                  <a:cubicBezTo>
                    <a:pt x="244" y="21600"/>
                    <a:pt x="0" y="20679"/>
                    <a:pt x="0" y="19543"/>
                  </a:cubicBezTo>
                  <a:lnTo>
                    <a:pt x="0" y="2057"/>
                  </a:lnTo>
                  <a:cubicBezTo>
                    <a:pt x="0" y="921"/>
                    <a:pt x="244" y="0"/>
                    <a:pt x="545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2100"/>
                </a:lnSpc>
                <a:defRPr sz="1400"/>
              </a:pPr>
            </a:p>
          </p:txBody>
        </p:sp>
        <p:sp>
          <p:nvSpPr>
            <p:cNvPr id="246" name="D[x] = y"/>
            <p:cNvSpPr txBox="1"/>
            <p:nvPr/>
          </p:nvSpPr>
          <p:spPr>
            <a:xfrm>
              <a:off x="69849" y="0"/>
              <a:ext cx="866141" cy="266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 defTabSz="905255">
                <a:lnSpc>
                  <a:spcPts val="2000"/>
                </a:lnSpc>
                <a:defRPr sz="1386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D[x] = y</a:t>
              </a:r>
            </a:p>
          </p:txBody>
        </p:sp>
      </p:grpSp>
      <p:sp>
        <p:nvSpPr>
          <p:cNvPr id="248" name="Text 14"/>
          <p:cNvSpPr txBox="1"/>
          <p:nvPr/>
        </p:nvSpPr>
        <p:spPr>
          <a:xfrm>
            <a:off x="6413500" y="2816857"/>
            <a:ext cx="487921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D1.update(D2)</a:t>
            </a:r>
          </a:p>
        </p:txBody>
      </p:sp>
      <p:sp>
        <p:nvSpPr>
          <p:cNvPr id="249" name="Text 15"/>
          <p:cNvSpPr txBox="1"/>
          <p:nvPr/>
        </p:nvSpPr>
        <p:spPr>
          <a:xfrm>
            <a:off x="6413500" y="3159757"/>
            <a:ext cx="4879214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8A9099"/>
                </a:solidFill>
              </a:defRPr>
            </a:lvl1pPr>
          </a:lstStyle>
          <a:p>
            <a:pPr/>
            <a:r>
              <a:t>When in doubt, use a mutex!</a:t>
            </a:r>
          </a:p>
        </p:txBody>
      </p:sp>
      <p:sp>
        <p:nvSpPr>
          <p:cNvPr id="250" name="Text 16"/>
          <p:cNvSpPr txBox="1"/>
          <p:nvPr/>
        </p:nvSpPr>
        <p:spPr>
          <a:xfrm>
            <a:off x="6413500" y="3484879"/>
            <a:ext cx="487921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docs.python.org/3/faq/library.html</a:t>
            </a:r>
          </a:p>
        </p:txBody>
      </p:sp>
      <p:sp>
        <p:nvSpPr>
          <p:cNvPr id="251" name="Text 17"/>
          <p:cNvSpPr txBox="1"/>
          <p:nvPr/>
        </p:nvSpPr>
        <p:spPr>
          <a:xfrm>
            <a:off x="812799" y="4231642"/>
            <a:ext cx="10883394" cy="36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600"/>
              </a:lnSpc>
              <a:defRPr sz="2200">
                <a:solidFill>
                  <a:schemeClr val="accent1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“The dict is thread-safe, so sharing it is fine.”</a:t>
            </a:r>
          </a:p>
        </p:txBody>
      </p:sp>
      <p:pic>
        <p:nvPicPr>
          <p:cNvPr id="25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87521" y="2496927"/>
            <a:ext cx="2069408" cy="964884"/>
          </a:xfrm>
          <a:prstGeom prst="rect">
            <a:avLst/>
          </a:prstGeom>
          <a:ln w="12700">
            <a:miter lim="400000"/>
          </a:ln>
        </p:spPr>
      </p:pic>
      <p:sp>
        <p:nvSpPr>
          <p:cNvPr id="253" name="Shape 18"/>
          <p:cNvSpPr/>
          <p:nvPr/>
        </p:nvSpPr>
        <p:spPr>
          <a:xfrm>
            <a:off x="825499" y="5779771"/>
            <a:ext cx="1" cy="26543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Text 19"/>
          <p:cNvSpPr txBox="1"/>
          <p:nvPr/>
        </p:nvSpPr>
        <p:spPr>
          <a:xfrm>
            <a:off x="965199" y="5792470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One step is safe; two in a row are not. Our cache takes two.</a:t>
            </a:r>
          </a:p>
        </p:txBody>
      </p:sp>
      <p:sp>
        <p:nvSpPr>
          <p:cNvPr id="255" name="Shape 20"/>
          <p:cNvSpPr/>
          <p:nvPr/>
        </p:nvSpPr>
        <p:spPr>
          <a:xfrm>
            <a:off x="812800" y="6111242"/>
            <a:ext cx="2565400" cy="762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21"/>
          <p:cNvSpPr txBox="1"/>
          <p:nvPr/>
        </p:nvSpPr>
        <p:spPr>
          <a:xfrm>
            <a:off x="812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asking didn't help</a:t>
            </a:r>
          </a:p>
        </p:txBody>
      </p:sp>
      <p:sp>
        <p:nvSpPr>
          <p:cNvPr id="257" name="Shape 22"/>
          <p:cNvSpPr/>
          <p:nvPr/>
        </p:nvSpPr>
        <p:spPr>
          <a:xfrm>
            <a:off x="3479800" y="6111242"/>
            <a:ext cx="2565400" cy="762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Text 23"/>
          <p:cNvSpPr txBox="1"/>
          <p:nvPr/>
        </p:nvSpPr>
        <p:spPr>
          <a:xfrm>
            <a:off x="3479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the dict never broke</a:t>
            </a:r>
          </a:p>
        </p:txBody>
      </p:sp>
      <p:sp>
        <p:nvSpPr>
          <p:cNvPr id="259" name="Shape 24"/>
          <p:cNvSpPr/>
          <p:nvPr/>
        </p:nvSpPr>
        <p:spPr>
          <a:xfrm>
            <a:off x="6153150" y="6117592"/>
            <a:ext cx="2552700" cy="63501"/>
          </a:xfrm>
          <a:prstGeom prst="roundRect">
            <a:avLst>
              <a:gd name="adj" fmla="val 50000"/>
            </a:avLst>
          </a:prstGeom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Text 25"/>
          <p:cNvSpPr txBox="1"/>
          <p:nvPr/>
        </p:nvSpPr>
        <p:spPr>
          <a:xfrm>
            <a:off x="6146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it rarely happened</a:t>
            </a:r>
          </a:p>
        </p:txBody>
      </p:sp>
      <p:sp>
        <p:nvSpPr>
          <p:cNvPr id="261" name="Shape 26"/>
          <p:cNvSpPr/>
          <p:nvPr/>
        </p:nvSpPr>
        <p:spPr>
          <a:xfrm>
            <a:off x="8820150" y="6117592"/>
            <a:ext cx="2552700" cy="63501"/>
          </a:xfrm>
          <a:prstGeom prst="roundRect">
            <a:avLst>
              <a:gd name="adj" fmla="val 50000"/>
            </a:avLst>
          </a:prstGeom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27"/>
          <p:cNvSpPr txBox="1"/>
          <p:nvPr/>
        </p:nvSpPr>
        <p:spPr>
          <a:xfrm>
            <a:off x="8813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the docs said so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Reason 3: it rarely happened</a:t>
            </a:r>
          </a:p>
        </p:txBody>
      </p:sp>
      <p:sp>
        <p:nvSpPr>
          <p:cNvPr id="265" name="Shape 1"/>
          <p:cNvSpPr/>
          <p:nvPr/>
        </p:nvSpPr>
        <p:spPr>
          <a:xfrm>
            <a:off x="815975" y="1433196"/>
            <a:ext cx="5200650" cy="1108711"/>
          </a:xfrm>
          <a:prstGeom prst="roundRect">
            <a:avLst>
              <a:gd name="adj" fmla="val 6586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68" name="Text 2"/>
          <p:cNvGrpSpPr/>
          <p:nvPr/>
        </p:nvGrpSpPr>
        <p:grpSpPr>
          <a:xfrm>
            <a:off x="819150" y="1436371"/>
            <a:ext cx="5194300" cy="314961"/>
            <a:chOff x="0" y="0"/>
            <a:chExt cx="5194300" cy="314959"/>
          </a:xfrm>
        </p:grpSpPr>
        <p:sp>
          <p:nvSpPr>
            <p:cNvPr id="266" name="形狀"/>
            <p:cNvSpPr/>
            <p:nvPr/>
          </p:nvSpPr>
          <p:spPr>
            <a:xfrm>
              <a:off x="0" y="0"/>
              <a:ext cx="5194300" cy="314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4790"/>
                  </a:moveTo>
                  <a:cubicBezTo>
                    <a:pt x="0" y="2145"/>
                    <a:pt x="130" y="0"/>
                    <a:pt x="290" y="0"/>
                  </a:cubicBezTo>
                  <a:lnTo>
                    <a:pt x="21310" y="0"/>
                  </a:lnTo>
                  <a:cubicBezTo>
                    <a:pt x="21470" y="0"/>
                    <a:pt x="21600" y="2145"/>
                    <a:pt x="21600" y="479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600"/>
                </a:lnSpc>
                <a:defRPr sz="1200"/>
              </a:pPr>
            </a:p>
          </p:txBody>
        </p:sp>
        <p:sp>
          <p:nvSpPr>
            <p:cNvPr id="267" name="Python · lazy initialization"/>
            <p:cNvSpPr txBox="1"/>
            <p:nvPr/>
          </p:nvSpPr>
          <p:spPr>
            <a:xfrm>
              <a:off x="127000" y="25399"/>
              <a:ext cx="4940300" cy="2895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5400" tIns="25400" rIns="25400" bIns="25400" numCol="1" anchor="t">
              <a:normAutofit fontScale="100000" lnSpcReduction="0"/>
            </a:bodyPr>
            <a:lstStyle>
              <a:lvl1pPr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Python · lazy initialization</a:t>
              </a:r>
            </a:p>
          </p:txBody>
        </p:sp>
      </p:grpSp>
      <p:sp>
        <p:nvSpPr>
          <p:cNvPr id="269" name="Text 3"/>
          <p:cNvSpPr txBox="1"/>
          <p:nvPr/>
        </p:nvSpPr>
        <p:spPr>
          <a:xfrm>
            <a:off x="971549" y="1878328"/>
            <a:ext cx="225298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if _instance is None:</a:t>
            </a:r>
          </a:p>
        </p:txBody>
      </p:sp>
      <p:sp>
        <p:nvSpPr>
          <p:cNvPr id="270" name="Text 4"/>
          <p:cNvSpPr txBox="1"/>
          <p:nvPr/>
        </p:nvSpPr>
        <p:spPr>
          <a:xfrm>
            <a:off x="971549" y="2145028"/>
            <a:ext cx="289306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_instance = Expensive()</a:t>
            </a:r>
          </a:p>
        </p:txBody>
      </p:sp>
      <p:sp>
        <p:nvSpPr>
          <p:cNvPr id="271" name="Shape 5"/>
          <p:cNvSpPr/>
          <p:nvPr/>
        </p:nvSpPr>
        <p:spPr>
          <a:xfrm>
            <a:off x="6175375" y="1433196"/>
            <a:ext cx="5200650" cy="1108711"/>
          </a:xfrm>
          <a:prstGeom prst="roundRect">
            <a:avLst>
              <a:gd name="adj" fmla="val 6586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74" name="Text 6"/>
          <p:cNvGrpSpPr/>
          <p:nvPr/>
        </p:nvGrpSpPr>
        <p:grpSpPr>
          <a:xfrm>
            <a:off x="6178550" y="1436371"/>
            <a:ext cx="5194300" cy="314961"/>
            <a:chOff x="0" y="0"/>
            <a:chExt cx="5194300" cy="314959"/>
          </a:xfrm>
        </p:grpSpPr>
        <p:sp>
          <p:nvSpPr>
            <p:cNvPr id="272" name="形狀"/>
            <p:cNvSpPr/>
            <p:nvPr/>
          </p:nvSpPr>
          <p:spPr>
            <a:xfrm>
              <a:off x="0" y="0"/>
              <a:ext cx="5194300" cy="314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4790"/>
                  </a:moveTo>
                  <a:cubicBezTo>
                    <a:pt x="0" y="2145"/>
                    <a:pt x="130" y="0"/>
                    <a:pt x="290" y="0"/>
                  </a:cubicBezTo>
                  <a:lnTo>
                    <a:pt x="21310" y="0"/>
                  </a:lnTo>
                  <a:cubicBezTo>
                    <a:pt x="21470" y="0"/>
                    <a:pt x="21600" y="2145"/>
                    <a:pt x="21600" y="479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600"/>
                </a:lnSpc>
                <a:defRPr sz="1200"/>
              </a:pPr>
            </a:p>
          </p:txBody>
        </p:sp>
        <p:sp>
          <p:nvSpPr>
            <p:cNvPr id="273" name="Python · module-level cache"/>
            <p:cNvSpPr txBox="1"/>
            <p:nvPr/>
          </p:nvSpPr>
          <p:spPr>
            <a:xfrm>
              <a:off x="127000" y="25399"/>
              <a:ext cx="4940300" cy="2895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5400" tIns="25400" rIns="25400" bIns="25400" numCol="1" anchor="t">
              <a:normAutofit fontScale="100000" lnSpcReduction="0"/>
            </a:bodyPr>
            <a:lstStyle>
              <a:lvl1pPr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Python · module-level cache</a:t>
              </a:r>
            </a:p>
          </p:txBody>
        </p:sp>
      </p:grpSp>
      <p:sp>
        <p:nvSpPr>
          <p:cNvPr id="275" name="Text 7"/>
          <p:cNvSpPr txBox="1"/>
          <p:nvPr/>
        </p:nvSpPr>
        <p:spPr>
          <a:xfrm>
            <a:off x="6330950" y="1878328"/>
            <a:ext cx="214630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if key not in cache:</a:t>
            </a:r>
          </a:p>
        </p:txBody>
      </p:sp>
      <p:sp>
        <p:nvSpPr>
          <p:cNvPr id="276" name="Text 8"/>
          <p:cNvSpPr txBox="1"/>
          <p:nvPr/>
        </p:nvSpPr>
        <p:spPr>
          <a:xfrm>
            <a:off x="6330950" y="2145028"/>
            <a:ext cx="310642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4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cache[key] = compute(key)</a:t>
            </a:r>
          </a:p>
        </p:txBody>
      </p:sp>
      <p:sp>
        <p:nvSpPr>
          <p:cNvPr id="277" name="Text 9"/>
          <p:cNvSpPr txBox="1"/>
          <p:nvPr/>
        </p:nvSpPr>
        <p:spPr>
          <a:xfrm>
            <a:off x="812799" y="2799078"/>
            <a:ext cx="10883394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Both have a function call right between the check and the write.</a:t>
            </a:r>
          </a:p>
        </p:txBody>
      </p:sp>
      <p:sp>
        <p:nvSpPr>
          <p:cNvPr id="278" name="Text 10"/>
          <p:cNvSpPr txBox="1"/>
          <p:nvPr/>
        </p:nvSpPr>
        <p:spPr>
          <a:xfrm>
            <a:off x="812799" y="4264657"/>
            <a:ext cx="10883394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100"/>
              </a:lnSpc>
              <a:defRPr sz="2600">
                <a:solidFill>
                  <a:schemeClr val="accent1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“I ran it. It worked.”</a:t>
            </a:r>
          </a:p>
        </p:txBody>
      </p:sp>
      <p:sp>
        <p:nvSpPr>
          <p:cNvPr id="279" name="Shape 11"/>
          <p:cNvSpPr/>
          <p:nvPr/>
        </p:nvSpPr>
        <p:spPr>
          <a:xfrm>
            <a:off x="825499" y="5779771"/>
            <a:ext cx="1" cy="26543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0" name="Text 12"/>
          <p:cNvSpPr txBox="1"/>
          <p:nvPr/>
        </p:nvSpPr>
        <p:spPr>
          <a:xfrm>
            <a:off x="965199" y="5792470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 race window opens every 5 ms. Rare enough to look safe.</a:t>
            </a:r>
          </a:p>
        </p:txBody>
      </p:sp>
      <p:sp>
        <p:nvSpPr>
          <p:cNvPr id="281" name="Shape 13"/>
          <p:cNvSpPr/>
          <p:nvPr/>
        </p:nvSpPr>
        <p:spPr>
          <a:xfrm>
            <a:off x="812800" y="6111242"/>
            <a:ext cx="2565400" cy="762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Text 14"/>
          <p:cNvSpPr txBox="1"/>
          <p:nvPr/>
        </p:nvSpPr>
        <p:spPr>
          <a:xfrm>
            <a:off x="812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asking didn't help</a:t>
            </a:r>
          </a:p>
        </p:txBody>
      </p:sp>
      <p:sp>
        <p:nvSpPr>
          <p:cNvPr id="283" name="Shape 15"/>
          <p:cNvSpPr/>
          <p:nvPr/>
        </p:nvSpPr>
        <p:spPr>
          <a:xfrm>
            <a:off x="3479800" y="6111242"/>
            <a:ext cx="2565400" cy="762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4" name="Text 16"/>
          <p:cNvSpPr txBox="1"/>
          <p:nvPr/>
        </p:nvSpPr>
        <p:spPr>
          <a:xfrm>
            <a:off x="3479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the dict never broke</a:t>
            </a:r>
          </a:p>
        </p:txBody>
      </p:sp>
      <p:sp>
        <p:nvSpPr>
          <p:cNvPr id="285" name="Shape 17"/>
          <p:cNvSpPr/>
          <p:nvPr/>
        </p:nvSpPr>
        <p:spPr>
          <a:xfrm>
            <a:off x="6153150" y="6117592"/>
            <a:ext cx="2552700" cy="6350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50000">
                <a:schemeClr val="accent1"/>
              </a:gs>
              <a:gs pos="100000">
                <a:srgbClr val="000000">
                  <a:alpha val="0"/>
                </a:srgbClr>
              </a:gs>
            </a:gsLst>
          </a:gra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Text 18"/>
          <p:cNvSpPr txBox="1"/>
          <p:nvPr/>
        </p:nvSpPr>
        <p:spPr>
          <a:xfrm>
            <a:off x="6146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it rarely happened</a:t>
            </a:r>
          </a:p>
        </p:txBody>
      </p:sp>
      <p:sp>
        <p:nvSpPr>
          <p:cNvPr id="287" name="Shape 19"/>
          <p:cNvSpPr/>
          <p:nvPr/>
        </p:nvSpPr>
        <p:spPr>
          <a:xfrm>
            <a:off x="8820150" y="6117592"/>
            <a:ext cx="2552700" cy="63501"/>
          </a:xfrm>
          <a:prstGeom prst="roundRect">
            <a:avLst>
              <a:gd name="adj" fmla="val 50000"/>
            </a:avLst>
          </a:prstGeom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Text 20"/>
          <p:cNvSpPr txBox="1"/>
          <p:nvPr/>
        </p:nvSpPr>
        <p:spPr>
          <a:xfrm>
            <a:off x="8813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the docs said so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...and threads were for I/O</a:t>
            </a:r>
          </a:p>
        </p:txBody>
      </p:sp>
      <p:sp>
        <p:nvSpPr>
          <p:cNvPr id="291" name="Shape 1"/>
          <p:cNvSpPr/>
          <p:nvPr/>
        </p:nvSpPr>
        <p:spPr>
          <a:xfrm>
            <a:off x="819150" y="2367284"/>
            <a:ext cx="5175250" cy="2283461"/>
          </a:xfrm>
          <a:prstGeom prst="roundRect">
            <a:avLst>
              <a:gd name="adj" fmla="val 4171"/>
            </a:avLst>
          </a:prstGeom>
          <a:solidFill>
            <a:srgbClr val="FDFCF9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Text 2"/>
          <p:cNvSpPr txBox="1"/>
          <p:nvPr/>
        </p:nvSpPr>
        <p:spPr>
          <a:xfrm>
            <a:off x="1181100" y="2678434"/>
            <a:ext cx="4584892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100"/>
              </a:lnSpc>
              <a:defRPr sz="2600">
                <a:solidFill>
                  <a:schemeClr val="accent1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Threads</a:t>
            </a:r>
          </a:p>
        </p:txBody>
      </p:sp>
      <p:sp>
        <p:nvSpPr>
          <p:cNvPr id="293" name="Text 3"/>
          <p:cNvSpPr txBox="1"/>
          <p:nvPr/>
        </p:nvSpPr>
        <p:spPr>
          <a:xfrm>
            <a:off x="1181100" y="3176265"/>
            <a:ext cx="458489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</a:lvl1pPr>
          </a:lstStyle>
          <a:p>
            <a:pPr/>
            <a:r>
              <a:t>for I/O</a:t>
            </a:r>
          </a:p>
        </p:txBody>
      </p:sp>
      <p:sp>
        <p:nvSpPr>
          <p:cNvPr id="294" name="Text 4"/>
          <p:cNvSpPr txBox="1"/>
          <p:nvPr/>
        </p:nvSpPr>
        <p:spPr>
          <a:xfrm>
            <a:off x="1181100" y="3597907"/>
            <a:ext cx="458489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</a:lvl1pPr>
          </a:lstStyle>
          <a:p>
            <a:pPr/>
            <a:r>
              <a:t>sharing is free</a:t>
            </a:r>
          </a:p>
        </p:txBody>
      </p:sp>
      <p:sp>
        <p:nvSpPr>
          <p:cNvPr id="295" name="Text 5"/>
          <p:cNvSpPr txBox="1"/>
          <p:nvPr/>
        </p:nvSpPr>
        <p:spPr>
          <a:xfrm>
            <a:off x="1181100" y="4019550"/>
            <a:ext cx="458489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</a:lvl1pPr>
          </a:lstStyle>
          <a:p>
            <a:pPr/>
            <a:r>
              <a:t>low contention</a:t>
            </a:r>
          </a:p>
        </p:txBody>
      </p:sp>
      <p:sp>
        <p:nvSpPr>
          <p:cNvPr id="296" name="Shape 6"/>
          <p:cNvSpPr/>
          <p:nvPr/>
        </p:nvSpPr>
        <p:spPr>
          <a:xfrm>
            <a:off x="6207125" y="2364109"/>
            <a:ext cx="5168900" cy="2289811"/>
          </a:xfrm>
          <a:prstGeom prst="roundRect">
            <a:avLst>
              <a:gd name="adj" fmla="val 4298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Text 7"/>
          <p:cNvSpPr txBox="1"/>
          <p:nvPr/>
        </p:nvSpPr>
        <p:spPr>
          <a:xfrm>
            <a:off x="6565900" y="2672084"/>
            <a:ext cx="4584892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100"/>
              </a:lnSpc>
              <a:defRPr sz="2600">
                <a:solidFill>
                  <a:srgbClr val="56627A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Processes</a:t>
            </a:r>
          </a:p>
        </p:txBody>
      </p:sp>
      <p:sp>
        <p:nvSpPr>
          <p:cNvPr id="298" name="Text 8"/>
          <p:cNvSpPr txBox="1"/>
          <p:nvPr/>
        </p:nvSpPr>
        <p:spPr>
          <a:xfrm>
            <a:off x="6565900" y="3169915"/>
            <a:ext cx="458489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</a:lvl1pPr>
          </a:lstStyle>
          <a:p>
            <a:pPr/>
            <a:r>
              <a:t>for CPU</a:t>
            </a:r>
          </a:p>
        </p:txBody>
      </p:sp>
      <p:sp>
        <p:nvSpPr>
          <p:cNvPr id="299" name="Text 9"/>
          <p:cNvSpPr txBox="1"/>
          <p:nvPr/>
        </p:nvSpPr>
        <p:spPr>
          <a:xfrm>
            <a:off x="6565900" y="3591557"/>
            <a:ext cx="458489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</a:lvl1pPr>
          </a:lstStyle>
          <a:p>
            <a:pPr/>
            <a:r>
              <a:t>nothing shared</a:t>
            </a:r>
          </a:p>
        </p:txBody>
      </p:sp>
      <p:sp>
        <p:nvSpPr>
          <p:cNvPr id="300" name="Text 10"/>
          <p:cNvSpPr txBox="1"/>
          <p:nvPr/>
        </p:nvSpPr>
        <p:spPr>
          <a:xfrm>
            <a:off x="6565900" y="4013200"/>
            <a:ext cx="458489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</a:lvl1pPr>
          </a:lstStyle>
          <a:p>
            <a:pPr/>
            <a:r>
              <a:t>messages only</a:t>
            </a:r>
          </a:p>
        </p:txBody>
      </p:sp>
      <p:sp>
        <p:nvSpPr>
          <p:cNvPr id="301" name="Shape 11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2" name="Text 12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The only place we shared state was the place we never stressed.</a:t>
            </a:r>
          </a:p>
        </p:txBody>
      </p:sp>
      <p:sp>
        <p:nvSpPr>
          <p:cNvPr id="303" name="Shape 13"/>
          <p:cNvSpPr/>
          <p:nvPr/>
        </p:nvSpPr>
        <p:spPr>
          <a:xfrm>
            <a:off x="812800" y="6111242"/>
            <a:ext cx="2565400" cy="762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Text 14"/>
          <p:cNvSpPr txBox="1"/>
          <p:nvPr/>
        </p:nvSpPr>
        <p:spPr>
          <a:xfrm>
            <a:off x="812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asking didn't help</a:t>
            </a:r>
          </a:p>
        </p:txBody>
      </p:sp>
      <p:sp>
        <p:nvSpPr>
          <p:cNvPr id="305" name="Shape 15"/>
          <p:cNvSpPr/>
          <p:nvPr/>
        </p:nvSpPr>
        <p:spPr>
          <a:xfrm>
            <a:off x="3479800" y="6111242"/>
            <a:ext cx="2565400" cy="762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Text 16"/>
          <p:cNvSpPr txBox="1"/>
          <p:nvPr/>
        </p:nvSpPr>
        <p:spPr>
          <a:xfrm>
            <a:off x="3479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the dict never broke</a:t>
            </a:r>
          </a:p>
        </p:txBody>
      </p:sp>
      <p:sp>
        <p:nvSpPr>
          <p:cNvPr id="307" name="Shape 17"/>
          <p:cNvSpPr/>
          <p:nvPr/>
        </p:nvSpPr>
        <p:spPr>
          <a:xfrm>
            <a:off x="6146800" y="6111242"/>
            <a:ext cx="2565400" cy="762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18"/>
          <p:cNvSpPr txBox="1"/>
          <p:nvPr/>
        </p:nvSpPr>
        <p:spPr>
          <a:xfrm>
            <a:off x="6146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it rarely happened</a:t>
            </a:r>
          </a:p>
        </p:txBody>
      </p:sp>
      <p:sp>
        <p:nvSpPr>
          <p:cNvPr id="309" name="Shape 19"/>
          <p:cNvSpPr/>
          <p:nvPr/>
        </p:nvSpPr>
        <p:spPr>
          <a:xfrm>
            <a:off x="8820150" y="6117592"/>
            <a:ext cx="2552700" cy="63501"/>
          </a:xfrm>
          <a:prstGeom prst="roundRect">
            <a:avLst>
              <a:gd name="adj" fmla="val 50000"/>
            </a:avLst>
          </a:prstGeom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Text 20"/>
          <p:cNvSpPr txBox="1"/>
          <p:nvPr/>
        </p:nvSpPr>
        <p:spPr>
          <a:xfrm>
            <a:off x="8813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the docs said so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Reason 4: the docs said so</a:t>
            </a:r>
          </a:p>
        </p:txBody>
      </p:sp>
      <p:sp>
        <p:nvSpPr>
          <p:cNvPr id="313" name="Shape 1"/>
          <p:cNvSpPr/>
          <p:nvPr/>
        </p:nvSpPr>
        <p:spPr>
          <a:xfrm flipH="1">
            <a:off x="831849" y="1379214"/>
            <a:ext cx="2" cy="2070736"/>
          </a:xfrm>
          <a:prstGeom prst="line">
            <a:avLst/>
          </a:prstGeom>
          <a:ln w="381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Text 2"/>
          <p:cNvSpPr txBox="1"/>
          <p:nvPr/>
        </p:nvSpPr>
        <p:spPr>
          <a:xfrm>
            <a:off x="1028700" y="1404615"/>
            <a:ext cx="855345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100"/>
              </a:lnSpc>
              <a:defRPr sz="16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pandas: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 </a:t>
            </a:r>
          </a:p>
        </p:txBody>
      </p:sp>
      <p:sp>
        <p:nvSpPr>
          <p:cNvPr id="315" name="Text 3"/>
          <p:cNvSpPr txBox="1"/>
          <p:nvPr/>
        </p:nvSpPr>
        <p:spPr>
          <a:xfrm>
            <a:off x="1833245" y="1404615"/>
            <a:ext cx="858415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/>
            </a:lvl1pPr>
          </a:lstStyle>
          <a:p>
            <a:pPr/>
            <a:r>
              <a:t>“pandas </a:t>
            </a:r>
          </a:p>
        </p:txBody>
      </p:sp>
      <p:sp>
        <p:nvSpPr>
          <p:cNvPr id="316" name="Text 4"/>
          <p:cNvSpPr txBox="1"/>
          <p:nvPr/>
        </p:nvSpPr>
        <p:spPr>
          <a:xfrm>
            <a:off x="2640858" y="1404615"/>
            <a:ext cx="248498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/>
            </a:lvl1pPr>
          </a:lstStyle>
          <a:p>
            <a:pPr/>
            <a:r>
              <a:t>is </a:t>
            </a:r>
          </a:p>
        </p:txBody>
      </p:sp>
      <p:sp>
        <p:nvSpPr>
          <p:cNvPr id="317" name="Text 5"/>
          <p:cNvSpPr txBox="1"/>
          <p:nvPr/>
        </p:nvSpPr>
        <p:spPr>
          <a:xfrm>
            <a:off x="2838556" y="1404615"/>
            <a:ext cx="407776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100"/>
              </a:lnSpc>
              <a:defRPr sz="1600">
                <a:solidFill>
                  <a:schemeClr val="accent2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not</a:t>
            </a:r>
            <a:r>
              <a:rPr>
                <a:solidFill>
                  <a:srgbClr val="1B1F27"/>
                </a:solidFill>
                <a:latin typeface="+mj-lt"/>
                <a:ea typeface="+mj-ea"/>
                <a:cs typeface="+mj-cs"/>
                <a:sym typeface="IBM Plex Sans Regular"/>
              </a:rPr>
              <a:t> </a:t>
            </a:r>
          </a:p>
        </p:txBody>
      </p:sp>
      <p:sp>
        <p:nvSpPr>
          <p:cNvPr id="318" name="Text 6"/>
          <p:cNvSpPr txBox="1"/>
          <p:nvPr/>
        </p:nvSpPr>
        <p:spPr>
          <a:xfrm>
            <a:off x="3195532" y="1404615"/>
            <a:ext cx="659554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100"/>
              </a:lnSpc>
              <a:defRPr sz="1600">
                <a:solidFill>
                  <a:schemeClr val="accent2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100%</a:t>
            </a:r>
            <a:r>
              <a:rPr>
                <a:solidFill>
                  <a:srgbClr val="1B1F27"/>
                </a:solidFill>
                <a:latin typeface="+mj-lt"/>
                <a:ea typeface="+mj-ea"/>
                <a:cs typeface="+mj-cs"/>
                <a:sym typeface="IBM Plex Sans Regular"/>
              </a:rPr>
              <a:t> </a:t>
            </a:r>
          </a:p>
        </p:txBody>
      </p:sp>
      <p:sp>
        <p:nvSpPr>
          <p:cNvPr id="319" name="Text 7"/>
          <p:cNvSpPr txBox="1"/>
          <p:nvPr/>
        </p:nvSpPr>
        <p:spPr>
          <a:xfrm>
            <a:off x="3804284" y="1404615"/>
            <a:ext cx="721890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100"/>
              </a:lnSpc>
              <a:defRPr sz="1600">
                <a:solidFill>
                  <a:schemeClr val="accent2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thread</a:t>
            </a:r>
            <a:r>
              <a:rPr>
                <a:solidFill>
                  <a:srgbClr val="1B1F27"/>
                </a:solidFill>
                <a:latin typeface="+mj-lt"/>
                <a:ea typeface="+mj-ea"/>
                <a:cs typeface="+mj-cs"/>
                <a:sym typeface="IBM Plex Sans Regular"/>
              </a:rPr>
              <a:t> </a:t>
            </a:r>
          </a:p>
        </p:txBody>
      </p:sp>
      <p:sp>
        <p:nvSpPr>
          <p:cNvPr id="320" name="Text 8"/>
          <p:cNvSpPr txBox="1"/>
          <p:nvPr/>
        </p:nvSpPr>
        <p:spPr>
          <a:xfrm>
            <a:off x="4475374" y="1404615"/>
            <a:ext cx="554779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100"/>
              </a:lnSpc>
              <a:defRPr sz="1600">
                <a:solidFill>
                  <a:schemeClr val="accent2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safe.</a:t>
            </a:r>
            <a:r>
              <a:rPr>
                <a:solidFill>
                  <a:srgbClr val="1B1F27"/>
                </a:solidFill>
                <a:latin typeface="+mj-lt"/>
                <a:ea typeface="+mj-ea"/>
                <a:cs typeface="+mj-cs"/>
                <a:sym typeface="IBM Plex Sans Regular"/>
              </a:rPr>
              <a:t> </a:t>
            </a:r>
          </a:p>
        </p:txBody>
      </p:sp>
      <p:sp>
        <p:nvSpPr>
          <p:cNvPr id="321" name="Text 9"/>
          <p:cNvSpPr txBox="1"/>
          <p:nvPr/>
        </p:nvSpPr>
        <p:spPr>
          <a:xfrm>
            <a:off x="4979353" y="1404615"/>
            <a:ext cx="441961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/>
            </a:lvl1pPr>
          </a:lstStyle>
          <a:p>
            <a:pPr/>
            <a:r>
              <a:t>The </a:t>
            </a:r>
          </a:p>
        </p:txBody>
      </p:sp>
      <p:sp>
        <p:nvSpPr>
          <p:cNvPr id="322" name="Text 10"/>
          <p:cNvSpPr txBox="1"/>
          <p:nvPr/>
        </p:nvSpPr>
        <p:spPr>
          <a:xfrm>
            <a:off x="5370512" y="1404615"/>
            <a:ext cx="705698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/>
            </a:lvl1pPr>
          </a:lstStyle>
          <a:p>
            <a:pPr/>
            <a:r>
              <a:t>known </a:t>
            </a:r>
          </a:p>
        </p:txBody>
      </p:sp>
      <p:sp>
        <p:nvSpPr>
          <p:cNvPr id="323" name="Text 11"/>
          <p:cNvSpPr txBox="1"/>
          <p:nvPr/>
        </p:nvSpPr>
        <p:spPr>
          <a:xfrm>
            <a:off x="6025408" y="1404615"/>
            <a:ext cx="672254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/>
            </a:lvl1pPr>
          </a:lstStyle>
          <a:p>
            <a:pPr/>
            <a:r>
              <a:t>issues </a:t>
            </a:r>
          </a:p>
        </p:txBody>
      </p:sp>
      <p:sp>
        <p:nvSpPr>
          <p:cNvPr id="324" name="Text 12"/>
          <p:cNvSpPr txBox="1"/>
          <p:nvPr/>
        </p:nvSpPr>
        <p:spPr>
          <a:xfrm>
            <a:off x="6646863" y="1404615"/>
            <a:ext cx="629603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/>
            </a:lvl1pPr>
          </a:lstStyle>
          <a:p>
            <a:pPr/>
            <a:r>
              <a:t>relate </a:t>
            </a:r>
          </a:p>
        </p:txBody>
      </p:sp>
      <p:sp>
        <p:nvSpPr>
          <p:cNvPr id="325" name="Text 13"/>
          <p:cNvSpPr txBox="1"/>
          <p:nvPr/>
        </p:nvSpPr>
        <p:spPr>
          <a:xfrm>
            <a:off x="7225665" y="1404615"/>
            <a:ext cx="282999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/>
            </a:lvl1pPr>
          </a:lstStyle>
          <a:p>
            <a:pPr/>
            <a:r>
              <a:t>to </a:t>
            </a:r>
          </a:p>
        </p:txBody>
      </p:sp>
      <p:sp>
        <p:nvSpPr>
          <p:cNvPr id="326" name="Text 14"/>
          <p:cNvSpPr txBox="1"/>
          <p:nvPr/>
        </p:nvSpPr>
        <p:spPr>
          <a:xfrm>
            <a:off x="7457863" y="1404615"/>
            <a:ext cx="397088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/>
            </a:lvl1pPr>
          </a:lstStyle>
          <a:p>
            <a:pPr/>
            <a:r>
              <a:t>the </a:t>
            </a:r>
          </a:p>
        </p:txBody>
      </p:sp>
      <p:sp>
        <p:nvSpPr>
          <p:cNvPr id="327" name="Text 15"/>
          <p:cNvSpPr txBox="1"/>
          <p:nvPr/>
        </p:nvSpPr>
        <p:spPr>
          <a:xfrm>
            <a:off x="7804150" y="1407790"/>
            <a:ext cx="904239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copy() </a:t>
            </a:r>
          </a:p>
        </p:txBody>
      </p:sp>
      <p:sp>
        <p:nvSpPr>
          <p:cNvPr id="328" name="Text 16"/>
          <p:cNvSpPr txBox="1"/>
          <p:nvPr/>
        </p:nvSpPr>
        <p:spPr>
          <a:xfrm>
            <a:off x="8657590" y="1404615"/>
            <a:ext cx="1013715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/>
            </a:lvl1pPr>
          </a:lstStyle>
          <a:p>
            <a:pPr/>
            <a:r>
              <a:t>method.”</a:t>
            </a:r>
          </a:p>
        </p:txBody>
      </p:sp>
      <p:sp>
        <p:nvSpPr>
          <p:cNvPr id="329" name="Text 17"/>
          <p:cNvSpPr txBox="1"/>
          <p:nvPr/>
        </p:nvSpPr>
        <p:spPr>
          <a:xfrm>
            <a:off x="1028699" y="1707517"/>
            <a:ext cx="1066101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pandas.pydata.org/docs/user_guide/gotchas.html</a:t>
            </a:r>
          </a:p>
        </p:txBody>
      </p:sp>
      <p:sp>
        <p:nvSpPr>
          <p:cNvPr id="330" name="Text 18"/>
          <p:cNvSpPr txBox="1"/>
          <p:nvPr/>
        </p:nvSpPr>
        <p:spPr>
          <a:xfrm>
            <a:off x="1028699" y="2022475"/>
            <a:ext cx="10661017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100"/>
              </a:lnSpc>
              <a:defRPr sz="16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SQLAlchemy: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 “The Session... </a:t>
            </a:r>
            <a:r>
              <a:rPr>
                <a:solidFill>
                  <a:schemeClr val="accent2"/>
                </a:solidFill>
              </a:rPr>
              <a:t>cannot be shared among concurrent threads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 or asyncio tasks without careful synchronization.”</a:t>
            </a:r>
          </a:p>
        </p:txBody>
      </p:sp>
      <p:sp>
        <p:nvSpPr>
          <p:cNvPr id="331" name="Text 19"/>
          <p:cNvSpPr txBox="1"/>
          <p:nvPr/>
        </p:nvSpPr>
        <p:spPr>
          <a:xfrm>
            <a:off x="1028699" y="2596517"/>
            <a:ext cx="1066101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docs.sqlalchemy.org/en/21/orm/session_basics.html</a:t>
            </a:r>
          </a:p>
        </p:txBody>
      </p:sp>
      <p:sp>
        <p:nvSpPr>
          <p:cNvPr id="332" name="Text 20"/>
          <p:cNvSpPr txBox="1"/>
          <p:nvPr/>
        </p:nvSpPr>
        <p:spPr>
          <a:xfrm>
            <a:off x="1028699" y="2911475"/>
            <a:ext cx="10661017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100"/>
              </a:lnSpc>
              <a:defRPr sz="16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cachetools: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 “all these classes are </a:t>
            </a:r>
            <a:r>
              <a:rPr>
                <a:solidFill>
                  <a:schemeClr val="accent2"/>
                </a:solidFill>
              </a:rPr>
              <a:t>not thread-safe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”</a:t>
            </a:r>
          </a:p>
        </p:txBody>
      </p:sp>
      <p:sp>
        <p:nvSpPr>
          <p:cNvPr id="333" name="Text 21"/>
          <p:cNvSpPr txBox="1"/>
          <p:nvPr/>
        </p:nvSpPr>
        <p:spPr>
          <a:xfrm>
            <a:off x="1028699" y="3211190"/>
            <a:ext cx="1066101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cachetools.readthedocs.io</a:t>
            </a:r>
          </a:p>
        </p:txBody>
      </p:sp>
      <p:sp>
        <p:nvSpPr>
          <p:cNvPr id="334" name="Text 22"/>
          <p:cNvSpPr txBox="1"/>
          <p:nvPr/>
        </p:nvSpPr>
        <p:spPr>
          <a:xfrm>
            <a:off x="812799" y="4422452"/>
            <a:ext cx="10883394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100"/>
              </a:lnSpc>
              <a:defRPr sz="2600">
                <a:solidFill>
                  <a:schemeClr val="accent1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“The docs are just being cautious.”</a:t>
            </a:r>
          </a:p>
        </p:txBody>
      </p:sp>
      <p:sp>
        <p:nvSpPr>
          <p:cNvPr id="335" name="Shape 23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Text 24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Thread safety lives in the docs, not the code. Miss a line, and nothing warns you.</a:t>
            </a:r>
          </a:p>
        </p:txBody>
      </p:sp>
      <p:sp>
        <p:nvSpPr>
          <p:cNvPr id="337" name="Shape 25"/>
          <p:cNvSpPr/>
          <p:nvPr/>
        </p:nvSpPr>
        <p:spPr>
          <a:xfrm>
            <a:off x="812800" y="6111242"/>
            <a:ext cx="2565400" cy="762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Text 26"/>
          <p:cNvSpPr txBox="1"/>
          <p:nvPr/>
        </p:nvSpPr>
        <p:spPr>
          <a:xfrm>
            <a:off x="812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asking didn't help</a:t>
            </a:r>
          </a:p>
        </p:txBody>
      </p:sp>
      <p:sp>
        <p:nvSpPr>
          <p:cNvPr id="339" name="Shape 27"/>
          <p:cNvSpPr/>
          <p:nvPr/>
        </p:nvSpPr>
        <p:spPr>
          <a:xfrm>
            <a:off x="3479800" y="6111242"/>
            <a:ext cx="2565400" cy="762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Text 28"/>
          <p:cNvSpPr txBox="1"/>
          <p:nvPr/>
        </p:nvSpPr>
        <p:spPr>
          <a:xfrm>
            <a:off x="3479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the dict never broke</a:t>
            </a:r>
          </a:p>
        </p:txBody>
      </p:sp>
      <p:sp>
        <p:nvSpPr>
          <p:cNvPr id="341" name="Shape 29"/>
          <p:cNvSpPr/>
          <p:nvPr/>
        </p:nvSpPr>
        <p:spPr>
          <a:xfrm>
            <a:off x="6146800" y="6111242"/>
            <a:ext cx="2565400" cy="762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2" name="Text 30"/>
          <p:cNvSpPr txBox="1"/>
          <p:nvPr/>
        </p:nvSpPr>
        <p:spPr>
          <a:xfrm>
            <a:off x="6146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it rarely happened</a:t>
            </a:r>
          </a:p>
        </p:txBody>
      </p:sp>
      <p:sp>
        <p:nvSpPr>
          <p:cNvPr id="343" name="Shape 31"/>
          <p:cNvSpPr/>
          <p:nvPr/>
        </p:nvSpPr>
        <p:spPr>
          <a:xfrm>
            <a:off x="8813800" y="6111242"/>
            <a:ext cx="2565400" cy="762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Text 32"/>
          <p:cNvSpPr txBox="1"/>
          <p:nvPr/>
        </p:nvSpPr>
        <p:spPr>
          <a:xfrm>
            <a:off x="8813800" y="6238242"/>
            <a:ext cx="26423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the docs said so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“Supports free-threading” is not “thread-safe”</a:t>
            </a:r>
          </a:p>
        </p:txBody>
      </p:sp>
      <p:pic>
        <p:nvPicPr>
          <p:cNvPr id="34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7972" y="1379215"/>
            <a:ext cx="10556056" cy="2343151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Text 1"/>
          <p:cNvSpPr txBox="1"/>
          <p:nvPr/>
        </p:nvSpPr>
        <p:spPr>
          <a:xfrm>
            <a:off x="812799" y="3925565"/>
            <a:ext cx="10883394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200"/>
              </a:lnSpc>
              <a:defRPr sz="1600"/>
            </a:pPr>
            <a:r>
              <a:t>pandas and SQLAlchemy are on the list. </a:t>
            </a:r>
            <a:r>
              <a:rPr>
                <a:latin typeface="IBM Plex Sans Bold"/>
                <a:ea typeface="IBM Plex Sans Bold"/>
                <a:cs typeface="IBM Plex Sans Bold"/>
                <a:sym typeface="IBM Plex Sans Bold"/>
              </a:rPr>
              <a:t>Their warnings are still in the docs.</a:t>
            </a:r>
          </a:p>
        </p:txBody>
      </p:sp>
      <p:sp>
        <p:nvSpPr>
          <p:cNvPr id="349" name="Shape 2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Text 3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The library did its part. Combining the calls is still on you.</a:t>
            </a:r>
          </a:p>
        </p:txBody>
      </p:sp>
      <p:grpSp>
        <p:nvGrpSpPr>
          <p:cNvPr id="353" name="Text 4"/>
          <p:cNvGrpSpPr/>
          <p:nvPr/>
        </p:nvGrpSpPr>
        <p:grpSpPr>
          <a:xfrm>
            <a:off x="192426" y="6159134"/>
            <a:ext cx="8816314" cy="401075"/>
            <a:chOff x="-555029" y="0"/>
            <a:chExt cx="8816313" cy="401073"/>
          </a:xfrm>
        </p:grpSpPr>
        <p:sp>
          <p:nvSpPr>
            <p:cNvPr id="351" name="圓角矩形"/>
            <p:cNvSpPr/>
            <p:nvPr/>
          </p:nvSpPr>
          <p:spPr>
            <a:xfrm>
              <a:off x="0" y="0"/>
              <a:ext cx="7706255" cy="401074"/>
            </a:xfrm>
            <a:prstGeom prst="roundRect">
              <a:avLst>
                <a:gd name="adj" fmla="val 14870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1800"/>
                </a:lnSpc>
                <a:defRPr sz="1400"/>
              </a:pPr>
            </a:p>
          </p:txBody>
        </p:sp>
        <p:sp>
          <p:nvSpPr>
            <p:cNvPr id="352" name="Can a SQLAlchemy Session be handed to another thread? Can two threads read it at once?"/>
            <p:cNvSpPr txBox="1"/>
            <p:nvPr/>
          </p:nvSpPr>
          <p:spPr>
            <a:xfrm>
              <a:off x="-555030" y="17467"/>
              <a:ext cx="8816315" cy="366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>
                <a:lnSpc>
                  <a:spcPts val="1800"/>
                </a:lnSpc>
                <a:defRPr sz="1400"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Can a SQLAlchemy Session be handed to another thread? Can two threads read it at once?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The GIL-era blind spot</a:t>
            </a:r>
          </a:p>
        </p:txBody>
      </p:sp>
      <p:sp>
        <p:nvSpPr>
          <p:cNvPr id="356" name="Text 1"/>
          <p:cNvSpPr txBox="1"/>
          <p:nvPr/>
        </p:nvSpPr>
        <p:spPr>
          <a:xfrm>
            <a:off x="812799" y="1430015"/>
            <a:ext cx="10883394" cy="492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600"/>
              </a:lnSpc>
              <a:defRPr spc="-100" sz="3200">
                <a:solidFill>
                  <a:schemeClr val="accent1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“Thread safety isn't my problem. Python handles it.”</a:t>
            </a:r>
          </a:p>
        </p:txBody>
      </p:sp>
      <p:sp>
        <p:nvSpPr>
          <p:cNvPr id="357" name="Shape 2"/>
          <p:cNvSpPr/>
          <p:nvPr/>
        </p:nvSpPr>
        <p:spPr>
          <a:xfrm flipH="1">
            <a:off x="831850" y="2151385"/>
            <a:ext cx="1" cy="1475741"/>
          </a:xfrm>
          <a:prstGeom prst="line">
            <a:avLst/>
          </a:prstGeom>
          <a:ln w="3810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8" name="Text 3"/>
          <p:cNvSpPr txBox="1"/>
          <p:nvPr/>
        </p:nvSpPr>
        <p:spPr>
          <a:xfrm>
            <a:off x="1028699" y="2176784"/>
            <a:ext cx="10661017" cy="334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400"/>
              </a:lnSpc>
              <a:defRPr i="1">
                <a:solidFill>
                  <a:srgbClr val="3A404B"/>
                </a:solidFill>
              </a:defRPr>
            </a:lvl1pPr>
          </a:lstStyle>
          <a:p>
            <a:pPr/>
            <a:r>
              <a:t>“I asked. Nothing happened.”</a:t>
            </a:r>
          </a:p>
        </p:txBody>
      </p:sp>
      <p:sp>
        <p:nvSpPr>
          <p:cNvPr id="359" name="Text 4"/>
          <p:cNvSpPr txBox="1"/>
          <p:nvPr/>
        </p:nvSpPr>
        <p:spPr>
          <a:xfrm>
            <a:off x="1028699" y="2548892"/>
            <a:ext cx="10661017" cy="334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400"/>
              </a:lnSpc>
              <a:defRPr i="1">
                <a:solidFill>
                  <a:srgbClr val="3A404B"/>
                </a:solidFill>
              </a:defRPr>
            </a:lvl1pPr>
          </a:lstStyle>
          <a:p>
            <a:pPr/>
            <a:r>
              <a:t>“The dict is thread-safe.”</a:t>
            </a:r>
          </a:p>
        </p:txBody>
      </p:sp>
      <p:sp>
        <p:nvSpPr>
          <p:cNvPr id="360" name="Text 5"/>
          <p:cNvSpPr txBox="1"/>
          <p:nvPr/>
        </p:nvSpPr>
        <p:spPr>
          <a:xfrm>
            <a:off x="1028699" y="2921000"/>
            <a:ext cx="10661017" cy="334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400"/>
              </a:lnSpc>
              <a:defRPr i="1">
                <a:solidFill>
                  <a:srgbClr val="3A404B"/>
                </a:solidFill>
              </a:defRPr>
            </a:lvl1pPr>
          </a:lstStyle>
          <a:p>
            <a:pPr/>
            <a:r>
              <a:t>“I ran it. It worked.”</a:t>
            </a:r>
          </a:p>
        </p:txBody>
      </p:sp>
      <p:sp>
        <p:nvSpPr>
          <p:cNvPr id="361" name="Text 6"/>
          <p:cNvSpPr txBox="1"/>
          <p:nvPr/>
        </p:nvSpPr>
        <p:spPr>
          <a:xfrm>
            <a:off x="1028699" y="3293107"/>
            <a:ext cx="10661017" cy="334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400"/>
              </a:lnSpc>
              <a:defRPr i="1">
                <a:solidFill>
                  <a:srgbClr val="3A404B"/>
                </a:solidFill>
              </a:defRPr>
            </a:lvl1pPr>
          </a:lstStyle>
          <a:p>
            <a:pPr/>
            <a:r>
              <a:t>“The docs are just being cautious.”</a:t>
            </a:r>
          </a:p>
        </p:txBody>
      </p:sp>
      <p:grpSp>
        <p:nvGrpSpPr>
          <p:cNvPr id="364" name="Text 7"/>
          <p:cNvGrpSpPr/>
          <p:nvPr/>
        </p:nvGrpSpPr>
        <p:grpSpPr>
          <a:xfrm>
            <a:off x="812800" y="5161284"/>
            <a:ext cx="1863196" cy="426721"/>
            <a:chOff x="0" y="0"/>
            <a:chExt cx="1863195" cy="426719"/>
          </a:xfrm>
        </p:grpSpPr>
        <p:sp>
          <p:nvSpPr>
            <p:cNvPr id="362" name="圓角矩形"/>
            <p:cNvSpPr/>
            <p:nvPr/>
          </p:nvSpPr>
          <p:spPr>
            <a:xfrm>
              <a:off x="0" y="0"/>
              <a:ext cx="1863196" cy="426720"/>
            </a:xfrm>
            <a:prstGeom prst="roundRect">
              <a:avLst>
                <a:gd name="adj" fmla="val 11905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2100"/>
                </a:lnSpc>
                <a:defRPr sz="1600"/>
              </a:pPr>
            </a:p>
          </p:txBody>
        </p:sp>
        <p:sp>
          <p:nvSpPr>
            <p:cNvPr id="363" name="I've said all four."/>
            <p:cNvSpPr txBox="1"/>
            <p:nvPr/>
          </p:nvSpPr>
          <p:spPr>
            <a:xfrm>
              <a:off x="131751" y="14878"/>
              <a:ext cx="1599693" cy="3969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2100"/>
                </a:lnSpc>
                <a:defRPr sz="1600"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I've said all four.</a:t>
              </a:r>
            </a:p>
          </p:txBody>
        </p:sp>
      </p:grpSp>
      <p:sp>
        <p:nvSpPr>
          <p:cNvPr id="365" name="Shape 8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6" name="Text 9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We didn't lack knowledge. We lacked a reflex: asking those two questions.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Why the bill comes due now</a:t>
            </a:r>
          </a:p>
        </p:txBody>
      </p:sp>
      <p:sp>
        <p:nvSpPr>
          <p:cNvPr id="369" name="Text 1"/>
          <p:cNvSpPr txBox="1"/>
          <p:nvPr/>
        </p:nvSpPr>
        <p:spPr>
          <a:xfrm>
            <a:off x="812799" y="2376165"/>
            <a:ext cx="10883394" cy="391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800"/>
              </a:lnSpc>
              <a:defRPr spc="-100" sz="24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1. True parallelism. Threads now interleave constantly, not every 5 ms.</a:t>
            </a:r>
          </a:p>
        </p:txBody>
      </p:sp>
      <p:sp>
        <p:nvSpPr>
          <p:cNvPr id="370" name="Text 2"/>
          <p:cNvSpPr txBox="1"/>
          <p:nvPr/>
        </p:nvSpPr>
        <p:spPr>
          <a:xfrm>
            <a:off x="812799" y="2894334"/>
            <a:ext cx="10883394" cy="391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800"/>
              </a:lnSpc>
              <a:defRPr spc="-100" sz="24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2. CPU-bound threads finally pay off.</a:t>
            </a:r>
          </a:p>
        </p:txBody>
      </p:sp>
      <p:sp>
        <p:nvSpPr>
          <p:cNvPr id="371" name="Shape 3"/>
          <p:cNvSpPr/>
          <p:nvPr/>
        </p:nvSpPr>
        <p:spPr>
          <a:xfrm>
            <a:off x="815975" y="4463417"/>
            <a:ext cx="5175250" cy="1121411"/>
          </a:xfrm>
          <a:prstGeom prst="roundRect">
            <a:avLst>
              <a:gd name="adj" fmla="val 8777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Text 4"/>
          <p:cNvSpPr txBox="1"/>
          <p:nvPr/>
        </p:nvSpPr>
        <p:spPr>
          <a:xfrm>
            <a:off x="1047750" y="4618992"/>
            <a:ext cx="485305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6627A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Failure rate · cache</a:t>
            </a:r>
          </a:p>
        </p:txBody>
      </p:sp>
      <p:sp>
        <p:nvSpPr>
          <p:cNvPr id="373" name="Text 5"/>
          <p:cNvSpPr txBox="1"/>
          <p:nvPr/>
        </p:nvSpPr>
        <p:spPr>
          <a:xfrm>
            <a:off x="1047750" y="5133342"/>
            <a:ext cx="828782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“rare” →</a:t>
            </a:r>
          </a:p>
        </p:txBody>
      </p:sp>
      <p:sp>
        <p:nvSpPr>
          <p:cNvPr id="374" name="Text 6"/>
          <p:cNvSpPr txBox="1"/>
          <p:nvPr/>
        </p:nvSpPr>
        <p:spPr>
          <a:xfrm>
            <a:off x="1876531" y="4870450"/>
            <a:ext cx="2318767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96111">
              <a:lnSpc>
                <a:spcPts val="4300"/>
              </a:lnSpc>
              <a:defRPr sz="3920">
                <a:solidFill>
                  <a:schemeClr val="accent4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36–54%</a:t>
            </a:r>
          </a:p>
        </p:txBody>
      </p:sp>
      <p:sp>
        <p:nvSpPr>
          <p:cNvPr id="375" name="Shape 7"/>
          <p:cNvSpPr/>
          <p:nvPr/>
        </p:nvSpPr>
        <p:spPr>
          <a:xfrm>
            <a:off x="6200775" y="4463417"/>
            <a:ext cx="5175250" cy="1121411"/>
          </a:xfrm>
          <a:prstGeom prst="roundRect">
            <a:avLst>
              <a:gd name="adj" fmla="val 8777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6" name="Text 8"/>
          <p:cNvSpPr txBox="1"/>
          <p:nvPr/>
        </p:nvSpPr>
        <p:spPr>
          <a:xfrm>
            <a:off x="6432550" y="4618992"/>
            <a:ext cx="485305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6627A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Failure rate · counter</a:t>
            </a:r>
          </a:p>
        </p:txBody>
      </p:sp>
      <p:sp>
        <p:nvSpPr>
          <p:cNvPr id="377" name="Text 9"/>
          <p:cNvSpPr txBox="1"/>
          <p:nvPr/>
        </p:nvSpPr>
        <p:spPr>
          <a:xfrm>
            <a:off x="6432550" y="5133342"/>
            <a:ext cx="828780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“rare” →</a:t>
            </a:r>
          </a:p>
        </p:txBody>
      </p:sp>
      <p:sp>
        <p:nvSpPr>
          <p:cNvPr id="378" name="Text 10"/>
          <p:cNvSpPr txBox="1"/>
          <p:nvPr/>
        </p:nvSpPr>
        <p:spPr>
          <a:xfrm>
            <a:off x="7261329" y="4870450"/>
            <a:ext cx="2257807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96111">
              <a:lnSpc>
                <a:spcPts val="4300"/>
              </a:lnSpc>
              <a:defRPr sz="3920">
                <a:solidFill>
                  <a:schemeClr val="accent4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78–83%</a:t>
            </a:r>
          </a:p>
        </p:txBody>
      </p:sp>
      <p:sp>
        <p:nvSpPr>
          <p:cNvPr id="379" name="Shape 11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0" name="Text 12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Same code, same traps. Rare bugs just became everyday bugs.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Old advice, now front and center</a:t>
            </a:r>
          </a:p>
        </p:txBody>
      </p:sp>
      <p:sp>
        <p:nvSpPr>
          <p:cNvPr id="383" name="Shape 1"/>
          <p:cNvSpPr/>
          <p:nvPr/>
        </p:nvSpPr>
        <p:spPr>
          <a:xfrm>
            <a:off x="815975" y="2533972"/>
            <a:ext cx="5952067" cy="2000886"/>
          </a:xfrm>
          <a:prstGeom prst="roundRect">
            <a:avLst>
              <a:gd name="adj" fmla="val 4919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ext 2"/>
          <p:cNvSpPr txBox="1"/>
          <p:nvPr/>
        </p:nvSpPr>
        <p:spPr>
          <a:xfrm>
            <a:off x="1073150" y="2791147"/>
            <a:ext cx="5600849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Python 3.14 free-threading HOWTO</a:t>
            </a:r>
          </a:p>
        </p:txBody>
      </p:sp>
      <p:sp>
        <p:nvSpPr>
          <p:cNvPr id="385" name="Text 3"/>
          <p:cNvSpPr txBox="1"/>
          <p:nvPr/>
        </p:nvSpPr>
        <p:spPr>
          <a:xfrm>
            <a:off x="1073150" y="3106104"/>
            <a:ext cx="496041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“It's </a:t>
            </a:r>
          </a:p>
        </p:txBody>
      </p:sp>
      <p:sp>
        <p:nvSpPr>
          <p:cNvPr id="386" name="Text 4"/>
          <p:cNvSpPr txBox="1"/>
          <p:nvPr/>
        </p:nvSpPr>
        <p:spPr>
          <a:xfrm>
            <a:off x="1518391" y="3106104"/>
            <a:ext cx="1427693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recommended </a:t>
            </a:r>
          </a:p>
        </p:txBody>
      </p:sp>
      <p:sp>
        <p:nvSpPr>
          <p:cNvPr id="387" name="Text 5"/>
          <p:cNvSpPr txBox="1"/>
          <p:nvPr/>
        </p:nvSpPr>
        <p:spPr>
          <a:xfrm>
            <a:off x="2895282" y="3106104"/>
            <a:ext cx="282999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to </a:t>
            </a:r>
          </a:p>
        </p:txBody>
      </p:sp>
      <p:sp>
        <p:nvSpPr>
          <p:cNvPr id="388" name="Text 6"/>
          <p:cNvSpPr txBox="1"/>
          <p:nvPr/>
        </p:nvSpPr>
        <p:spPr>
          <a:xfrm>
            <a:off x="3127481" y="3106104"/>
            <a:ext cx="424710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use </a:t>
            </a:r>
          </a:p>
        </p:txBody>
      </p:sp>
      <p:sp>
        <p:nvSpPr>
          <p:cNvPr id="389" name="Text 7"/>
          <p:cNvSpPr txBox="1"/>
          <p:nvPr/>
        </p:nvSpPr>
        <p:spPr>
          <a:xfrm>
            <a:off x="3501390" y="3106104"/>
            <a:ext cx="397088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the </a:t>
            </a:r>
          </a:p>
        </p:txBody>
      </p:sp>
      <p:sp>
        <p:nvSpPr>
          <p:cNvPr id="390" name="Text 8"/>
          <p:cNvSpPr txBox="1"/>
          <p:nvPr/>
        </p:nvSpPr>
        <p:spPr>
          <a:xfrm>
            <a:off x="3847677" y="3109279"/>
            <a:ext cx="1883665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threading.Lock </a:t>
            </a:r>
          </a:p>
        </p:txBody>
      </p:sp>
      <p:sp>
        <p:nvSpPr>
          <p:cNvPr id="391" name="Text 9"/>
          <p:cNvSpPr txBox="1"/>
          <p:nvPr/>
        </p:nvSpPr>
        <p:spPr>
          <a:xfrm>
            <a:off x="5676477" y="3106104"/>
            <a:ext cx="287127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or </a:t>
            </a:r>
          </a:p>
        </p:txBody>
      </p:sp>
      <p:sp>
        <p:nvSpPr>
          <p:cNvPr id="392" name="Text 10"/>
          <p:cNvSpPr txBox="1"/>
          <p:nvPr/>
        </p:nvSpPr>
        <p:spPr>
          <a:xfrm>
            <a:off x="5912803" y="3106104"/>
            <a:ext cx="641605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other </a:t>
            </a:r>
          </a:p>
        </p:txBody>
      </p:sp>
      <p:sp>
        <p:nvSpPr>
          <p:cNvPr id="393" name="Text 11"/>
          <p:cNvSpPr txBox="1"/>
          <p:nvPr/>
        </p:nvSpPr>
        <p:spPr>
          <a:xfrm>
            <a:off x="1073150" y="3393752"/>
            <a:ext cx="1536278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synchronization </a:t>
            </a:r>
          </a:p>
        </p:txBody>
      </p:sp>
      <p:sp>
        <p:nvSpPr>
          <p:cNvPr id="394" name="Text 12"/>
          <p:cNvSpPr txBox="1"/>
          <p:nvPr/>
        </p:nvSpPr>
        <p:spPr>
          <a:xfrm>
            <a:off x="2558626" y="3393752"/>
            <a:ext cx="1001184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primitives </a:t>
            </a:r>
          </a:p>
        </p:txBody>
      </p:sp>
      <p:sp>
        <p:nvSpPr>
          <p:cNvPr id="395" name="Text 13"/>
          <p:cNvSpPr txBox="1"/>
          <p:nvPr/>
        </p:nvSpPr>
        <p:spPr>
          <a:xfrm>
            <a:off x="3509009" y="3393752"/>
            <a:ext cx="770997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instead </a:t>
            </a:r>
          </a:p>
        </p:txBody>
      </p:sp>
      <p:sp>
        <p:nvSpPr>
          <p:cNvPr id="396" name="Text 14"/>
          <p:cNvSpPr txBox="1"/>
          <p:nvPr/>
        </p:nvSpPr>
        <p:spPr>
          <a:xfrm>
            <a:off x="4229205" y="3393752"/>
            <a:ext cx="277179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of </a:t>
            </a:r>
          </a:p>
        </p:txBody>
      </p:sp>
      <p:sp>
        <p:nvSpPr>
          <p:cNvPr id="397" name="Text 15"/>
          <p:cNvSpPr txBox="1"/>
          <p:nvPr/>
        </p:nvSpPr>
        <p:spPr>
          <a:xfrm>
            <a:off x="4455583" y="3393752"/>
            <a:ext cx="712048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relying </a:t>
            </a:r>
          </a:p>
        </p:txBody>
      </p:sp>
      <p:sp>
        <p:nvSpPr>
          <p:cNvPr id="398" name="Text 16"/>
          <p:cNvSpPr txBox="1"/>
          <p:nvPr/>
        </p:nvSpPr>
        <p:spPr>
          <a:xfrm>
            <a:off x="5116829" y="3393752"/>
            <a:ext cx="327978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on </a:t>
            </a:r>
          </a:p>
        </p:txBody>
      </p:sp>
      <p:sp>
        <p:nvSpPr>
          <p:cNvPr id="399" name="Text 17"/>
          <p:cNvSpPr txBox="1"/>
          <p:nvPr/>
        </p:nvSpPr>
        <p:spPr>
          <a:xfrm>
            <a:off x="5394007" y="3393752"/>
            <a:ext cx="397088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the </a:t>
            </a:r>
          </a:p>
        </p:txBody>
      </p:sp>
      <p:sp>
        <p:nvSpPr>
          <p:cNvPr id="400" name="Text 18"/>
          <p:cNvSpPr txBox="1"/>
          <p:nvPr/>
        </p:nvSpPr>
        <p:spPr>
          <a:xfrm>
            <a:off x="5740294" y="3393752"/>
            <a:ext cx="900050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internal </a:t>
            </a:r>
          </a:p>
        </p:txBody>
      </p:sp>
      <p:sp>
        <p:nvSpPr>
          <p:cNvPr id="401" name="Text 19"/>
          <p:cNvSpPr txBox="1"/>
          <p:nvPr/>
        </p:nvSpPr>
        <p:spPr>
          <a:xfrm>
            <a:off x="1073150" y="3678237"/>
            <a:ext cx="574041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locks </a:t>
            </a:r>
          </a:p>
        </p:txBody>
      </p:sp>
      <p:sp>
        <p:nvSpPr>
          <p:cNvPr id="402" name="Text 20"/>
          <p:cNvSpPr txBox="1"/>
          <p:nvPr/>
        </p:nvSpPr>
        <p:spPr>
          <a:xfrm>
            <a:off x="1596389" y="3678237"/>
            <a:ext cx="277179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of </a:t>
            </a:r>
          </a:p>
        </p:txBody>
      </p:sp>
      <p:sp>
        <p:nvSpPr>
          <p:cNvPr id="403" name="Text 21"/>
          <p:cNvSpPr txBox="1"/>
          <p:nvPr/>
        </p:nvSpPr>
        <p:spPr>
          <a:xfrm>
            <a:off x="1822767" y="3678237"/>
            <a:ext cx="751841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built-in </a:t>
            </a:r>
          </a:p>
        </p:txBody>
      </p:sp>
      <p:sp>
        <p:nvSpPr>
          <p:cNvPr id="404" name="Text 22"/>
          <p:cNvSpPr txBox="1"/>
          <p:nvPr/>
        </p:nvSpPr>
        <p:spPr>
          <a:xfrm>
            <a:off x="2523807" y="3678237"/>
            <a:ext cx="654051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types, </a:t>
            </a:r>
          </a:p>
        </p:txBody>
      </p:sp>
      <p:sp>
        <p:nvSpPr>
          <p:cNvPr id="405" name="Text 23"/>
          <p:cNvSpPr txBox="1"/>
          <p:nvPr/>
        </p:nvSpPr>
        <p:spPr>
          <a:xfrm>
            <a:off x="3127057" y="3678237"/>
            <a:ext cx="597324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when </a:t>
            </a:r>
          </a:p>
        </p:txBody>
      </p:sp>
      <p:sp>
        <p:nvSpPr>
          <p:cNvPr id="406" name="Text 24"/>
          <p:cNvSpPr txBox="1"/>
          <p:nvPr/>
        </p:nvSpPr>
        <p:spPr>
          <a:xfrm>
            <a:off x="3673580" y="3678237"/>
            <a:ext cx="1076707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possible.”</a:t>
            </a:r>
          </a:p>
        </p:txBody>
      </p:sp>
      <p:sp>
        <p:nvSpPr>
          <p:cNvPr id="407" name="Text 25"/>
          <p:cNvSpPr txBox="1"/>
          <p:nvPr/>
        </p:nvSpPr>
        <p:spPr>
          <a:xfrm>
            <a:off x="1073150" y="4064322"/>
            <a:ext cx="5600849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docs.python.org/3/howto/free-threading-python.html</a:t>
            </a:r>
          </a:p>
        </p:txBody>
      </p:sp>
      <p:sp>
        <p:nvSpPr>
          <p:cNvPr id="408" name="Shape 26"/>
          <p:cNvSpPr/>
          <p:nvPr/>
        </p:nvSpPr>
        <p:spPr>
          <a:xfrm>
            <a:off x="6977591" y="2533972"/>
            <a:ext cx="4398434" cy="2000886"/>
          </a:xfrm>
          <a:prstGeom prst="roundRect">
            <a:avLst>
              <a:gd name="adj" fmla="val 4919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9" name="Text 27"/>
          <p:cNvSpPr txBox="1"/>
          <p:nvPr/>
        </p:nvSpPr>
        <p:spPr>
          <a:xfrm>
            <a:off x="7234766" y="2791147"/>
            <a:ext cx="4000606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Python FAQ</a:t>
            </a:r>
          </a:p>
        </p:txBody>
      </p:sp>
      <p:sp>
        <p:nvSpPr>
          <p:cNvPr id="410" name="Text 28"/>
          <p:cNvSpPr txBox="1"/>
          <p:nvPr/>
        </p:nvSpPr>
        <p:spPr>
          <a:xfrm>
            <a:off x="7234766" y="3106104"/>
            <a:ext cx="4000606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When in doubt, use a mutex!</a:t>
            </a:r>
          </a:p>
        </p:txBody>
      </p:sp>
      <p:sp>
        <p:nvSpPr>
          <p:cNvPr id="411" name="Shape 29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2" name="Text 30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Python 3.14 adds a “Thread Safety Guarantees” page, and the bottom line is still: use a Lock.</a:t>
            </a:r>
          </a:p>
        </p:txBody>
      </p:sp>
      <p:pic>
        <p:nvPicPr>
          <p:cNvPr id="413" name="圓角矩形 圓角矩形" descr="圓角矩形 圓角矩形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2082" y="3092806"/>
            <a:ext cx="5622325" cy="883217"/>
          </a:xfrm>
          <a:prstGeom prst="rect">
            <a:avLst/>
          </a:prstGeom>
        </p:spPr>
      </p:pic>
      <p:pic>
        <p:nvPicPr>
          <p:cNvPr id="415" name="線條 線條" descr="線條 線條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170117" y="3378200"/>
            <a:ext cx="2668995" cy="1016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2"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13" grpId="1"/>
      <p:bldP build="whole" bldLvl="1" animBg="1" rev="0" advAuto="0" spid="415" grpId="2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Text 0"/>
          <p:cNvSpPr txBox="1"/>
          <p:nvPr>
            <p:ph type="title"/>
          </p:nvPr>
        </p:nvSpPr>
        <p:spPr>
          <a:xfrm>
            <a:off x="812799" y="2094867"/>
            <a:ext cx="10883394" cy="288291"/>
          </a:xfrm>
          <a:prstGeom prst="rect">
            <a:avLst/>
          </a:prstGeom>
        </p:spPr>
        <p:txBody>
          <a:bodyPr/>
          <a:lstStyle>
            <a:lvl1pPr>
              <a:lnSpc>
                <a:spcPts val="2000"/>
              </a:lnSpc>
              <a:defRPr sz="1800">
                <a:solidFill>
                  <a:schemeClr val="accent6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These bugs show up in mature code.</a:t>
            </a:r>
          </a:p>
        </p:txBody>
      </p:sp>
      <p:sp>
        <p:nvSpPr>
          <p:cNvPr id="419" name="Text 1"/>
          <p:cNvSpPr txBox="1"/>
          <p:nvPr/>
        </p:nvSpPr>
        <p:spPr>
          <a:xfrm>
            <a:off x="812799" y="2713359"/>
            <a:ext cx="10883394" cy="551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905255">
              <a:lnSpc>
                <a:spcPts val="4000"/>
              </a:lnSpc>
              <a:defRPr spc="-99" sz="3564">
                <a:solidFill>
                  <a:schemeClr val="accent3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Mine included.</a:t>
            </a:r>
          </a:p>
        </p:txBody>
      </p:sp>
      <p:sp>
        <p:nvSpPr>
          <p:cNvPr id="420" name="Text 2"/>
          <p:cNvSpPr txBox="1"/>
          <p:nvPr/>
        </p:nvSpPr>
        <p:spPr>
          <a:xfrm>
            <a:off x="812799" y="3594732"/>
            <a:ext cx="10883394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800"/>
              </a:lnSpc>
              <a:defRPr sz="2000">
                <a:solidFill>
                  <a:srgbClr val="C9CED8"/>
                </a:solidFill>
              </a:defRPr>
            </a:pPr>
            <a:r>
              <a:t>Python never required the two questions.</a:t>
            </a:r>
          </a:p>
          <a:p>
            <a:pPr>
              <a:lnSpc>
                <a:spcPts val="2800"/>
              </a:lnSpc>
              <a:defRPr sz="2000">
                <a:solidFill>
                  <a:srgbClr val="E8865A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Rust's type system does.</a:t>
            </a:r>
          </a:p>
        </p:txBody>
      </p:sp>
      <p:sp>
        <p:nvSpPr>
          <p:cNvPr id="421" name="Shape 3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2" name="Text 4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solidFill>
                  <a:srgbClr val="F1EFE8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Knowing isn't enough to change habits. Something has to force the question, every time.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Text 0"/>
          <p:cNvSpPr txBox="1"/>
          <p:nvPr>
            <p:ph type="title"/>
          </p:nvPr>
        </p:nvSpPr>
        <p:spPr>
          <a:xfrm>
            <a:off x="812799" y="1270000"/>
            <a:ext cx="10883394" cy="288291"/>
          </a:xfrm>
          <a:prstGeom prst="rect">
            <a:avLst/>
          </a:prstGeom>
        </p:spPr>
        <p:txBody>
          <a:bodyPr/>
          <a:lstStyle>
            <a:lvl1pPr>
              <a:lnSpc>
                <a:spcPts val="2000"/>
              </a:lnSpc>
              <a:defRPr sz="1800">
                <a:solidFill>
                  <a:srgbClr val="E8865A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Act II · The Rust Mindset</a:t>
            </a:r>
          </a:p>
        </p:txBody>
      </p:sp>
      <p:sp>
        <p:nvSpPr>
          <p:cNvPr id="425" name="Text 1"/>
          <p:cNvSpPr txBox="1"/>
          <p:nvPr/>
        </p:nvSpPr>
        <p:spPr>
          <a:xfrm>
            <a:off x="812799" y="1837692"/>
            <a:ext cx="10883394" cy="1366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5200"/>
              </a:lnSpc>
              <a:defRPr spc="-100" sz="4800">
                <a:solidFill>
                  <a:schemeClr val="accent3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Who else holds this?</a:t>
            </a:r>
          </a:p>
          <a:p>
            <a:pPr>
              <a:lnSpc>
                <a:spcPts val="5200"/>
              </a:lnSpc>
              <a:defRPr spc="-100" sz="4800">
                <a:solidFill>
                  <a:schemeClr val="accent3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Is anyone changing it?</a:t>
            </a:r>
          </a:p>
        </p:txBody>
      </p:sp>
      <p:sp>
        <p:nvSpPr>
          <p:cNvPr id="426" name="Text 2"/>
          <p:cNvSpPr txBox="1"/>
          <p:nvPr/>
        </p:nvSpPr>
        <p:spPr>
          <a:xfrm>
            <a:off x="812799" y="3483607"/>
            <a:ext cx="10883394" cy="665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500"/>
              </a:lnSpc>
              <a:defRPr>
                <a:solidFill>
                  <a:srgbClr val="C9CED8"/>
                </a:solidFill>
              </a:defRPr>
            </a:pPr>
            <a:r>
              <a:t>In Rust, these questions aren't a habit.</a:t>
            </a:r>
          </a:p>
          <a:p>
            <a:pPr>
              <a:lnSpc>
                <a:spcPts val="2500"/>
              </a:lnSpc>
              <a:defRPr>
                <a:solidFill>
                  <a:srgbClr val="C9CED8"/>
                </a:solidFill>
              </a:defRPr>
            </a:pPr>
            <a:r>
              <a:t>The type system asks them for every value, and won't compile an unsafe answer.</a:t>
            </a:r>
          </a:p>
        </p:txBody>
      </p:sp>
      <p:sp>
        <p:nvSpPr>
          <p:cNvPr id="427" name="Text 3"/>
          <p:cNvSpPr txBox="1"/>
          <p:nvPr/>
        </p:nvSpPr>
        <p:spPr>
          <a:xfrm>
            <a:off x="812799" y="5080000"/>
            <a:ext cx="10883394" cy="29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i="1" sz="1500">
                <a:solidFill>
                  <a:srgbClr val="E8865A"/>
                </a:solidFill>
              </a:defRPr>
            </a:lvl1pPr>
          </a:lstStyle>
          <a:p>
            <a:pPr/>
            <a:r>
              <a:t>Next, we'll bring these questions back to Python, even without the compiler.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ext 0"/>
          <p:cNvSpPr txBox="1"/>
          <p:nvPr>
            <p:ph type="title"/>
          </p:nvPr>
        </p:nvSpPr>
        <p:spPr>
          <a:xfrm>
            <a:off x="812799" y="812800"/>
            <a:ext cx="10883394" cy="372111"/>
          </a:xfrm>
          <a:prstGeom prst="rect">
            <a:avLst/>
          </a:prstGeom>
        </p:spPr>
        <p:txBody>
          <a:bodyPr/>
          <a:lstStyle>
            <a:lvl1pPr>
              <a:lnSpc>
                <a:spcPts val="2700"/>
              </a:lnSpc>
              <a:defRPr spc="-100" sz="25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The compiler asks first</a:t>
            </a:r>
          </a:p>
        </p:txBody>
      </p:sp>
      <p:sp>
        <p:nvSpPr>
          <p:cNvPr id="430" name="Shape 1"/>
          <p:cNvSpPr/>
          <p:nvPr/>
        </p:nvSpPr>
        <p:spPr>
          <a:xfrm>
            <a:off x="815975" y="1315083"/>
            <a:ext cx="10560050" cy="1777259"/>
          </a:xfrm>
          <a:prstGeom prst="roundRect">
            <a:avLst>
              <a:gd name="adj" fmla="val 4109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1" name="Shape 2"/>
          <p:cNvSpPr/>
          <p:nvPr/>
        </p:nvSpPr>
        <p:spPr>
          <a:xfrm>
            <a:off x="819150" y="1318258"/>
            <a:ext cx="10553700" cy="30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974"/>
                </a:moveTo>
                <a:cubicBezTo>
                  <a:pt x="0" y="2227"/>
                  <a:pt x="64" y="0"/>
                  <a:pt x="143" y="0"/>
                </a:cubicBezTo>
                <a:lnTo>
                  <a:pt x="21457" y="0"/>
                </a:lnTo>
                <a:cubicBezTo>
                  <a:pt x="21536" y="0"/>
                  <a:pt x="21600" y="2227"/>
                  <a:pt x="21600" y="4974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2" name="Text 3"/>
          <p:cNvSpPr txBox="1"/>
          <p:nvPr/>
        </p:nvSpPr>
        <p:spPr>
          <a:xfrm>
            <a:off x="996950" y="1369058"/>
            <a:ext cx="416560" cy="227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FBF4EE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Rust</a:t>
            </a:r>
          </a:p>
        </p:txBody>
      </p:sp>
      <p:sp>
        <p:nvSpPr>
          <p:cNvPr id="433" name="Text 4"/>
          <p:cNvSpPr txBox="1"/>
          <p:nvPr/>
        </p:nvSpPr>
        <p:spPr>
          <a:xfrm>
            <a:off x="996949" y="1723182"/>
            <a:ext cx="1018541" cy="236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9AA0A8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fn main() {</a:t>
            </a:r>
          </a:p>
        </p:txBody>
      </p:sp>
      <p:sp>
        <p:nvSpPr>
          <p:cNvPr id="434" name="Text 5"/>
          <p:cNvSpPr txBox="1"/>
          <p:nvPr/>
        </p:nvSpPr>
        <p:spPr>
          <a:xfrm>
            <a:off x="996949" y="1933897"/>
            <a:ext cx="2755901" cy="23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let mut v = vec![1, 2, 3];</a:t>
            </a:r>
          </a:p>
        </p:txBody>
      </p:sp>
      <p:sp>
        <p:nvSpPr>
          <p:cNvPr id="435" name="Text 6"/>
          <p:cNvSpPr txBox="1"/>
          <p:nvPr/>
        </p:nvSpPr>
        <p:spPr>
          <a:xfrm>
            <a:off x="996949" y="2144713"/>
            <a:ext cx="1750061" cy="236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let first = &amp;v;</a:t>
            </a:r>
          </a:p>
        </p:txBody>
      </p:sp>
      <p:sp>
        <p:nvSpPr>
          <p:cNvPr id="436" name="Text 7"/>
          <p:cNvSpPr txBox="1"/>
          <p:nvPr/>
        </p:nvSpPr>
        <p:spPr>
          <a:xfrm>
            <a:off x="996949" y="2355427"/>
            <a:ext cx="1292861" cy="236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v.push(4);</a:t>
            </a:r>
          </a:p>
        </p:txBody>
      </p:sp>
      <p:sp>
        <p:nvSpPr>
          <p:cNvPr id="437" name="Text 8"/>
          <p:cNvSpPr txBox="1"/>
          <p:nvPr/>
        </p:nvSpPr>
        <p:spPr>
          <a:xfrm>
            <a:off x="996949" y="2566143"/>
            <a:ext cx="2390141" cy="236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println!("{first:?}");</a:t>
            </a:r>
          </a:p>
        </p:txBody>
      </p:sp>
      <p:sp>
        <p:nvSpPr>
          <p:cNvPr id="438" name="Text 9"/>
          <p:cNvSpPr txBox="1"/>
          <p:nvPr/>
        </p:nvSpPr>
        <p:spPr>
          <a:xfrm>
            <a:off x="996949" y="2776859"/>
            <a:ext cx="127001" cy="236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9AA0A8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}</a:t>
            </a:r>
          </a:p>
        </p:txBody>
      </p:sp>
      <p:sp>
        <p:nvSpPr>
          <p:cNvPr id="439" name="Shape 10"/>
          <p:cNvSpPr/>
          <p:nvPr/>
        </p:nvSpPr>
        <p:spPr>
          <a:xfrm>
            <a:off x="815975" y="3251087"/>
            <a:ext cx="10560050" cy="2333732"/>
          </a:xfrm>
          <a:prstGeom prst="roundRect">
            <a:avLst>
              <a:gd name="adj" fmla="val 3129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0" name="Shape 11"/>
          <p:cNvSpPr/>
          <p:nvPr/>
        </p:nvSpPr>
        <p:spPr>
          <a:xfrm>
            <a:off x="819150" y="3254262"/>
            <a:ext cx="10553700" cy="303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966"/>
                </a:moveTo>
                <a:cubicBezTo>
                  <a:pt x="0" y="2223"/>
                  <a:pt x="64" y="0"/>
                  <a:pt x="143" y="0"/>
                </a:cubicBezTo>
                <a:lnTo>
                  <a:pt x="21457" y="0"/>
                </a:lnTo>
                <a:cubicBezTo>
                  <a:pt x="21536" y="0"/>
                  <a:pt x="21600" y="2223"/>
                  <a:pt x="21600" y="4966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1" name="Text 12"/>
          <p:cNvSpPr txBox="1"/>
          <p:nvPr/>
        </p:nvSpPr>
        <p:spPr>
          <a:xfrm>
            <a:off x="996950" y="3305062"/>
            <a:ext cx="1696721" cy="227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FBF4EE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Rust · cargo check</a:t>
            </a:r>
          </a:p>
        </p:txBody>
      </p:sp>
      <p:sp>
        <p:nvSpPr>
          <p:cNvPr id="442" name="Text 13"/>
          <p:cNvSpPr txBox="1"/>
          <p:nvPr/>
        </p:nvSpPr>
        <p:spPr>
          <a:xfrm>
            <a:off x="996949" y="3659721"/>
            <a:ext cx="6969761" cy="227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1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error[E0502]: cannot borrow `v` as mutable because it is also borrowed as immutable</a:t>
            </a:r>
          </a:p>
        </p:txBody>
      </p:sp>
      <p:sp>
        <p:nvSpPr>
          <p:cNvPr id="443" name="Text 14"/>
          <p:cNvSpPr txBox="1"/>
          <p:nvPr/>
        </p:nvSpPr>
        <p:spPr>
          <a:xfrm>
            <a:off x="996949" y="3861965"/>
            <a:ext cx="1689101" cy="227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1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--&gt; src/main.rs:4:5</a:t>
            </a:r>
          </a:p>
        </p:txBody>
      </p:sp>
      <p:sp>
        <p:nvSpPr>
          <p:cNvPr id="444" name="Text 15"/>
          <p:cNvSpPr txBox="1"/>
          <p:nvPr/>
        </p:nvSpPr>
        <p:spPr>
          <a:xfrm>
            <a:off x="996949" y="4064322"/>
            <a:ext cx="264161" cy="227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1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|</a:t>
            </a:r>
          </a:p>
        </p:txBody>
      </p:sp>
      <p:sp>
        <p:nvSpPr>
          <p:cNvPr id="445" name="Text 16"/>
          <p:cNvSpPr txBox="1"/>
          <p:nvPr/>
        </p:nvSpPr>
        <p:spPr>
          <a:xfrm>
            <a:off x="996949" y="4266567"/>
            <a:ext cx="1940561" cy="227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1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3 |     let first = &amp;v;</a:t>
            </a:r>
          </a:p>
        </p:txBody>
      </p:sp>
      <p:sp>
        <p:nvSpPr>
          <p:cNvPr id="446" name="Shape 17"/>
          <p:cNvSpPr/>
          <p:nvPr/>
        </p:nvSpPr>
        <p:spPr>
          <a:xfrm>
            <a:off x="946150" y="4468812"/>
            <a:ext cx="10299700" cy="202249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7" name="Text 18"/>
          <p:cNvSpPr txBox="1"/>
          <p:nvPr/>
        </p:nvSpPr>
        <p:spPr>
          <a:xfrm>
            <a:off x="996949" y="4468812"/>
            <a:ext cx="6802121" cy="227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600"/>
              </a:lnSpc>
              <a:defRPr sz="11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  |                 -- immutable borrow occurs here  </a:t>
            </a:r>
            <a:r>
              <a:rPr>
                <a:solidFill>
                  <a:schemeClr val="accent1"/>
                </a:solidFill>
              </a:rPr>
              <a:t>← someone else is holding it</a:t>
            </a:r>
          </a:p>
        </p:txBody>
      </p:sp>
      <p:sp>
        <p:nvSpPr>
          <p:cNvPr id="448" name="Text 19"/>
          <p:cNvSpPr txBox="1"/>
          <p:nvPr/>
        </p:nvSpPr>
        <p:spPr>
          <a:xfrm>
            <a:off x="996949" y="4671057"/>
            <a:ext cx="1521461" cy="227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1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4 |     v.push(4);</a:t>
            </a:r>
          </a:p>
        </p:txBody>
      </p:sp>
      <p:sp>
        <p:nvSpPr>
          <p:cNvPr id="449" name="Shape 20"/>
          <p:cNvSpPr/>
          <p:nvPr/>
        </p:nvSpPr>
        <p:spPr>
          <a:xfrm>
            <a:off x="946150" y="4873302"/>
            <a:ext cx="10299700" cy="202249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0" name="Text 21"/>
          <p:cNvSpPr txBox="1"/>
          <p:nvPr/>
        </p:nvSpPr>
        <p:spPr>
          <a:xfrm>
            <a:off x="996949" y="4873302"/>
            <a:ext cx="6215381" cy="227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600"/>
              </a:lnSpc>
              <a:defRPr sz="11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  |     ^^^^^^^^^ mutable borrow occurs here  </a:t>
            </a:r>
            <a:r>
              <a:rPr>
                <a:solidFill>
                  <a:schemeClr val="accent1"/>
                </a:solidFill>
              </a:rPr>
              <a:t>← while you try to mutate it</a:t>
            </a:r>
          </a:p>
        </p:txBody>
      </p:sp>
      <p:sp>
        <p:nvSpPr>
          <p:cNvPr id="451" name="Text 22"/>
          <p:cNvSpPr txBox="1"/>
          <p:nvPr/>
        </p:nvSpPr>
        <p:spPr>
          <a:xfrm>
            <a:off x="996949" y="5075559"/>
            <a:ext cx="2527301" cy="227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1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5 |     println!("{first:?}");</a:t>
            </a:r>
          </a:p>
        </p:txBody>
      </p:sp>
      <p:sp>
        <p:nvSpPr>
          <p:cNvPr id="452" name="Shape 23"/>
          <p:cNvSpPr/>
          <p:nvPr/>
        </p:nvSpPr>
        <p:spPr>
          <a:xfrm>
            <a:off x="946150" y="5277804"/>
            <a:ext cx="10299700" cy="202249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3" name="Text 24"/>
          <p:cNvSpPr txBox="1"/>
          <p:nvPr/>
        </p:nvSpPr>
        <p:spPr>
          <a:xfrm>
            <a:off x="996949" y="5277804"/>
            <a:ext cx="7807961" cy="227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600"/>
              </a:lnSpc>
              <a:defRPr sz="11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  |                ----- immutable borrow later used here  </a:t>
            </a:r>
            <a:r>
              <a:rPr>
                <a:solidFill>
                  <a:schemeClr val="accent1"/>
                </a:solidFill>
              </a:rPr>
              <a:t>← and it's still needed afterwards</a:t>
            </a:r>
          </a:p>
        </p:txBody>
      </p:sp>
      <p:sp>
        <p:nvSpPr>
          <p:cNvPr id="454" name="Shape 25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5" name="Text 26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The compiler asked both questions, without a single thread in sight.</a:t>
            </a:r>
          </a:p>
        </p:txBody>
      </p:sp>
      <p:pic>
        <p:nvPicPr>
          <p:cNvPr id="456" name="線條 線條" descr="線條 線條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9233359">
            <a:off x="2358573" y="4012168"/>
            <a:ext cx="679047" cy="279833"/>
          </a:xfrm>
          <a:prstGeom prst="rect">
            <a:avLst/>
          </a:prstGeom>
        </p:spPr>
      </p:pic>
      <p:pic>
        <p:nvPicPr>
          <p:cNvPr id="458" name="線條 線條" descr="線條 線條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18900000">
            <a:off x="983417" y="5045915"/>
            <a:ext cx="802166" cy="27983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2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56" grpId="1"/>
      <p:bldP build="whole" bldLvl="1" animBg="1" rev="0" advAuto="0" spid="458" grpId="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Data races vs. race conditions</a:t>
            </a:r>
          </a:p>
        </p:txBody>
      </p:sp>
      <p:sp>
        <p:nvSpPr>
          <p:cNvPr id="462" name="Shape 1"/>
          <p:cNvSpPr/>
          <p:nvPr/>
        </p:nvSpPr>
        <p:spPr>
          <a:xfrm>
            <a:off x="812800" y="1379215"/>
            <a:ext cx="4088554" cy="343536"/>
          </a:xfrm>
          <a:prstGeom prst="roundRect">
            <a:avLst>
              <a:gd name="adj" fmla="val 11091"/>
            </a:avLst>
          </a:prstGeom>
          <a:solidFill>
            <a:srgbClr val="EEF2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3" name="Shape 2"/>
          <p:cNvSpPr/>
          <p:nvPr/>
        </p:nvSpPr>
        <p:spPr>
          <a:xfrm>
            <a:off x="812799" y="1379215"/>
            <a:ext cx="38101" cy="3435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9671" y="21600"/>
                  <a:pt x="0" y="20527"/>
                  <a:pt x="0" y="19204"/>
                </a:cubicBezTo>
                <a:lnTo>
                  <a:pt x="0" y="2396"/>
                </a:lnTo>
                <a:cubicBezTo>
                  <a:pt x="0" y="1073"/>
                  <a:pt x="9671" y="0"/>
                  <a:pt x="21600" y="0"/>
                </a:cubicBezTo>
                <a:cubicBezTo>
                  <a:pt x="17624" y="0"/>
                  <a:pt x="14400" y="1073"/>
                  <a:pt x="14400" y="2396"/>
                </a:cubicBezTo>
                <a:lnTo>
                  <a:pt x="14400" y="19204"/>
                </a:lnTo>
                <a:cubicBezTo>
                  <a:pt x="14400" y="20527"/>
                  <a:pt x="17624" y="21600"/>
                  <a:pt x="2160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4" name="Text 3"/>
          <p:cNvSpPr txBox="1"/>
          <p:nvPr/>
        </p:nvSpPr>
        <p:spPr>
          <a:xfrm>
            <a:off x="965200" y="1445890"/>
            <a:ext cx="101600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from Act I</a:t>
            </a:r>
          </a:p>
        </p:txBody>
      </p:sp>
      <p:sp>
        <p:nvSpPr>
          <p:cNvPr id="465" name="Text 4"/>
          <p:cNvSpPr txBox="1"/>
          <p:nvPr/>
        </p:nvSpPr>
        <p:spPr>
          <a:xfrm>
            <a:off x="1981200" y="1442715"/>
            <a:ext cx="2920155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“The dict stayed intact. Our logic did not.”</a:t>
            </a:r>
          </a:p>
        </p:txBody>
      </p:sp>
      <p:sp>
        <p:nvSpPr>
          <p:cNvPr id="466" name="Shape 5"/>
          <p:cNvSpPr/>
          <p:nvPr/>
        </p:nvSpPr>
        <p:spPr>
          <a:xfrm>
            <a:off x="815975" y="1929134"/>
            <a:ext cx="10560050" cy="803911"/>
          </a:xfrm>
          <a:prstGeom prst="roundRect">
            <a:avLst>
              <a:gd name="adj" fmla="val 9084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7" name="Text 6"/>
          <p:cNvSpPr txBox="1"/>
          <p:nvPr/>
        </p:nvSpPr>
        <p:spPr>
          <a:xfrm>
            <a:off x="1047750" y="2176784"/>
            <a:ext cx="5211908" cy="334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400"/>
              </a:lnSpc>
              <a:defRPr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Memory layer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 (the dict's internal structure)</a:t>
            </a:r>
          </a:p>
        </p:txBody>
      </p:sp>
      <p:pic>
        <p:nvPicPr>
          <p:cNvPr id="46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11053" y="2242182"/>
            <a:ext cx="355601" cy="177801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Text 7"/>
          <p:cNvSpPr txBox="1"/>
          <p:nvPr/>
        </p:nvSpPr>
        <p:spPr>
          <a:xfrm>
            <a:off x="6869854" y="2135509"/>
            <a:ext cx="2485391" cy="416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000"/>
              </a:lnSpc>
              <a:defRPr sz="2200">
                <a:solidFill>
                  <a:schemeClr val="accent2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Data race</a:t>
            </a:r>
          </a:p>
        </p:txBody>
      </p:sp>
      <p:grpSp>
        <p:nvGrpSpPr>
          <p:cNvPr id="472" name="Text 8"/>
          <p:cNvGrpSpPr/>
          <p:nvPr/>
        </p:nvGrpSpPr>
        <p:grpSpPr>
          <a:xfrm>
            <a:off x="9489229" y="2186942"/>
            <a:ext cx="1651848" cy="288291"/>
            <a:chOff x="0" y="0"/>
            <a:chExt cx="1651847" cy="288290"/>
          </a:xfrm>
        </p:grpSpPr>
        <p:sp>
          <p:nvSpPr>
            <p:cNvPr id="470" name="圓角矩形"/>
            <p:cNvSpPr/>
            <p:nvPr/>
          </p:nvSpPr>
          <p:spPr>
            <a:xfrm>
              <a:off x="0" y="0"/>
              <a:ext cx="1651848" cy="288291"/>
            </a:xfrm>
            <a:prstGeom prst="roundRect">
              <a:avLst>
                <a:gd name="adj" fmla="val 12115"/>
              </a:avLst>
            </a:prstGeom>
            <a:solidFill>
              <a:srgbClr val="FBEDE5"/>
            </a:solidFill>
            <a:ln w="635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1600"/>
                </a:lnSpc>
                <a:defRPr sz="1200"/>
              </a:pPr>
            </a:p>
          </p:txBody>
        </p:sp>
        <p:sp>
          <p:nvSpPr>
            <p:cNvPr id="471" name="compiler guards this"/>
            <p:cNvSpPr txBox="1"/>
            <p:nvPr/>
          </p:nvSpPr>
          <p:spPr>
            <a:xfrm>
              <a:off x="88129" y="13405"/>
              <a:ext cx="1475589" cy="261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1600"/>
                </a:lnSpc>
                <a:defRPr sz="1200">
                  <a:solidFill>
                    <a:schemeClr val="accent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compiler guards this</a:t>
              </a:r>
            </a:p>
          </p:txBody>
        </p:sp>
      </p:grpSp>
      <p:sp>
        <p:nvSpPr>
          <p:cNvPr id="473" name="Shape 9"/>
          <p:cNvSpPr/>
          <p:nvPr/>
        </p:nvSpPr>
        <p:spPr>
          <a:xfrm>
            <a:off x="815975" y="2840992"/>
            <a:ext cx="10560050" cy="803911"/>
          </a:xfrm>
          <a:prstGeom prst="roundRect">
            <a:avLst>
              <a:gd name="adj" fmla="val 9084"/>
            </a:avLst>
          </a:prstGeom>
          <a:solidFill>
            <a:schemeClr val="accent5"/>
          </a:solidFill>
          <a:ln w="6350">
            <a:solidFill>
              <a:srgbClr val="E6D3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4" name="Text 10"/>
          <p:cNvSpPr txBox="1"/>
          <p:nvPr/>
        </p:nvSpPr>
        <p:spPr>
          <a:xfrm>
            <a:off x="1047749" y="3088642"/>
            <a:ext cx="6230918" cy="334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400"/>
              </a:lnSpc>
              <a:defRPr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Logic layer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 (our business rule)</a:t>
            </a:r>
          </a:p>
        </p:txBody>
      </p:sp>
      <p:pic>
        <p:nvPicPr>
          <p:cNvPr id="475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0383" y="3154040"/>
            <a:ext cx="355601" cy="17780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Text 11"/>
          <p:cNvSpPr txBox="1"/>
          <p:nvPr/>
        </p:nvSpPr>
        <p:spPr>
          <a:xfrm>
            <a:off x="7859183" y="3047367"/>
            <a:ext cx="2485391" cy="416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000"/>
              </a:lnSpc>
              <a:defRPr sz="2200">
                <a:solidFill>
                  <a:schemeClr val="accent1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Race condition</a:t>
            </a:r>
          </a:p>
        </p:txBody>
      </p:sp>
      <p:grpSp>
        <p:nvGrpSpPr>
          <p:cNvPr id="479" name="Text 12"/>
          <p:cNvGrpSpPr/>
          <p:nvPr/>
        </p:nvGrpSpPr>
        <p:grpSpPr>
          <a:xfrm>
            <a:off x="10475383" y="3101975"/>
            <a:ext cx="668868" cy="281941"/>
            <a:chOff x="0" y="0"/>
            <a:chExt cx="668867" cy="281940"/>
          </a:xfrm>
        </p:grpSpPr>
        <p:sp>
          <p:nvSpPr>
            <p:cNvPr id="477" name="圓角矩形"/>
            <p:cNvSpPr/>
            <p:nvPr/>
          </p:nvSpPr>
          <p:spPr>
            <a:xfrm>
              <a:off x="0" y="0"/>
              <a:ext cx="668868" cy="281941"/>
            </a:xfrm>
            <a:prstGeom prst="roundRect">
              <a:avLst>
                <a:gd name="adj" fmla="val 13514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1600"/>
                </a:lnSpc>
                <a:defRPr sz="1200"/>
              </a:pPr>
            </a:p>
          </p:txBody>
        </p:sp>
        <p:sp>
          <p:nvSpPr>
            <p:cNvPr id="478" name="on you"/>
            <p:cNvSpPr txBox="1"/>
            <p:nvPr/>
          </p:nvSpPr>
          <p:spPr>
            <a:xfrm>
              <a:off x="93235" y="11159"/>
              <a:ext cx="482397" cy="2596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1600"/>
                </a:lnSpc>
                <a:defRPr sz="1200"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on you</a:t>
              </a:r>
            </a:p>
          </p:txBody>
        </p:sp>
      </p:grpSp>
      <p:sp>
        <p:nvSpPr>
          <p:cNvPr id="480" name="Text 13"/>
          <p:cNvSpPr txBox="1"/>
          <p:nvPr/>
        </p:nvSpPr>
        <p:spPr>
          <a:xfrm>
            <a:off x="812799" y="5279392"/>
            <a:ext cx="10883394" cy="334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400"/>
              </a:lnSpc>
              <a:defRPr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All four traps in Act I were race conditions.</a:t>
            </a:r>
          </a:p>
        </p:txBody>
      </p:sp>
      <p:sp>
        <p:nvSpPr>
          <p:cNvPr id="481" name="Shape 14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2" name="Text 15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Rust guarantees memory safety. For logic bugs, there's no guarantee, only a playbook.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Why one tool covers both</a:t>
            </a:r>
          </a:p>
        </p:txBody>
      </p:sp>
      <p:grpSp>
        <p:nvGrpSpPr>
          <p:cNvPr id="487" name="Text 1"/>
          <p:cNvGrpSpPr/>
          <p:nvPr/>
        </p:nvGrpSpPr>
        <p:grpSpPr>
          <a:xfrm>
            <a:off x="812800" y="2157734"/>
            <a:ext cx="5181600" cy="2235201"/>
            <a:chOff x="0" y="0"/>
            <a:chExt cx="5181600" cy="2235200"/>
          </a:xfrm>
        </p:grpSpPr>
        <p:sp>
          <p:nvSpPr>
            <p:cNvPr id="485" name="圓角矩形"/>
            <p:cNvSpPr/>
            <p:nvPr/>
          </p:nvSpPr>
          <p:spPr>
            <a:xfrm>
              <a:off x="0" y="0"/>
              <a:ext cx="5181600" cy="2235200"/>
            </a:xfrm>
            <a:prstGeom prst="roundRect">
              <a:avLst>
                <a:gd name="adj" fmla="val 2273"/>
              </a:avLst>
            </a:prstGeom>
            <a:solidFill>
              <a:srgbClr val="FDFC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800"/>
                </a:lnSpc>
                <a:defRPr sz="2000"/>
              </a:pPr>
            </a:p>
          </p:txBody>
        </p:sp>
        <p:sp>
          <p:nvSpPr>
            <p:cNvPr id="486" name="“Over time, the team discovered that the ownership and type systems are a powerful set of tools to help manage memory safety and concurrency problems!”"/>
            <p:cNvSpPr txBox="1"/>
            <p:nvPr/>
          </p:nvSpPr>
          <p:spPr>
            <a:xfrm>
              <a:off x="192045" y="128545"/>
              <a:ext cx="4974674" cy="2003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0055" tIns="100055" rIns="100055" bIns="100055" numCol="1" anchor="t">
              <a:normAutofit fontScale="100000" lnSpcReduction="0"/>
            </a:bodyPr>
            <a:lstStyle/>
            <a:p>
              <a:pPr>
                <a:lnSpc>
                  <a:spcPts val="2800"/>
                </a:lnSpc>
                <a:defRPr sz="2000"/>
              </a:pPr>
              <a:r>
                <a:t>“Over time, the team discovered that the ownership and type systems are a powerful set of tools to help manage </a:t>
              </a:r>
              <a:r>
                <a:rPr>
                  <a:latin typeface="IBM Plex Sans Bold"/>
                  <a:ea typeface="IBM Plex Sans Bold"/>
                  <a:cs typeface="IBM Plex Sans Bold"/>
                  <a:sym typeface="IBM Plex Sans Bold"/>
                </a:rPr>
                <a:t>memory safety </a:t>
              </a:r>
              <a:r>
                <a:rPr i="1">
                  <a:latin typeface="IBM Plex Sans Bold"/>
                  <a:ea typeface="IBM Plex Sans Bold"/>
                  <a:cs typeface="IBM Plex Sans Bold"/>
                  <a:sym typeface="IBM Plex Sans Bold"/>
                </a:rPr>
                <a:t>and</a:t>
              </a:r>
              <a:r>
                <a:rPr>
                  <a:latin typeface="IBM Plex Sans Bold"/>
                  <a:ea typeface="IBM Plex Sans Bold"/>
                  <a:cs typeface="IBM Plex Sans Bold"/>
                  <a:sym typeface="IBM Plex Sans Bold"/>
                </a:rPr>
                <a:t> concurrency problems</a:t>
              </a:r>
              <a:r>
                <a:t>!”</a:t>
              </a:r>
            </a:p>
          </p:txBody>
        </p:sp>
      </p:grpSp>
      <p:sp>
        <p:nvSpPr>
          <p:cNvPr id="488" name="Shape 2"/>
          <p:cNvSpPr/>
          <p:nvPr/>
        </p:nvSpPr>
        <p:spPr>
          <a:xfrm>
            <a:off x="812799" y="2157734"/>
            <a:ext cx="50801" cy="2235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9671" y="21600"/>
                  <a:pt x="0" y="21380"/>
                  <a:pt x="0" y="21109"/>
                </a:cubicBezTo>
                <a:lnTo>
                  <a:pt x="0" y="491"/>
                </a:lnTo>
                <a:cubicBezTo>
                  <a:pt x="0" y="220"/>
                  <a:pt x="9671" y="0"/>
                  <a:pt x="21600" y="0"/>
                </a:cubicBezTo>
                <a:cubicBezTo>
                  <a:pt x="18618" y="0"/>
                  <a:pt x="16200" y="220"/>
                  <a:pt x="16200" y="491"/>
                </a:cubicBezTo>
                <a:lnTo>
                  <a:pt x="16200" y="21109"/>
                </a:lnTo>
                <a:cubicBezTo>
                  <a:pt x="16200" y="21380"/>
                  <a:pt x="18618" y="21600"/>
                  <a:pt x="216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491" name="Text 3"/>
          <p:cNvGrpSpPr/>
          <p:nvPr/>
        </p:nvGrpSpPr>
        <p:grpSpPr>
          <a:xfrm>
            <a:off x="6197600" y="2157734"/>
            <a:ext cx="5181600" cy="2235201"/>
            <a:chOff x="0" y="0"/>
            <a:chExt cx="5181600" cy="2235200"/>
          </a:xfrm>
        </p:grpSpPr>
        <p:sp>
          <p:nvSpPr>
            <p:cNvPr id="489" name="圓角矩形"/>
            <p:cNvSpPr/>
            <p:nvPr/>
          </p:nvSpPr>
          <p:spPr>
            <a:xfrm>
              <a:off x="0" y="0"/>
              <a:ext cx="5181600" cy="2235200"/>
            </a:xfrm>
            <a:prstGeom prst="roundRect">
              <a:avLst>
                <a:gd name="adj" fmla="val 2273"/>
              </a:avLst>
            </a:prstGeom>
            <a:solidFill>
              <a:srgbClr val="FDFC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800"/>
                </a:lnSpc>
                <a:defRPr sz="2000"/>
              </a:pPr>
            </a:p>
          </p:txBody>
        </p:sp>
        <p:sp>
          <p:nvSpPr>
            <p:cNvPr id="490" name="“By leveraging ownership and type checking, many concurrency errors are compile-time errors in Rust rather than runtime errors.”"/>
            <p:cNvSpPr txBox="1"/>
            <p:nvPr/>
          </p:nvSpPr>
          <p:spPr>
            <a:xfrm>
              <a:off x="192045" y="128545"/>
              <a:ext cx="4974674" cy="19781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0055" tIns="100055" rIns="100055" bIns="100055" numCol="1" anchor="t">
              <a:normAutofit fontScale="100000" lnSpcReduction="0"/>
            </a:bodyPr>
            <a:lstStyle/>
            <a:p>
              <a:pPr>
                <a:lnSpc>
                  <a:spcPts val="2800"/>
                </a:lnSpc>
                <a:defRPr sz="2000"/>
              </a:pPr>
              <a:r>
                <a:t>“By leveraging ownership and type checking, many concurrency errors are </a:t>
              </a:r>
              <a:r>
                <a:rPr>
                  <a:latin typeface="IBM Plex Sans Bold"/>
                  <a:ea typeface="IBM Plex Sans Bold"/>
                  <a:cs typeface="IBM Plex Sans Bold"/>
                  <a:sym typeface="IBM Plex Sans Bold"/>
                </a:rPr>
                <a:t>compile-time errors</a:t>
              </a:r>
              <a:r>
                <a:t> in Rust rather than runtime errors.”</a:t>
              </a:r>
            </a:p>
          </p:txBody>
        </p:sp>
      </p:grpSp>
      <p:sp>
        <p:nvSpPr>
          <p:cNvPr id="492" name="Shape 4"/>
          <p:cNvSpPr/>
          <p:nvPr/>
        </p:nvSpPr>
        <p:spPr>
          <a:xfrm>
            <a:off x="6197600" y="2157734"/>
            <a:ext cx="50800" cy="2235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9671" y="21600"/>
                  <a:pt x="0" y="21380"/>
                  <a:pt x="0" y="21109"/>
                </a:cubicBezTo>
                <a:lnTo>
                  <a:pt x="0" y="491"/>
                </a:lnTo>
                <a:cubicBezTo>
                  <a:pt x="0" y="220"/>
                  <a:pt x="9671" y="0"/>
                  <a:pt x="21600" y="0"/>
                </a:cubicBezTo>
                <a:cubicBezTo>
                  <a:pt x="18618" y="0"/>
                  <a:pt x="16200" y="220"/>
                  <a:pt x="16200" y="491"/>
                </a:cubicBezTo>
                <a:lnTo>
                  <a:pt x="16200" y="21109"/>
                </a:lnTo>
                <a:cubicBezTo>
                  <a:pt x="16200" y="21380"/>
                  <a:pt x="18618" y="21600"/>
                  <a:pt x="216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3" name="Text 5"/>
          <p:cNvSpPr txBox="1"/>
          <p:nvPr/>
        </p:nvSpPr>
        <p:spPr>
          <a:xfrm>
            <a:off x="812799" y="4646934"/>
            <a:ext cx="1088339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The Rust Book, ch. 16 · doc.rust-lang.org/book/ch16-00-concurrency.html</a:t>
            </a:r>
          </a:p>
        </p:txBody>
      </p:sp>
      <p:sp>
        <p:nvSpPr>
          <p:cNvPr id="494" name="Shape 6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5" name="Text 7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Ownership tracks who holds data and who mutates it. Threads just raise the stakes.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The rule it checks</a:t>
            </a:r>
          </a:p>
        </p:txBody>
      </p:sp>
      <p:sp>
        <p:nvSpPr>
          <p:cNvPr id="498" name="Shape 1"/>
          <p:cNvSpPr/>
          <p:nvPr/>
        </p:nvSpPr>
        <p:spPr>
          <a:xfrm>
            <a:off x="815975" y="1382390"/>
            <a:ext cx="10560050" cy="722631"/>
          </a:xfrm>
          <a:prstGeom prst="roundRect">
            <a:avLst>
              <a:gd name="adj" fmla="val 10105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9" name="Text 2"/>
          <p:cNvSpPr txBox="1"/>
          <p:nvPr/>
        </p:nvSpPr>
        <p:spPr>
          <a:xfrm>
            <a:off x="1047750" y="1512565"/>
            <a:ext cx="406400" cy="487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600"/>
              </a:lnSpc>
              <a:defRPr sz="2600">
                <a:solidFill>
                  <a:schemeClr val="accent2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00" name="Text 3"/>
          <p:cNvSpPr txBox="1"/>
          <p:nvPr/>
        </p:nvSpPr>
        <p:spPr>
          <a:xfrm>
            <a:off x="1606550" y="1601465"/>
            <a:ext cx="7637451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Two or more threads access the same memory at the same time.</a:t>
            </a:r>
          </a:p>
        </p:txBody>
      </p:sp>
      <p:grpSp>
        <p:nvGrpSpPr>
          <p:cNvPr id="503" name="Text 4"/>
          <p:cNvGrpSpPr/>
          <p:nvPr/>
        </p:nvGrpSpPr>
        <p:grpSpPr>
          <a:xfrm>
            <a:off x="9227925" y="1599566"/>
            <a:ext cx="1913150" cy="288292"/>
            <a:chOff x="0" y="0"/>
            <a:chExt cx="1913148" cy="288290"/>
          </a:xfrm>
        </p:grpSpPr>
        <p:sp>
          <p:nvSpPr>
            <p:cNvPr id="501" name="圓角矩形"/>
            <p:cNvSpPr/>
            <p:nvPr/>
          </p:nvSpPr>
          <p:spPr>
            <a:xfrm>
              <a:off x="0" y="0"/>
              <a:ext cx="1913149" cy="288291"/>
            </a:xfrm>
            <a:prstGeom prst="roundRect">
              <a:avLst>
                <a:gd name="adj" fmla="val 12115"/>
              </a:avLst>
            </a:prstGeom>
            <a:solidFill>
              <a:srgbClr val="FBEDE5"/>
            </a:solidFill>
            <a:ln w="6350" cap="flat">
              <a:solidFill>
                <a:srgbClr val="E0B9A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1600"/>
                </a:lnSpc>
                <a:defRPr sz="1200"/>
              </a:pPr>
            </a:p>
          </p:txBody>
        </p:sp>
        <p:sp>
          <p:nvSpPr>
            <p:cNvPr id="502" name="blocked by: type system"/>
            <p:cNvSpPr txBox="1"/>
            <p:nvPr/>
          </p:nvSpPr>
          <p:spPr>
            <a:xfrm>
              <a:off x="87639" y="13405"/>
              <a:ext cx="1737869" cy="261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1600"/>
                </a:lnSpc>
                <a:defRPr sz="1200">
                  <a:solidFill>
                    <a:schemeClr val="accent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blocked by: type system</a:t>
              </a:r>
            </a:p>
          </p:txBody>
        </p:sp>
      </p:grpSp>
      <p:sp>
        <p:nvSpPr>
          <p:cNvPr id="504" name="Shape 5"/>
          <p:cNvSpPr/>
          <p:nvPr/>
        </p:nvSpPr>
        <p:spPr>
          <a:xfrm>
            <a:off x="815975" y="2212975"/>
            <a:ext cx="10560050" cy="722631"/>
          </a:xfrm>
          <a:prstGeom prst="roundRect">
            <a:avLst>
              <a:gd name="adj" fmla="val 10105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5" name="Text 6"/>
          <p:cNvSpPr txBox="1"/>
          <p:nvPr/>
        </p:nvSpPr>
        <p:spPr>
          <a:xfrm>
            <a:off x="1047750" y="2343150"/>
            <a:ext cx="406400" cy="487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600"/>
              </a:lnSpc>
              <a:defRPr sz="2600">
                <a:solidFill>
                  <a:schemeClr val="accent2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06" name="Text 7"/>
          <p:cNvSpPr txBox="1"/>
          <p:nvPr/>
        </p:nvSpPr>
        <p:spPr>
          <a:xfrm>
            <a:off x="1606550" y="2432050"/>
            <a:ext cx="7637451" cy="309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At least one of them is writing.</a:t>
            </a:r>
          </a:p>
        </p:txBody>
      </p:sp>
      <p:grpSp>
        <p:nvGrpSpPr>
          <p:cNvPr id="509" name="Text 8"/>
          <p:cNvGrpSpPr/>
          <p:nvPr/>
        </p:nvGrpSpPr>
        <p:grpSpPr>
          <a:xfrm>
            <a:off x="9227925" y="2430140"/>
            <a:ext cx="1913150" cy="288291"/>
            <a:chOff x="0" y="0"/>
            <a:chExt cx="1913148" cy="288290"/>
          </a:xfrm>
        </p:grpSpPr>
        <p:sp>
          <p:nvSpPr>
            <p:cNvPr id="507" name="圓角矩形"/>
            <p:cNvSpPr/>
            <p:nvPr/>
          </p:nvSpPr>
          <p:spPr>
            <a:xfrm>
              <a:off x="0" y="0"/>
              <a:ext cx="1913149" cy="288291"/>
            </a:xfrm>
            <a:prstGeom prst="roundRect">
              <a:avLst>
                <a:gd name="adj" fmla="val 12115"/>
              </a:avLst>
            </a:prstGeom>
            <a:solidFill>
              <a:srgbClr val="FBEDE5"/>
            </a:solidFill>
            <a:ln w="6350" cap="flat">
              <a:solidFill>
                <a:srgbClr val="E0B9A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1600"/>
                </a:lnSpc>
                <a:defRPr sz="1200"/>
              </a:pPr>
            </a:p>
          </p:txBody>
        </p:sp>
        <p:sp>
          <p:nvSpPr>
            <p:cNvPr id="508" name="blocked by: type system"/>
            <p:cNvSpPr txBox="1"/>
            <p:nvPr/>
          </p:nvSpPr>
          <p:spPr>
            <a:xfrm>
              <a:off x="87639" y="13405"/>
              <a:ext cx="1737869" cy="261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1600"/>
                </a:lnSpc>
                <a:defRPr sz="1200">
                  <a:solidFill>
                    <a:schemeClr val="accent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blocked by: type system</a:t>
              </a:r>
            </a:p>
          </p:txBody>
        </p:sp>
      </p:grpSp>
      <p:sp>
        <p:nvSpPr>
          <p:cNvPr id="510" name="Shape 9"/>
          <p:cNvSpPr/>
          <p:nvPr/>
        </p:nvSpPr>
        <p:spPr>
          <a:xfrm>
            <a:off x="815975" y="3043559"/>
            <a:ext cx="10560050" cy="722631"/>
          </a:xfrm>
          <a:prstGeom prst="roundRect">
            <a:avLst>
              <a:gd name="adj" fmla="val 10105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1" name="Text 10"/>
          <p:cNvSpPr txBox="1"/>
          <p:nvPr/>
        </p:nvSpPr>
        <p:spPr>
          <a:xfrm>
            <a:off x="1047750" y="3173734"/>
            <a:ext cx="406400" cy="487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600"/>
              </a:lnSpc>
              <a:defRPr sz="2600">
                <a:solidFill>
                  <a:schemeClr val="accent2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12" name="Text 11"/>
          <p:cNvSpPr txBox="1"/>
          <p:nvPr/>
        </p:nvSpPr>
        <p:spPr>
          <a:xfrm>
            <a:off x="1606549" y="3262634"/>
            <a:ext cx="5137456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Nothing synchronizes the access.</a:t>
            </a:r>
          </a:p>
        </p:txBody>
      </p:sp>
      <p:grpSp>
        <p:nvGrpSpPr>
          <p:cNvPr id="515" name="Text 12"/>
          <p:cNvGrpSpPr/>
          <p:nvPr/>
        </p:nvGrpSpPr>
        <p:grpSpPr>
          <a:xfrm>
            <a:off x="6800745" y="3260725"/>
            <a:ext cx="2131590" cy="288291"/>
            <a:chOff x="0" y="0"/>
            <a:chExt cx="2131589" cy="288290"/>
          </a:xfrm>
        </p:grpSpPr>
        <p:sp>
          <p:nvSpPr>
            <p:cNvPr id="513" name="圓角矩形"/>
            <p:cNvSpPr/>
            <p:nvPr/>
          </p:nvSpPr>
          <p:spPr>
            <a:xfrm>
              <a:off x="0" y="0"/>
              <a:ext cx="2131590" cy="288291"/>
            </a:xfrm>
            <a:prstGeom prst="roundRect">
              <a:avLst>
                <a:gd name="adj" fmla="val 12115"/>
              </a:avLst>
            </a:prstGeom>
            <a:solidFill>
              <a:srgbClr val="FBEDE5"/>
            </a:solidFill>
            <a:ln w="6350" cap="flat">
              <a:solidFill>
                <a:srgbClr val="E0B9A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1600"/>
                </a:lnSpc>
                <a:defRPr sz="1200"/>
              </a:pPr>
            </a:p>
          </p:txBody>
        </p:sp>
        <p:sp>
          <p:nvSpPr>
            <p:cNvPr id="514" name="blocked by: Mutex / Atomic"/>
            <p:cNvSpPr txBox="1"/>
            <p:nvPr/>
          </p:nvSpPr>
          <p:spPr>
            <a:xfrm>
              <a:off x="85303" y="13405"/>
              <a:ext cx="1960983" cy="261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1600"/>
                </a:lnSpc>
                <a:defRPr sz="1200">
                  <a:solidFill>
                    <a:schemeClr val="accent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blocked by: Mutex / Atomic</a:t>
              </a:r>
            </a:p>
          </p:txBody>
        </p:sp>
      </p:grpSp>
      <p:grpSp>
        <p:nvGrpSpPr>
          <p:cNvPr id="518" name="Text 13"/>
          <p:cNvGrpSpPr/>
          <p:nvPr/>
        </p:nvGrpSpPr>
        <p:grpSpPr>
          <a:xfrm>
            <a:off x="9141883" y="3260725"/>
            <a:ext cx="1999192" cy="288291"/>
            <a:chOff x="0" y="0"/>
            <a:chExt cx="1999191" cy="288290"/>
          </a:xfrm>
        </p:grpSpPr>
        <p:sp>
          <p:nvSpPr>
            <p:cNvPr id="516" name="圓角矩形"/>
            <p:cNvSpPr/>
            <p:nvPr/>
          </p:nvSpPr>
          <p:spPr>
            <a:xfrm>
              <a:off x="0" y="0"/>
              <a:ext cx="1999192" cy="288291"/>
            </a:xfrm>
            <a:prstGeom prst="roundRect">
              <a:avLst>
                <a:gd name="adj" fmla="val 12115"/>
              </a:avLst>
            </a:prstGeom>
            <a:solidFill>
              <a:srgbClr val="EEF2F9"/>
            </a:solidFill>
            <a:ln w="6350" cap="flat">
              <a:solidFill>
                <a:srgbClr val="B9C7E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1600"/>
                </a:lnSpc>
                <a:defRPr sz="1200"/>
              </a:pPr>
            </a:p>
          </p:txBody>
        </p:sp>
        <p:sp>
          <p:nvSpPr>
            <p:cNvPr id="517" name="in Python: the interpreter"/>
            <p:cNvSpPr txBox="1"/>
            <p:nvPr/>
          </p:nvSpPr>
          <p:spPr>
            <a:xfrm>
              <a:off x="84103" y="13405"/>
              <a:ext cx="1830985" cy="261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1600"/>
                </a:lnSpc>
                <a:defRPr sz="1200">
                  <a:solidFill>
                    <a:schemeClr val="accent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in Python: the interpreter</a:t>
              </a:r>
            </a:p>
          </p:txBody>
        </p:sp>
      </p:grpSp>
      <p:grpSp>
        <p:nvGrpSpPr>
          <p:cNvPr id="521" name="Text 14"/>
          <p:cNvGrpSpPr/>
          <p:nvPr/>
        </p:nvGrpSpPr>
        <p:grpSpPr>
          <a:xfrm>
            <a:off x="812800" y="3972557"/>
            <a:ext cx="3408997" cy="393066"/>
            <a:chOff x="0" y="0"/>
            <a:chExt cx="3408996" cy="393065"/>
          </a:xfrm>
        </p:grpSpPr>
        <p:sp>
          <p:nvSpPr>
            <p:cNvPr id="519" name="圓角矩形"/>
            <p:cNvSpPr/>
            <p:nvPr/>
          </p:nvSpPr>
          <p:spPr>
            <a:xfrm>
              <a:off x="0" y="0"/>
              <a:ext cx="3408997" cy="393066"/>
            </a:xfrm>
            <a:prstGeom prst="roundRect">
              <a:avLst>
                <a:gd name="adj" fmla="val 12924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2200"/>
                </a:lnSpc>
                <a:defRPr sz="1700"/>
              </a:pPr>
            </a:p>
          </p:txBody>
        </p:sp>
        <p:sp>
          <p:nvSpPr>
            <p:cNvPr id="520" name="All three together = a data race."/>
            <p:cNvSpPr txBox="1"/>
            <p:nvPr/>
          </p:nvSpPr>
          <p:spPr>
            <a:xfrm>
              <a:off x="98653" y="14878"/>
              <a:ext cx="3211691" cy="3633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2200"/>
                </a:lnSpc>
                <a:defRPr sz="1700"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All three together = a data race.</a:t>
              </a:r>
            </a:p>
          </p:txBody>
        </p:sp>
      </p:grpSp>
      <p:sp>
        <p:nvSpPr>
          <p:cNvPr id="522" name="Text 15"/>
          <p:cNvSpPr txBox="1"/>
          <p:nvPr/>
        </p:nvSpPr>
        <p:spPr>
          <a:xfrm>
            <a:off x="812799" y="4441825"/>
            <a:ext cx="10883394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Safe Rust makes this impossible to express: enforced by the type system + safe standard library abstractions.</a:t>
            </a:r>
          </a:p>
        </p:txBody>
      </p:sp>
      <p:sp>
        <p:nvSpPr>
          <p:cNvPr id="523" name="Text 16"/>
          <p:cNvSpPr txBox="1"/>
          <p:nvPr/>
        </p:nvSpPr>
        <p:spPr>
          <a:xfrm>
            <a:off x="812799" y="4766940"/>
            <a:ext cx="1088339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chemeClr val="accent1"/>
                </a:solidFill>
              </a:defRPr>
            </a:lvl1pPr>
          </a:lstStyle>
          <a:p>
            <a:pPr/>
            <a:r>
              <a:t>Python's interpreter handles #3 for built-in types. That's why the dict never crashed.</a:t>
            </a:r>
          </a:p>
        </p:txBody>
      </p:sp>
      <p:sp>
        <p:nvSpPr>
          <p:cNvPr id="524" name="Shape 17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5" name="Text 18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 data race needs all three conditions. Rust makes sure they never meet.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Where the first answer lives</a:t>
            </a:r>
          </a:p>
        </p:txBody>
      </p:sp>
      <p:sp>
        <p:nvSpPr>
          <p:cNvPr id="528" name="Text 1"/>
          <p:cNvSpPr txBox="1"/>
          <p:nvPr/>
        </p:nvSpPr>
        <p:spPr>
          <a:xfrm>
            <a:off x="812799" y="1353815"/>
            <a:ext cx="364360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rgbClr val="5C6370"/>
                </a:solidFill>
              </a:defRPr>
            </a:lvl1pPr>
          </a:lstStyle>
          <a:p>
            <a:pPr/>
            <a:r>
              <a:t>Three symbols you'll keep seeing: owner, </a:t>
            </a:r>
          </a:p>
        </p:txBody>
      </p:sp>
      <p:sp>
        <p:nvSpPr>
          <p:cNvPr id="529" name="Text 2"/>
          <p:cNvSpPr txBox="1"/>
          <p:nvPr/>
        </p:nvSpPr>
        <p:spPr>
          <a:xfrm>
            <a:off x="4350279" y="1353815"/>
            <a:ext cx="1651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&amp;</a:t>
            </a:r>
          </a:p>
        </p:txBody>
      </p:sp>
      <p:sp>
        <p:nvSpPr>
          <p:cNvPr id="530" name="Text 3"/>
          <p:cNvSpPr txBox="1"/>
          <p:nvPr/>
        </p:nvSpPr>
        <p:spPr>
          <a:xfrm>
            <a:off x="4464579" y="1353815"/>
            <a:ext cx="147639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rgbClr val="5C6370"/>
                </a:solidFill>
              </a:defRPr>
            </a:lvl1pPr>
          </a:lstStyle>
          <a:p>
            <a:pPr/>
            <a:r>
              <a:t>, </a:t>
            </a:r>
          </a:p>
        </p:txBody>
      </p:sp>
      <p:sp>
        <p:nvSpPr>
          <p:cNvPr id="531" name="Text 4"/>
          <p:cNvSpPr txBox="1"/>
          <p:nvPr/>
        </p:nvSpPr>
        <p:spPr>
          <a:xfrm>
            <a:off x="4561416" y="1353815"/>
            <a:ext cx="54864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&amp;mut</a:t>
            </a:r>
          </a:p>
        </p:txBody>
      </p:sp>
      <p:sp>
        <p:nvSpPr>
          <p:cNvPr id="532" name="Shape 5"/>
          <p:cNvSpPr/>
          <p:nvPr/>
        </p:nvSpPr>
        <p:spPr>
          <a:xfrm>
            <a:off x="815975" y="1750690"/>
            <a:ext cx="5480050" cy="544831"/>
          </a:xfrm>
          <a:prstGeom prst="roundRect">
            <a:avLst>
              <a:gd name="adj" fmla="val 13403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3" name="Text 6"/>
          <p:cNvSpPr txBox="1"/>
          <p:nvPr/>
        </p:nvSpPr>
        <p:spPr>
          <a:xfrm>
            <a:off x="996950" y="1880865"/>
            <a:ext cx="1003300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owner</a:t>
            </a:r>
          </a:p>
        </p:txBody>
      </p:sp>
      <p:sp>
        <p:nvSpPr>
          <p:cNvPr id="534" name="Text 7"/>
          <p:cNvSpPr txBox="1"/>
          <p:nvPr/>
        </p:nvSpPr>
        <p:spPr>
          <a:xfrm>
            <a:off x="2101850" y="1885950"/>
            <a:ext cx="4133597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/>
            </a:lvl1pPr>
          </a:lstStyle>
          <a:p>
            <a:pPr/>
            <a:r>
              <a:t>every value has exactly one owner.</a:t>
            </a:r>
          </a:p>
        </p:txBody>
      </p:sp>
      <p:sp>
        <p:nvSpPr>
          <p:cNvPr id="535" name="Shape 8"/>
          <p:cNvSpPr/>
          <p:nvPr/>
        </p:nvSpPr>
        <p:spPr>
          <a:xfrm>
            <a:off x="815975" y="2378075"/>
            <a:ext cx="5480050" cy="808991"/>
          </a:xfrm>
          <a:prstGeom prst="roundRect">
            <a:avLst>
              <a:gd name="adj" fmla="val 9027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6" name="Text 9"/>
          <p:cNvSpPr txBox="1"/>
          <p:nvPr/>
        </p:nvSpPr>
        <p:spPr>
          <a:xfrm>
            <a:off x="996950" y="2640334"/>
            <a:ext cx="1003300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&amp;T</a:t>
            </a:r>
          </a:p>
        </p:txBody>
      </p:sp>
      <p:sp>
        <p:nvSpPr>
          <p:cNvPr id="537" name="Text 10"/>
          <p:cNvSpPr txBox="1"/>
          <p:nvPr/>
        </p:nvSpPr>
        <p:spPr>
          <a:xfrm>
            <a:off x="2101850" y="2508250"/>
            <a:ext cx="4133597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/>
            </a:lvl1pPr>
          </a:lstStyle>
          <a:p>
            <a:pPr/>
            <a:r>
              <a:t>(shared borrow): others may hold it too; read-only.</a:t>
            </a:r>
          </a:p>
        </p:txBody>
      </p:sp>
      <p:sp>
        <p:nvSpPr>
          <p:cNvPr id="538" name="Shape 11"/>
          <p:cNvSpPr/>
          <p:nvPr/>
        </p:nvSpPr>
        <p:spPr>
          <a:xfrm>
            <a:off x="815975" y="3269617"/>
            <a:ext cx="5480050" cy="808991"/>
          </a:xfrm>
          <a:prstGeom prst="roundRect">
            <a:avLst>
              <a:gd name="adj" fmla="val 9027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9" name="Text 12"/>
          <p:cNvSpPr txBox="1"/>
          <p:nvPr/>
        </p:nvSpPr>
        <p:spPr>
          <a:xfrm>
            <a:off x="996950" y="3531865"/>
            <a:ext cx="1003300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&amp;mut T</a:t>
            </a:r>
          </a:p>
        </p:txBody>
      </p:sp>
      <p:sp>
        <p:nvSpPr>
          <p:cNvPr id="540" name="Text 13"/>
          <p:cNvSpPr txBox="1"/>
          <p:nvPr/>
        </p:nvSpPr>
        <p:spPr>
          <a:xfrm>
            <a:off x="2101850" y="3399792"/>
            <a:ext cx="4133597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100"/>
              </a:lnSpc>
              <a:defRPr sz="1600"/>
            </a:pPr>
            <a:r>
              <a:t>(exclusive borrow): nobody else holds it;</a:t>
            </a:r>
          </a:p>
          <a:p>
            <a:pPr>
              <a:lnSpc>
                <a:spcPts val="2100"/>
              </a:lnSpc>
              <a:defRPr sz="1600"/>
            </a:pPr>
            <a:r>
              <a:t>safe to mutate.</a:t>
            </a:r>
          </a:p>
        </p:txBody>
      </p:sp>
      <p:sp>
        <p:nvSpPr>
          <p:cNvPr id="541" name="Shape 14"/>
          <p:cNvSpPr/>
          <p:nvPr/>
        </p:nvSpPr>
        <p:spPr>
          <a:xfrm>
            <a:off x="812800" y="4208784"/>
            <a:ext cx="3488372" cy="704216"/>
          </a:xfrm>
          <a:prstGeom prst="roundRect">
            <a:avLst>
              <a:gd name="adj" fmla="val 7214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2" name="Text 15"/>
          <p:cNvSpPr txBox="1"/>
          <p:nvPr/>
        </p:nvSpPr>
        <p:spPr>
          <a:xfrm>
            <a:off x="965200" y="4284984"/>
            <a:ext cx="602722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Many </a:t>
            </a:r>
          </a:p>
        </p:txBody>
      </p:sp>
      <p:sp>
        <p:nvSpPr>
          <p:cNvPr id="543" name="Text 16"/>
          <p:cNvSpPr txBox="1"/>
          <p:nvPr/>
        </p:nvSpPr>
        <p:spPr>
          <a:xfrm>
            <a:off x="1517120" y="4288159"/>
            <a:ext cx="294641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&amp; </a:t>
            </a:r>
          </a:p>
        </p:txBody>
      </p:sp>
      <p:sp>
        <p:nvSpPr>
          <p:cNvPr id="544" name="Text 17"/>
          <p:cNvSpPr txBox="1"/>
          <p:nvPr/>
        </p:nvSpPr>
        <p:spPr>
          <a:xfrm>
            <a:off x="1760960" y="4284984"/>
            <a:ext cx="773537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OR one </a:t>
            </a:r>
          </a:p>
        </p:txBody>
      </p:sp>
      <p:sp>
        <p:nvSpPr>
          <p:cNvPr id="545" name="Text 18"/>
          <p:cNvSpPr txBox="1"/>
          <p:nvPr/>
        </p:nvSpPr>
        <p:spPr>
          <a:xfrm>
            <a:off x="2483697" y="4288159"/>
            <a:ext cx="538481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&amp;mut</a:t>
            </a:r>
          </a:p>
        </p:txBody>
      </p:sp>
      <p:sp>
        <p:nvSpPr>
          <p:cNvPr id="546" name="Text 19"/>
          <p:cNvSpPr txBox="1"/>
          <p:nvPr/>
        </p:nvSpPr>
        <p:spPr>
          <a:xfrm>
            <a:off x="2971376" y="4284984"/>
            <a:ext cx="1329798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, never both.</a:t>
            </a:r>
          </a:p>
        </p:txBody>
      </p:sp>
      <p:sp>
        <p:nvSpPr>
          <p:cNvPr id="547" name="Text 20"/>
          <p:cNvSpPr txBox="1"/>
          <p:nvPr/>
        </p:nvSpPr>
        <p:spPr>
          <a:xfrm>
            <a:off x="965199" y="4562475"/>
            <a:ext cx="2813179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(Aliasing XOR Mutability)</a:t>
            </a:r>
          </a:p>
        </p:txBody>
      </p:sp>
      <p:sp>
        <p:nvSpPr>
          <p:cNvPr id="548" name="Shape 21"/>
          <p:cNvSpPr/>
          <p:nvPr/>
        </p:nvSpPr>
        <p:spPr>
          <a:xfrm>
            <a:off x="6553200" y="4066542"/>
            <a:ext cx="4826000" cy="1521461"/>
          </a:xfrm>
          <a:prstGeom prst="rect">
            <a:avLst/>
          </a:prstGeom>
          <a:solidFill>
            <a:srgbClr val="F6F5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9" name="Text 22"/>
          <p:cNvSpPr txBox="1"/>
          <p:nvPr/>
        </p:nvSpPr>
        <p:spPr>
          <a:xfrm>
            <a:off x="7874000" y="4066542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Rust</a:t>
            </a:r>
          </a:p>
        </p:txBody>
      </p:sp>
      <p:sp>
        <p:nvSpPr>
          <p:cNvPr id="550" name="Text 23"/>
          <p:cNvSpPr txBox="1"/>
          <p:nvPr/>
        </p:nvSpPr>
        <p:spPr>
          <a:xfrm>
            <a:off x="9683750" y="4066542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551" name="Text 24"/>
          <p:cNvSpPr txBox="1"/>
          <p:nvPr/>
        </p:nvSpPr>
        <p:spPr>
          <a:xfrm>
            <a:off x="6553200" y="43688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Who holds it?</a:t>
            </a:r>
          </a:p>
        </p:txBody>
      </p:sp>
      <p:grpSp>
        <p:nvGrpSpPr>
          <p:cNvPr id="554" name="Text 25"/>
          <p:cNvGrpSpPr/>
          <p:nvPr/>
        </p:nvGrpSpPr>
        <p:grpSpPr>
          <a:xfrm>
            <a:off x="7804150" y="4324350"/>
            <a:ext cx="1758950" cy="317500"/>
            <a:chOff x="0" y="0"/>
            <a:chExt cx="1758950" cy="317500"/>
          </a:xfrm>
        </p:grpSpPr>
        <p:sp>
          <p:nvSpPr>
            <p:cNvPr id="552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553" name="owner · &amp; · &amp;mut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owner · &amp; · &amp;mut</a:t>
              </a:r>
            </a:p>
          </p:txBody>
        </p:sp>
      </p:grpSp>
      <p:sp>
        <p:nvSpPr>
          <p:cNvPr id="555" name="Shape 26"/>
          <p:cNvSpPr/>
          <p:nvPr/>
        </p:nvSpPr>
        <p:spPr>
          <a:xfrm>
            <a:off x="9613900" y="4324350"/>
            <a:ext cx="1758950" cy="317500"/>
          </a:xfrm>
          <a:prstGeom prst="roundRect">
            <a:avLst>
              <a:gd name="adj" fmla="val 10000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6" name="Text 27"/>
          <p:cNvSpPr txBox="1"/>
          <p:nvPr/>
        </p:nvSpPr>
        <p:spPr>
          <a:xfrm>
            <a:off x="6553200" y="4737100"/>
            <a:ext cx="12573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Is it mutated?</a:t>
            </a:r>
          </a:p>
        </p:txBody>
      </p:sp>
      <p:sp>
        <p:nvSpPr>
          <p:cNvPr id="557" name="Shape 28"/>
          <p:cNvSpPr/>
          <p:nvPr/>
        </p:nvSpPr>
        <p:spPr>
          <a:xfrm>
            <a:off x="7804150" y="4692650"/>
            <a:ext cx="1758950" cy="520700"/>
          </a:xfrm>
          <a:prstGeom prst="roundRect">
            <a:avLst>
              <a:gd name="adj" fmla="val 6098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8" name="Shape 29"/>
          <p:cNvSpPr/>
          <p:nvPr/>
        </p:nvSpPr>
        <p:spPr>
          <a:xfrm>
            <a:off x="9613900" y="4692650"/>
            <a:ext cx="1758950" cy="520700"/>
          </a:xfrm>
          <a:prstGeom prst="roundRect">
            <a:avLst>
              <a:gd name="adj" fmla="val 6098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9" name="Text 30"/>
          <p:cNvSpPr txBox="1"/>
          <p:nvPr/>
        </p:nvSpPr>
        <p:spPr>
          <a:xfrm>
            <a:off x="6553200" y="53086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Across threads</a:t>
            </a:r>
          </a:p>
        </p:txBody>
      </p:sp>
      <p:sp>
        <p:nvSpPr>
          <p:cNvPr id="560" name="Shape 31"/>
          <p:cNvSpPr/>
          <p:nvPr/>
        </p:nvSpPr>
        <p:spPr>
          <a:xfrm>
            <a:off x="7804150" y="5264150"/>
            <a:ext cx="1758950" cy="317500"/>
          </a:xfrm>
          <a:prstGeom prst="roundRect">
            <a:avLst>
              <a:gd name="adj" fmla="val 10000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1" name="Shape 32"/>
          <p:cNvSpPr/>
          <p:nvPr/>
        </p:nvSpPr>
        <p:spPr>
          <a:xfrm>
            <a:off x="9613900" y="5264150"/>
            <a:ext cx="1758950" cy="317500"/>
          </a:xfrm>
          <a:prstGeom prst="roundRect">
            <a:avLst>
              <a:gd name="adj" fmla="val 10000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2" name="Shape 33"/>
          <p:cNvSpPr/>
          <p:nvPr/>
        </p:nvSpPr>
        <p:spPr>
          <a:xfrm>
            <a:off x="825499" y="5776590"/>
            <a:ext cx="1" cy="268606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3" name="Text 34"/>
          <p:cNvSpPr txBox="1"/>
          <p:nvPr/>
        </p:nvSpPr>
        <p:spPr>
          <a:xfrm>
            <a:off x="965200" y="5789290"/>
            <a:ext cx="554674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Every </a:t>
            </a:r>
          </a:p>
        </p:txBody>
      </p:sp>
      <p:sp>
        <p:nvSpPr>
          <p:cNvPr id="564" name="Text 35"/>
          <p:cNvSpPr txBox="1"/>
          <p:nvPr/>
        </p:nvSpPr>
        <p:spPr>
          <a:xfrm>
            <a:off x="1469073" y="5792465"/>
            <a:ext cx="264161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&amp; </a:t>
            </a:r>
          </a:p>
        </p:txBody>
      </p:sp>
      <p:sp>
        <p:nvSpPr>
          <p:cNvPr id="565" name="Text 36"/>
          <p:cNvSpPr txBox="1"/>
          <p:nvPr/>
        </p:nvSpPr>
        <p:spPr>
          <a:xfrm>
            <a:off x="1682432" y="5789290"/>
            <a:ext cx="262679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or </a:t>
            </a:r>
          </a:p>
        </p:txBody>
      </p:sp>
      <p:sp>
        <p:nvSpPr>
          <p:cNvPr id="566" name="Text 37"/>
          <p:cNvSpPr txBox="1"/>
          <p:nvPr/>
        </p:nvSpPr>
        <p:spPr>
          <a:xfrm>
            <a:off x="1894310" y="5792465"/>
            <a:ext cx="584201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&amp;mut </a:t>
            </a:r>
          </a:p>
        </p:txBody>
      </p:sp>
      <p:sp>
        <p:nvSpPr>
          <p:cNvPr id="567" name="Text 38"/>
          <p:cNvSpPr txBox="1"/>
          <p:nvPr/>
        </p:nvSpPr>
        <p:spPr>
          <a:xfrm>
            <a:off x="2427710" y="5789290"/>
            <a:ext cx="785496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answers </a:t>
            </a:r>
          </a:p>
        </p:txBody>
      </p:sp>
      <p:sp>
        <p:nvSpPr>
          <p:cNvPr id="568" name="Text 39"/>
          <p:cNvSpPr txBox="1"/>
          <p:nvPr/>
        </p:nvSpPr>
        <p:spPr>
          <a:xfrm>
            <a:off x="3162406" y="5789290"/>
            <a:ext cx="362903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the </a:t>
            </a:r>
          </a:p>
        </p:txBody>
      </p:sp>
      <p:sp>
        <p:nvSpPr>
          <p:cNvPr id="569" name="Text 40"/>
          <p:cNvSpPr txBox="1"/>
          <p:nvPr/>
        </p:nvSpPr>
        <p:spPr>
          <a:xfrm>
            <a:off x="3474508" y="5789290"/>
            <a:ext cx="427144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first </a:t>
            </a:r>
          </a:p>
        </p:txBody>
      </p:sp>
      <p:sp>
        <p:nvSpPr>
          <p:cNvPr id="570" name="Text 41"/>
          <p:cNvSpPr txBox="1"/>
          <p:nvPr/>
        </p:nvSpPr>
        <p:spPr>
          <a:xfrm>
            <a:off x="3850852" y="5789290"/>
            <a:ext cx="810473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question </a:t>
            </a:r>
          </a:p>
        </p:txBody>
      </p:sp>
      <p:sp>
        <p:nvSpPr>
          <p:cNvPr id="571" name="Text 42"/>
          <p:cNvSpPr txBox="1"/>
          <p:nvPr/>
        </p:nvSpPr>
        <p:spPr>
          <a:xfrm>
            <a:off x="4610522" y="5789290"/>
            <a:ext cx="479426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right </a:t>
            </a:r>
          </a:p>
        </p:txBody>
      </p:sp>
      <p:sp>
        <p:nvSpPr>
          <p:cNvPr id="572" name="Text 43"/>
          <p:cNvSpPr txBox="1"/>
          <p:nvPr/>
        </p:nvSpPr>
        <p:spPr>
          <a:xfrm>
            <a:off x="5039147" y="5789290"/>
            <a:ext cx="246169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in </a:t>
            </a:r>
          </a:p>
        </p:txBody>
      </p:sp>
      <p:sp>
        <p:nvSpPr>
          <p:cNvPr id="573" name="Text 44"/>
          <p:cNvSpPr txBox="1"/>
          <p:nvPr/>
        </p:nvSpPr>
        <p:spPr>
          <a:xfrm>
            <a:off x="5234516" y="5789290"/>
            <a:ext cx="362904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the </a:t>
            </a:r>
          </a:p>
        </p:txBody>
      </p:sp>
      <p:sp>
        <p:nvSpPr>
          <p:cNvPr id="574" name="Text 45"/>
          <p:cNvSpPr txBox="1"/>
          <p:nvPr/>
        </p:nvSpPr>
        <p:spPr>
          <a:xfrm>
            <a:off x="5546619" y="5789290"/>
            <a:ext cx="535814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code.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Where the second answer lives</a:t>
            </a:r>
          </a:p>
        </p:txBody>
      </p:sp>
      <p:grpSp>
        <p:nvGrpSpPr>
          <p:cNvPr id="579" name="Text 1"/>
          <p:cNvGrpSpPr/>
          <p:nvPr/>
        </p:nvGrpSpPr>
        <p:grpSpPr>
          <a:xfrm>
            <a:off x="815975" y="1356990"/>
            <a:ext cx="5581650" cy="544831"/>
            <a:chOff x="0" y="0"/>
            <a:chExt cx="5581650" cy="544830"/>
          </a:xfrm>
        </p:grpSpPr>
        <p:sp>
          <p:nvSpPr>
            <p:cNvPr id="577" name="圓角矩形"/>
            <p:cNvSpPr/>
            <p:nvPr/>
          </p:nvSpPr>
          <p:spPr>
            <a:xfrm>
              <a:off x="0" y="0"/>
              <a:ext cx="5581650" cy="544831"/>
            </a:xfrm>
            <a:prstGeom prst="roundRect">
              <a:avLst>
                <a:gd name="adj" fmla="val 13403"/>
              </a:avLst>
            </a:prstGeom>
            <a:solidFill>
              <a:srgbClr val="FDFCF9"/>
            </a:solidFill>
            <a:ln w="6350" cap="flat">
              <a:solidFill>
                <a:srgbClr val="DCD8C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200"/>
                </a:lnSpc>
                <a:defRPr sz="1600"/>
              </a:pPr>
            </a:p>
          </p:txBody>
        </p:sp>
        <p:sp>
          <p:nvSpPr>
            <p:cNvPr id="578" name="Immutable by default."/>
            <p:cNvSpPr txBox="1"/>
            <p:nvPr/>
          </p:nvSpPr>
          <p:spPr>
            <a:xfrm>
              <a:off x="181154" y="130353"/>
              <a:ext cx="5375934" cy="3095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996" tIns="2996" rIns="2996" bIns="2996" numCol="1" anchor="t">
              <a:normAutofit fontScale="100000" lnSpcReduction="0"/>
            </a:bodyPr>
            <a:lstStyle>
              <a:lvl1pPr>
                <a:lnSpc>
                  <a:spcPts val="2200"/>
                </a:lnSpc>
                <a:defRPr sz="1600"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Immutable by default.</a:t>
              </a:r>
            </a:p>
          </p:txBody>
        </p:sp>
      </p:grpSp>
      <p:sp>
        <p:nvSpPr>
          <p:cNvPr id="580" name="Shape 2"/>
          <p:cNvSpPr/>
          <p:nvPr/>
        </p:nvSpPr>
        <p:spPr>
          <a:xfrm>
            <a:off x="815975" y="1984375"/>
            <a:ext cx="5581650" cy="548006"/>
          </a:xfrm>
          <a:prstGeom prst="roundRect">
            <a:avLst>
              <a:gd name="adj" fmla="val 13326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1" name="Text 3"/>
          <p:cNvSpPr txBox="1"/>
          <p:nvPr/>
        </p:nvSpPr>
        <p:spPr>
          <a:xfrm>
            <a:off x="996950" y="2114550"/>
            <a:ext cx="3693965" cy="309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To mutate directly, you must declare it: </a:t>
            </a:r>
          </a:p>
        </p:txBody>
      </p:sp>
      <p:sp>
        <p:nvSpPr>
          <p:cNvPr id="582" name="Text 4"/>
          <p:cNvSpPr txBox="1"/>
          <p:nvPr/>
        </p:nvSpPr>
        <p:spPr>
          <a:xfrm>
            <a:off x="4583324" y="2117725"/>
            <a:ext cx="538481" cy="309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200"/>
              </a:lnSpc>
              <a:defRPr sz="16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pPr>
            <a:r>
              <a:t>mut</a:t>
            </a:r>
            <a:r>
              <a:rPr>
                <a:solidFill>
                  <a:srgbClr val="1B1F27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rPr>
              <a:t> </a:t>
            </a:r>
          </a:p>
        </p:txBody>
      </p:sp>
      <p:sp>
        <p:nvSpPr>
          <p:cNvPr id="583" name="Text 5"/>
          <p:cNvSpPr txBox="1"/>
          <p:nvPr/>
        </p:nvSpPr>
        <p:spPr>
          <a:xfrm>
            <a:off x="5071004" y="2114550"/>
            <a:ext cx="287127" cy="309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or </a:t>
            </a:r>
          </a:p>
        </p:txBody>
      </p:sp>
      <p:sp>
        <p:nvSpPr>
          <p:cNvPr id="584" name="Text 6"/>
          <p:cNvSpPr txBox="1"/>
          <p:nvPr/>
        </p:nvSpPr>
        <p:spPr>
          <a:xfrm>
            <a:off x="5307329" y="2117725"/>
            <a:ext cx="538481" cy="309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&amp;mut</a:t>
            </a:r>
          </a:p>
        </p:txBody>
      </p:sp>
      <p:sp>
        <p:nvSpPr>
          <p:cNvPr id="585" name="Text 7"/>
          <p:cNvSpPr txBox="1"/>
          <p:nvPr/>
        </p:nvSpPr>
        <p:spPr>
          <a:xfrm>
            <a:off x="5795009" y="2114550"/>
            <a:ext cx="106046" cy="309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.</a:t>
            </a:r>
          </a:p>
        </p:txBody>
      </p:sp>
      <p:sp>
        <p:nvSpPr>
          <p:cNvPr id="586" name="Shape 8"/>
          <p:cNvSpPr/>
          <p:nvPr/>
        </p:nvSpPr>
        <p:spPr>
          <a:xfrm>
            <a:off x="815975" y="2614934"/>
            <a:ext cx="5581650" cy="835661"/>
          </a:xfrm>
          <a:prstGeom prst="roundRect">
            <a:avLst>
              <a:gd name="adj" fmla="val 8739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7" name="Text 9"/>
          <p:cNvSpPr txBox="1"/>
          <p:nvPr/>
        </p:nvSpPr>
        <p:spPr>
          <a:xfrm>
            <a:off x="996950" y="2745109"/>
            <a:ext cx="315490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To </a:t>
            </a:r>
          </a:p>
        </p:txBody>
      </p:sp>
      <p:sp>
        <p:nvSpPr>
          <p:cNvPr id="588" name="Text 10"/>
          <p:cNvSpPr txBox="1"/>
          <p:nvPr/>
        </p:nvSpPr>
        <p:spPr>
          <a:xfrm>
            <a:off x="1261638" y="2745109"/>
            <a:ext cx="753429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mutate </a:t>
            </a:r>
          </a:p>
        </p:txBody>
      </p:sp>
      <p:sp>
        <p:nvSpPr>
          <p:cNvPr id="589" name="Text 11"/>
          <p:cNvSpPr txBox="1"/>
          <p:nvPr/>
        </p:nvSpPr>
        <p:spPr>
          <a:xfrm>
            <a:off x="1964266" y="2745109"/>
            <a:ext cx="811108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through </a:t>
            </a:r>
          </a:p>
        </p:txBody>
      </p:sp>
      <p:sp>
        <p:nvSpPr>
          <p:cNvPr id="590" name="Text 12"/>
          <p:cNvSpPr txBox="1"/>
          <p:nvPr/>
        </p:nvSpPr>
        <p:spPr>
          <a:xfrm>
            <a:off x="2724573" y="2745109"/>
            <a:ext cx="207223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a </a:t>
            </a:r>
          </a:p>
        </p:txBody>
      </p:sp>
      <p:sp>
        <p:nvSpPr>
          <p:cNvPr id="591" name="Text 13"/>
          <p:cNvSpPr txBox="1"/>
          <p:nvPr/>
        </p:nvSpPr>
        <p:spPr>
          <a:xfrm>
            <a:off x="2880995" y="2745109"/>
            <a:ext cx="724642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shared </a:t>
            </a:r>
          </a:p>
        </p:txBody>
      </p:sp>
      <p:sp>
        <p:nvSpPr>
          <p:cNvPr id="592" name="Text 14"/>
          <p:cNvSpPr txBox="1"/>
          <p:nvPr/>
        </p:nvSpPr>
        <p:spPr>
          <a:xfrm>
            <a:off x="3554836" y="2748284"/>
            <a:ext cx="294641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200"/>
              </a:lnSpc>
              <a:defRPr sz="16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pPr>
            <a:r>
              <a:t>&amp;</a:t>
            </a:r>
            <a:r>
              <a:rPr>
                <a:solidFill>
                  <a:srgbClr val="1B1F27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rPr>
              <a:t> </a:t>
            </a:r>
          </a:p>
        </p:txBody>
      </p:sp>
      <p:sp>
        <p:nvSpPr>
          <p:cNvPr id="593" name="Text 15"/>
          <p:cNvSpPr txBox="1"/>
          <p:nvPr/>
        </p:nvSpPr>
        <p:spPr>
          <a:xfrm>
            <a:off x="3798675" y="2745109"/>
            <a:ext cx="1024678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reference, </a:t>
            </a:r>
          </a:p>
        </p:txBody>
      </p:sp>
      <p:sp>
        <p:nvSpPr>
          <p:cNvPr id="594" name="Text 16"/>
          <p:cNvSpPr txBox="1"/>
          <p:nvPr/>
        </p:nvSpPr>
        <p:spPr>
          <a:xfrm>
            <a:off x="4772554" y="2745109"/>
            <a:ext cx="554991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wrap </a:t>
            </a:r>
          </a:p>
        </p:txBody>
      </p:sp>
      <p:sp>
        <p:nvSpPr>
          <p:cNvPr id="595" name="Text 17"/>
          <p:cNvSpPr txBox="1"/>
          <p:nvPr/>
        </p:nvSpPr>
        <p:spPr>
          <a:xfrm>
            <a:off x="5276744" y="2745109"/>
            <a:ext cx="220875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it </a:t>
            </a:r>
          </a:p>
        </p:txBody>
      </p:sp>
      <p:sp>
        <p:nvSpPr>
          <p:cNvPr id="596" name="Text 18"/>
          <p:cNvSpPr txBox="1"/>
          <p:nvPr/>
        </p:nvSpPr>
        <p:spPr>
          <a:xfrm>
            <a:off x="5446817" y="2745109"/>
            <a:ext cx="265008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in </a:t>
            </a:r>
          </a:p>
        </p:txBody>
      </p:sp>
      <p:sp>
        <p:nvSpPr>
          <p:cNvPr id="597" name="Text 19"/>
          <p:cNvSpPr txBox="1"/>
          <p:nvPr/>
        </p:nvSpPr>
        <p:spPr>
          <a:xfrm>
            <a:off x="5661025" y="2745109"/>
            <a:ext cx="207222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a </a:t>
            </a:r>
          </a:p>
        </p:txBody>
      </p:sp>
      <p:sp>
        <p:nvSpPr>
          <p:cNvPr id="598" name="Text 20"/>
          <p:cNvSpPr txBox="1"/>
          <p:nvPr/>
        </p:nvSpPr>
        <p:spPr>
          <a:xfrm>
            <a:off x="996950" y="3032757"/>
            <a:ext cx="1303868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synchronized </a:t>
            </a:r>
          </a:p>
        </p:txBody>
      </p:sp>
      <p:sp>
        <p:nvSpPr>
          <p:cNvPr id="599" name="Text 21"/>
          <p:cNvSpPr txBox="1"/>
          <p:nvPr/>
        </p:nvSpPr>
        <p:spPr>
          <a:xfrm>
            <a:off x="2250016" y="3032757"/>
            <a:ext cx="1020552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container: </a:t>
            </a:r>
          </a:p>
        </p:txBody>
      </p:sp>
      <p:sp>
        <p:nvSpPr>
          <p:cNvPr id="600" name="Text 22"/>
          <p:cNvSpPr txBox="1"/>
          <p:nvPr/>
        </p:nvSpPr>
        <p:spPr>
          <a:xfrm>
            <a:off x="3219767" y="3035932"/>
            <a:ext cx="1026161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Mutex&lt;T&gt;</a:t>
            </a:r>
          </a:p>
        </p:txBody>
      </p:sp>
      <p:sp>
        <p:nvSpPr>
          <p:cNvPr id="601" name="Text 23"/>
          <p:cNvSpPr txBox="1"/>
          <p:nvPr/>
        </p:nvSpPr>
        <p:spPr>
          <a:xfrm>
            <a:off x="4195128" y="3032757"/>
            <a:ext cx="153989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, </a:t>
            </a:r>
          </a:p>
        </p:txBody>
      </p:sp>
      <p:sp>
        <p:nvSpPr>
          <p:cNvPr id="602" name="Text 24"/>
          <p:cNvSpPr txBox="1"/>
          <p:nvPr/>
        </p:nvSpPr>
        <p:spPr>
          <a:xfrm>
            <a:off x="4298315" y="3035932"/>
            <a:ext cx="1148081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AtomicU64</a:t>
            </a:r>
          </a:p>
        </p:txBody>
      </p:sp>
      <p:sp>
        <p:nvSpPr>
          <p:cNvPr id="603" name="Text 25"/>
          <p:cNvSpPr txBox="1"/>
          <p:nvPr/>
        </p:nvSpPr>
        <p:spPr>
          <a:xfrm>
            <a:off x="5395595" y="3032757"/>
            <a:ext cx="106046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.</a:t>
            </a:r>
          </a:p>
        </p:txBody>
      </p:sp>
      <p:sp>
        <p:nvSpPr>
          <p:cNvPr id="604" name="Text 26"/>
          <p:cNvSpPr txBox="1"/>
          <p:nvPr/>
        </p:nvSpPr>
        <p:spPr>
          <a:xfrm>
            <a:off x="812799" y="3580767"/>
            <a:ext cx="5755642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rgbClr val="3A404B"/>
                </a:solidFill>
              </a:defRPr>
            </a:lvl1pPr>
          </a:lstStyle>
          <a:p>
            <a:pPr/>
            <a:r>
              <a:t>The container itself declares: every write goes through synchronization, eliminating condition #3.</a:t>
            </a:r>
          </a:p>
        </p:txBody>
      </p:sp>
      <p:sp>
        <p:nvSpPr>
          <p:cNvPr id="605" name="Shape 27"/>
          <p:cNvSpPr/>
          <p:nvPr/>
        </p:nvSpPr>
        <p:spPr>
          <a:xfrm>
            <a:off x="6553200" y="4066542"/>
            <a:ext cx="4826000" cy="1521461"/>
          </a:xfrm>
          <a:prstGeom prst="rect">
            <a:avLst/>
          </a:prstGeom>
          <a:solidFill>
            <a:srgbClr val="F6F5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6" name="Text 28"/>
          <p:cNvSpPr txBox="1"/>
          <p:nvPr/>
        </p:nvSpPr>
        <p:spPr>
          <a:xfrm>
            <a:off x="7874000" y="4066542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Rust</a:t>
            </a:r>
          </a:p>
        </p:txBody>
      </p:sp>
      <p:sp>
        <p:nvSpPr>
          <p:cNvPr id="607" name="Text 29"/>
          <p:cNvSpPr txBox="1"/>
          <p:nvPr/>
        </p:nvSpPr>
        <p:spPr>
          <a:xfrm>
            <a:off x="9683750" y="4066542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608" name="Text 30"/>
          <p:cNvSpPr txBox="1"/>
          <p:nvPr/>
        </p:nvSpPr>
        <p:spPr>
          <a:xfrm>
            <a:off x="6553200" y="43688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Who holds it?</a:t>
            </a:r>
          </a:p>
        </p:txBody>
      </p:sp>
      <p:grpSp>
        <p:nvGrpSpPr>
          <p:cNvPr id="611" name="Text 31"/>
          <p:cNvGrpSpPr/>
          <p:nvPr/>
        </p:nvGrpSpPr>
        <p:grpSpPr>
          <a:xfrm>
            <a:off x="7804150" y="4324350"/>
            <a:ext cx="1758950" cy="317500"/>
            <a:chOff x="0" y="0"/>
            <a:chExt cx="1758950" cy="317500"/>
          </a:xfrm>
        </p:grpSpPr>
        <p:sp>
          <p:nvSpPr>
            <p:cNvPr id="609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610" name="owner · &amp; · &amp;mut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owner · &amp; · &amp;mut</a:t>
              </a:r>
            </a:p>
          </p:txBody>
        </p:sp>
      </p:grpSp>
      <p:sp>
        <p:nvSpPr>
          <p:cNvPr id="612" name="Shape 32"/>
          <p:cNvSpPr/>
          <p:nvPr/>
        </p:nvSpPr>
        <p:spPr>
          <a:xfrm>
            <a:off x="9613900" y="4324350"/>
            <a:ext cx="1758950" cy="317500"/>
          </a:xfrm>
          <a:prstGeom prst="roundRect">
            <a:avLst>
              <a:gd name="adj" fmla="val 10000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3" name="Text 33"/>
          <p:cNvSpPr txBox="1"/>
          <p:nvPr/>
        </p:nvSpPr>
        <p:spPr>
          <a:xfrm>
            <a:off x="6553200" y="4737100"/>
            <a:ext cx="12573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Is it mutated?</a:t>
            </a:r>
          </a:p>
        </p:txBody>
      </p:sp>
      <p:grpSp>
        <p:nvGrpSpPr>
          <p:cNvPr id="616" name="Text 34"/>
          <p:cNvGrpSpPr/>
          <p:nvPr/>
        </p:nvGrpSpPr>
        <p:grpSpPr>
          <a:xfrm>
            <a:off x="7804150" y="4692650"/>
            <a:ext cx="1758950" cy="520700"/>
            <a:chOff x="0" y="0"/>
            <a:chExt cx="1758950" cy="520700"/>
          </a:xfrm>
        </p:grpSpPr>
        <p:sp>
          <p:nvSpPr>
            <p:cNvPr id="614" name="圓角矩形"/>
            <p:cNvSpPr/>
            <p:nvPr/>
          </p:nvSpPr>
          <p:spPr>
            <a:xfrm>
              <a:off x="0" y="0"/>
              <a:ext cx="1758950" cy="520700"/>
            </a:xfrm>
            <a:prstGeom prst="roundRect">
              <a:avLst>
                <a:gd name="adj" fmla="val 6098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615" name="mut · &amp;mut ·…"/>
            <p:cNvSpPr txBox="1"/>
            <p:nvPr/>
          </p:nvSpPr>
          <p:spPr>
            <a:xfrm>
              <a:off x="66450" y="41049"/>
              <a:ext cx="1676850" cy="453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/>
            <a:p>
              <a: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pPr>
              <a:r>
                <a:t>mut · &amp;mut ·</a:t>
              </a:r>
            </a:p>
            <a:p>
              <a: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pPr>
              <a:r>
                <a:t>Mutex / Atomic</a:t>
              </a:r>
            </a:p>
          </p:txBody>
        </p:sp>
      </p:grpSp>
      <p:sp>
        <p:nvSpPr>
          <p:cNvPr id="617" name="Shape 35"/>
          <p:cNvSpPr/>
          <p:nvPr/>
        </p:nvSpPr>
        <p:spPr>
          <a:xfrm>
            <a:off x="9613900" y="4692650"/>
            <a:ext cx="1758950" cy="520700"/>
          </a:xfrm>
          <a:prstGeom prst="roundRect">
            <a:avLst>
              <a:gd name="adj" fmla="val 6098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8" name="Text 36"/>
          <p:cNvSpPr txBox="1"/>
          <p:nvPr/>
        </p:nvSpPr>
        <p:spPr>
          <a:xfrm>
            <a:off x="6553200" y="53086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Across threads</a:t>
            </a:r>
          </a:p>
        </p:txBody>
      </p:sp>
      <p:sp>
        <p:nvSpPr>
          <p:cNvPr id="619" name="Shape 37"/>
          <p:cNvSpPr/>
          <p:nvPr/>
        </p:nvSpPr>
        <p:spPr>
          <a:xfrm>
            <a:off x="7804150" y="5264150"/>
            <a:ext cx="1758950" cy="317500"/>
          </a:xfrm>
          <a:prstGeom prst="roundRect">
            <a:avLst>
              <a:gd name="adj" fmla="val 10000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0" name="Shape 38"/>
          <p:cNvSpPr/>
          <p:nvPr/>
        </p:nvSpPr>
        <p:spPr>
          <a:xfrm>
            <a:off x="9613900" y="5264150"/>
            <a:ext cx="1758950" cy="317500"/>
          </a:xfrm>
          <a:prstGeom prst="roundRect">
            <a:avLst>
              <a:gd name="adj" fmla="val 10000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1" name="Shape 39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2" name="Text 40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Every mutation must be explicitly declared, or synchronized.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Python has nowhere to express these answers</a:t>
            </a:r>
          </a:p>
        </p:txBody>
      </p:sp>
      <p:sp>
        <p:nvSpPr>
          <p:cNvPr id="625" name="Shape 1"/>
          <p:cNvSpPr/>
          <p:nvPr/>
        </p:nvSpPr>
        <p:spPr>
          <a:xfrm>
            <a:off x="815975" y="1331590"/>
            <a:ext cx="5480050" cy="1267461"/>
          </a:xfrm>
          <a:prstGeom prst="roundRect">
            <a:avLst>
              <a:gd name="adj" fmla="val 5762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628" name="Text 2"/>
          <p:cNvGrpSpPr/>
          <p:nvPr/>
        </p:nvGrpSpPr>
        <p:grpSpPr>
          <a:xfrm>
            <a:off x="819150" y="1334765"/>
            <a:ext cx="5473700" cy="314961"/>
            <a:chOff x="0" y="0"/>
            <a:chExt cx="5473700" cy="314959"/>
          </a:xfrm>
        </p:grpSpPr>
        <p:sp>
          <p:nvSpPr>
            <p:cNvPr id="626" name="形狀"/>
            <p:cNvSpPr/>
            <p:nvPr/>
          </p:nvSpPr>
          <p:spPr>
            <a:xfrm>
              <a:off x="0" y="0"/>
              <a:ext cx="5473700" cy="314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4790"/>
                  </a:moveTo>
                  <a:cubicBezTo>
                    <a:pt x="0" y="2145"/>
                    <a:pt x="123" y="0"/>
                    <a:pt x="276" y="0"/>
                  </a:cubicBezTo>
                  <a:lnTo>
                    <a:pt x="21324" y="0"/>
                  </a:lnTo>
                  <a:cubicBezTo>
                    <a:pt x="21477" y="0"/>
                    <a:pt x="21600" y="2145"/>
                    <a:pt x="21600" y="479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600"/>
                </a:lnSpc>
                <a:defRPr sz="1200"/>
              </a:pPr>
            </a:p>
          </p:txBody>
        </p:sp>
        <p:sp>
          <p:nvSpPr>
            <p:cNvPr id="627" name="Python"/>
            <p:cNvSpPr txBox="1"/>
            <p:nvPr/>
          </p:nvSpPr>
          <p:spPr>
            <a:xfrm>
              <a:off x="152400" y="25399"/>
              <a:ext cx="5168900" cy="2895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5400" tIns="25400" rIns="25400" bIns="25400" numCol="1" anchor="t">
              <a:normAutofit fontScale="100000" lnSpcReduction="0"/>
            </a:bodyPr>
            <a:lstStyle>
              <a:lvl1pPr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Python</a:t>
              </a:r>
            </a:p>
          </p:txBody>
        </p:sp>
      </p:grpSp>
      <p:sp>
        <p:nvSpPr>
          <p:cNvPr id="629" name="Text 3"/>
          <p:cNvSpPr txBox="1"/>
          <p:nvPr/>
        </p:nvSpPr>
        <p:spPr>
          <a:xfrm>
            <a:off x="971550" y="1751334"/>
            <a:ext cx="1300481" cy="273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a = Account()</a:t>
            </a:r>
          </a:p>
        </p:txBody>
      </p:sp>
      <p:sp>
        <p:nvSpPr>
          <p:cNvPr id="630" name="Text 4"/>
          <p:cNvSpPr txBox="1"/>
          <p:nvPr/>
        </p:nvSpPr>
        <p:spPr>
          <a:xfrm>
            <a:off x="971550" y="1998984"/>
            <a:ext cx="5064761" cy="273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9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b = a; c = a          </a:t>
            </a:r>
            <a:r>
              <a:rPr>
                <a:solidFill>
                  <a:srgbClr val="5C6370"/>
                </a:solidFill>
              </a:rPr>
              <a:t># any reference can change it</a:t>
            </a:r>
          </a:p>
        </p:txBody>
      </p:sp>
      <p:sp>
        <p:nvSpPr>
          <p:cNvPr id="631" name="Text 5"/>
          <p:cNvSpPr txBox="1"/>
          <p:nvPr/>
        </p:nvSpPr>
        <p:spPr>
          <a:xfrm>
            <a:off x="971550" y="2246634"/>
            <a:ext cx="4668521" cy="273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9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b.balance -= 1        </a:t>
            </a:r>
            <a:r>
              <a:rPr>
                <a:solidFill>
                  <a:srgbClr val="5C6370"/>
                </a:solidFill>
              </a:rPr>
              <a:t># no owner, no &amp;, no &amp;mut</a:t>
            </a:r>
          </a:p>
        </p:txBody>
      </p:sp>
      <p:sp>
        <p:nvSpPr>
          <p:cNvPr id="632" name="Shape 6"/>
          <p:cNvSpPr/>
          <p:nvPr/>
        </p:nvSpPr>
        <p:spPr>
          <a:xfrm>
            <a:off x="812800" y="2729234"/>
            <a:ext cx="4395788" cy="343536"/>
          </a:xfrm>
          <a:prstGeom prst="roundRect">
            <a:avLst>
              <a:gd name="adj" fmla="val 11091"/>
            </a:avLst>
          </a:prstGeom>
          <a:solidFill>
            <a:srgbClr val="EEF2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3" name="Shape 7"/>
          <p:cNvSpPr/>
          <p:nvPr/>
        </p:nvSpPr>
        <p:spPr>
          <a:xfrm>
            <a:off x="812799" y="2729234"/>
            <a:ext cx="38101" cy="3435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9671" y="21600"/>
                  <a:pt x="0" y="20527"/>
                  <a:pt x="0" y="19204"/>
                </a:cubicBezTo>
                <a:lnTo>
                  <a:pt x="0" y="2396"/>
                </a:lnTo>
                <a:cubicBezTo>
                  <a:pt x="0" y="1073"/>
                  <a:pt x="9671" y="0"/>
                  <a:pt x="21600" y="0"/>
                </a:cubicBezTo>
                <a:cubicBezTo>
                  <a:pt x="17624" y="0"/>
                  <a:pt x="14400" y="1073"/>
                  <a:pt x="14400" y="2396"/>
                </a:cubicBezTo>
                <a:lnTo>
                  <a:pt x="14400" y="19204"/>
                </a:lnTo>
                <a:cubicBezTo>
                  <a:pt x="14400" y="20527"/>
                  <a:pt x="17624" y="21600"/>
                  <a:pt x="2160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4" name="Text 8"/>
          <p:cNvSpPr txBox="1"/>
          <p:nvPr/>
        </p:nvSpPr>
        <p:spPr>
          <a:xfrm>
            <a:off x="965200" y="2795909"/>
            <a:ext cx="101600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from Act I</a:t>
            </a:r>
          </a:p>
        </p:txBody>
      </p:sp>
      <p:sp>
        <p:nvSpPr>
          <p:cNvPr id="635" name="Text 9"/>
          <p:cNvSpPr txBox="1"/>
          <p:nvPr/>
        </p:nvSpPr>
        <p:spPr>
          <a:xfrm>
            <a:off x="1981200" y="2792734"/>
            <a:ext cx="3227389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“Thread safety lives in the docs, not the code.”</a:t>
            </a:r>
          </a:p>
        </p:txBody>
      </p:sp>
      <p:sp>
        <p:nvSpPr>
          <p:cNvPr id="636" name="Text 10"/>
          <p:cNvSpPr txBox="1"/>
          <p:nvPr/>
        </p:nvSpPr>
        <p:spPr>
          <a:xfrm>
            <a:off x="812800" y="3199767"/>
            <a:ext cx="565099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Yet the runtime answers both questions for its own objects:</a:t>
            </a:r>
          </a:p>
        </p:txBody>
      </p:sp>
      <p:sp>
        <p:nvSpPr>
          <p:cNvPr id="637" name="Text 11"/>
          <p:cNvSpPr txBox="1"/>
          <p:nvPr/>
        </p:nvSpPr>
        <p:spPr>
          <a:xfrm>
            <a:off x="812800" y="3529967"/>
            <a:ext cx="565099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• Who holds it? → Reference counting, biased RC</a:t>
            </a:r>
          </a:p>
        </p:txBody>
      </p:sp>
      <p:sp>
        <p:nvSpPr>
          <p:cNvPr id="638" name="Text 12"/>
          <p:cNvSpPr txBox="1"/>
          <p:nvPr/>
        </p:nvSpPr>
        <p:spPr>
          <a:xfrm>
            <a:off x="812800" y="3860167"/>
            <a:ext cx="565099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• Who mutates it? → Per-object locks, critical sections</a:t>
            </a:r>
          </a:p>
        </p:txBody>
      </p:sp>
      <p:sp>
        <p:nvSpPr>
          <p:cNvPr id="639" name="Text 13"/>
          <p:cNvSpPr txBox="1"/>
          <p:nvPr/>
        </p:nvSpPr>
        <p:spPr>
          <a:xfrm>
            <a:off x="812800" y="4190367"/>
            <a:ext cx="5650992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100"/>
              </a:lnSpc>
              <a:defRPr sz="1500"/>
            </a:pPr>
            <a:r>
              <a:t>• Built for speed: optimistic lock-free reads</a:t>
            </a:r>
          </a:p>
          <a:p>
            <a:pPr>
              <a:lnSpc>
                <a:spcPts val="2100"/>
              </a:lnSpc>
              <a:defRPr sz="1500"/>
            </a:pPr>
            <a:r>
              <a:t>  (3.14t: ~5–10% single-thread overhead)</a:t>
            </a:r>
          </a:p>
        </p:txBody>
      </p:sp>
      <p:sp>
        <p:nvSpPr>
          <p:cNvPr id="640" name="Shape 14"/>
          <p:cNvSpPr/>
          <p:nvPr/>
        </p:nvSpPr>
        <p:spPr>
          <a:xfrm>
            <a:off x="6553200" y="4066542"/>
            <a:ext cx="4826000" cy="1521461"/>
          </a:xfrm>
          <a:prstGeom prst="rect">
            <a:avLst/>
          </a:prstGeom>
          <a:solidFill>
            <a:srgbClr val="F6F5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1" name="Text 15"/>
          <p:cNvSpPr txBox="1"/>
          <p:nvPr/>
        </p:nvSpPr>
        <p:spPr>
          <a:xfrm>
            <a:off x="7874000" y="4066542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Rust</a:t>
            </a:r>
          </a:p>
        </p:txBody>
      </p:sp>
      <p:sp>
        <p:nvSpPr>
          <p:cNvPr id="642" name="Text 16"/>
          <p:cNvSpPr txBox="1"/>
          <p:nvPr/>
        </p:nvSpPr>
        <p:spPr>
          <a:xfrm>
            <a:off x="9683750" y="4066542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643" name="Text 17"/>
          <p:cNvSpPr txBox="1"/>
          <p:nvPr/>
        </p:nvSpPr>
        <p:spPr>
          <a:xfrm>
            <a:off x="6553200" y="43688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Who holds it?</a:t>
            </a:r>
          </a:p>
        </p:txBody>
      </p:sp>
      <p:grpSp>
        <p:nvGrpSpPr>
          <p:cNvPr id="646" name="Text 18"/>
          <p:cNvGrpSpPr/>
          <p:nvPr/>
        </p:nvGrpSpPr>
        <p:grpSpPr>
          <a:xfrm>
            <a:off x="7804150" y="4324350"/>
            <a:ext cx="1758950" cy="317500"/>
            <a:chOff x="0" y="0"/>
            <a:chExt cx="1758950" cy="317500"/>
          </a:xfrm>
        </p:grpSpPr>
        <p:sp>
          <p:nvSpPr>
            <p:cNvPr id="644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645" name="owner · &amp; · &amp;mut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owner · &amp; · &amp;mut</a:t>
              </a:r>
            </a:p>
          </p:txBody>
        </p:sp>
      </p:grpSp>
      <p:sp>
        <p:nvSpPr>
          <p:cNvPr id="647" name="Shape 19"/>
          <p:cNvSpPr/>
          <p:nvPr/>
        </p:nvSpPr>
        <p:spPr>
          <a:xfrm>
            <a:off x="9613900" y="4324350"/>
            <a:ext cx="1758950" cy="317500"/>
          </a:xfrm>
          <a:prstGeom prst="roundRect">
            <a:avLst>
              <a:gd name="adj" fmla="val 10000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8" name="Text 20"/>
          <p:cNvSpPr txBox="1"/>
          <p:nvPr/>
        </p:nvSpPr>
        <p:spPr>
          <a:xfrm>
            <a:off x="6553200" y="4737100"/>
            <a:ext cx="12573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Is it mutated?</a:t>
            </a:r>
          </a:p>
        </p:txBody>
      </p:sp>
      <p:grpSp>
        <p:nvGrpSpPr>
          <p:cNvPr id="651" name="Text 21"/>
          <p:cNvGrpSpPr/>
          <p:nvPr/>
        </p:nvGrpSpPr>
        <p:grpSpPr>
          <a:xfrm>
            <a:off x="7804150" y="4692650"/>
            <a:ext cx="1758950" cy="520700"/>
            <a:chOff x="0" y="0"/>
            <a:chExt cx="1758950" cy="520700"/>
          </a:xfrm>
        </p:grpSpPr>
        <p:sp>
          <p:nvSpPr>
            <p:cNvPr id="649" name="圓角矩形"/>
            <p:cNvSpPr/>
            <p:nvPr/>
          </p:nvSpPr>
          <p:spPr>
            <a:xfrm>
              <a:off x="0" y="0"/>
              <a:ext cx="1758950" cy="520700"/>
            </a:xfrm>
            <a:prstGeom prst="roundRect">
              <a:avLst>
                <a:gd name="adj" fmla="val 6098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650" name="mut · &amp;mut ·…"/>
            <p:cNvSpPr txBox="1"/>
            <p:nvPr/>
          </p:nvSpPr>
          <p:spPr>
            <a:xfrm>
              <a:off x="66450" y="41049"/>
              <a:ext cx="1676850" cy="453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/>
            <a:p>
              <a: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pPr>
              <a:r>
                <a:t>mut · &amp;mut ·</a:t>
              </a:r>
            </a:p>
            <a:p>
              <a: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pPr>
              <a:r>
                <a:t>Mutex / Atomic</a:t>
              </a:r>
            </a:p>
          </p:txBody>
        </p:sp>
      </p:grpSp>
      <p:sp>
        <p:nvSpPr>
          <p:cNvPr id="652" name="Shape 22"/>
          <p:cNvSpPr/>
          <p:nvPr/>
        </p:nvSpPr>
        <p:spPr>
          <a:xfrm>
            <a:off x="9613900" y="4692650"/>
            <a:ext cx="1758950" cy="520700"/>
          </a:xfrm>
          <a:prstGeom prst="roundRect">
            <a:avLst>
              <a:gd name="adj" fmla="val 6098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3" name="Text 23"/>
          <p:cNvSpPr txBox="1"/>
          <p:nvPr/>
        </p:nvSpPr>
        <p:spPr>
          <a:xfrm>
            <a:off x="6553200" y="53086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Across threads</a:t>
            </a:r>
          </a:p>
        </p:txBody>
      </p:sp>
      <p:sp>
        <p:nvSpPr>
          <p:cNvPr id="654" name="Shape 24"/>
          <p:cNvSpPr/>
          <p:nvPr/>
        </p:nvSpPr>
        <p:spPr>
          <a:xfrm>
            <a:off x="7804150" y="5264150"/>
            <a:ext cx="1758950" cy="317500"/>
          </a:xfrm>
          <a:prstGeom prst="roundRect">
            <a:avLst>
              <a:gd name="adj" fmla="val 10000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5" name="Shape 25"/>
          <p:cNvSpPr/>
          <p:nvPr/>
        </p:nvSpPr>
        <p:spPr>
          <a:xfrm>
            <a:off x="9613900" y="5264150"/>
            <a:ext cx="1758950" cy="317500"/>
          </a:xfrm>
          <a:prstGeom prst="roundRect">
            <a:avLst>
              <a:gd name="adj" fmla="val 10000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6" name="Shape 26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7" name="Text 27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Python's syntax doesn't ask these questions. The runtime protects its own memory, not your logic.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Send: asked when you move it</a:t>
            </a:r>
          </a:p>
        </p:txBody>
      </p:sp>
      <p:sp>
        <p:nvSpPr>
          <p:cNvPr id="660" name="Text 1"/>
          <p:cNvSpPr txBox="1"/>
          <p:nvPr/>
        </p:nvSpPr>
        <p:spPr>
          <a:xfrm>
            <a:off x="812800" y="1353815"/>
            <a:ext cx="5650992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100"/>
              </a:lnSpc>
              <a:defRPr sz="1500"/>
            </a:pPr>
            <a:r>
              <a:t>When you move a value to another thread, the compiler asks Question 1 again: </a:t>
            </a:r>
            <a:r>
              <a:rPr>
                <a:latin typeface="IBM Plex Sans Bold"/>
                <a:ea typeface="IBM Plex Sans Bold"/>
                <a:cs typeface="IBM Plex Sans Bold"/>
                <a:sym typeface="IBM Plex Sans Bold"/>
              </a:rPr>
              <a:t>does anyone else still hold it?</a:t>
            </a:r>
          </a:p>
        </p:txBody>
      </p:sp>
      <p:grpSp>
        <p:nvGrpSpPr>
          <p:cNvPr id="663" name="Text 2"/>
          <p:cNvGrpSpPr/>
          <p:nvPr/>
        </p:nvGrpSpPr>
        <p:grpSpPr>
          <a:xfrm>
            <a:off x="815975" y="2017390"/>
            <a:ext cx="5480050" cy="415291"/>
            <a:chOff x="0" y="0"/>
            <a:chExt cx="5480050" cy="415290"/>
          </a:xfrm>
        </p:grpSpPr>
        <p:sp>
          <p:nvSpPr>
            <p:cNvPr id="661" name="圓角矩形"/>
            <p:cNvSpPr/>
            <p:nvPr/>
          </p:nvSpPr>
          <p:spPr>
            <a:xfrm>
              <a:off x="0" y="0"/>
              <a:ext cx="5480050" cy="415291"/>
            </a:xfrm>
            <a:prstGeom prst="roundRect">
              <a:avLst>
                <a:gd name="adj" fmla="val 17584"/>
              </a:avLst>
            </a:prstGeom>
            <a:solidFill>
              <a:srgbClr val="FDFCF9"/>
            </a:solidFill>
            <a:ln w="6350" cap="flat">
              <a:solidFill>
                <a:srgbClr val="DCD8C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800"/>
                </a:lnSpc>
                <a:defRPr sz="1300"/>
              </a:pPr>
            </a:p>
          </p:txBody>
        </p:sp>
        <p:sp>
          <p:nvSpPr>
            <p:cNvPr id="662" name="Send: ownership transfers cleanly (most types)."/>
            <p:cNvSpPr txBox="1"/>
            <p:nvPr/>
          </p:nvSpPr>
          <p:spPr>
            <a:xfrm>
              <a:off x="158750" y="95249"/>
              <a:ext cx="5296737" cy="2501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rmAutofit fontScale="100000" lnSpcReduction="0"/>
            </a:bodyPr>
            <a:lstStyle/>
            <a:p>
              <a:pPr>
                <a:lnSpc>
                  <a:spcPts val="1800"/>
                </a:lnSpc>
                <a:defRPr sz="1300">
                  <a:solidFill>
                    <a:schemeClr val="accent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defRPr>
              </a:pPr>
              <a:r>
                <a:t>Send</a:t>
              </a:r>
              <a:r>
                <a:rPr>
                  <a:solidFill>
                    <a:srgbClr val="1B1F27"/>
                  </a:solidFill>
                  <a:latin typeface="+mj-lt"/>
                  <a:ea typeface="+mj-ea"/>
                  <a:cs typeface="+mj-cs"/>
                  <a:sym typeface="IBM Plex Sans Regular"/>
                </a:rPr>
                <a:t>: ownership transfers cleanly (most types).</a:t>
              </a:r>
            </a:p>
          </p:txBody>
        </p:sp>
      </p:grpSp>
      <p:grpSp>
        <p:nvGrpSpPr>
          <p:cNvPr id="666" name="Text 3"/>
          <p:cNvGrpSpPr/>
          <p:nvPr/>
        </p:nvGrpSpPr>
        <p:grpSpPr>
          <a:xfrm>
            <a:off x="815975" y="2515244"/>
            <a:ext cx="5480050" cy="646431"/>
            <a:chOff x="0" y="0"/>
            <a:chExt cx="5480050" cy="646430"/>
          </a:xfrm>
        </p:grpSpPr>
        <p:sp>
          <p:nvSpPr>
            <p:cNvPr id="664" name="圓角矩形"/>
            <p:cNvSpPr/>
            <p:nvPr/>
          </p:nvSpPr>
          <p:spPr>
            <a:xfrm>
              <a:off x="0" y="0"/>
              <a:ext cx="5480050" cy="646431"/>
            </a:xfrm>
            <a:prstGeom prst="roundRect">
              <a:avLst>
                <a:gd name="adj" fmla="val 11297"/>
              </a:avLst>
            </a:prstGeom>
            <a:solidFill>
              <a:srgbClr val="FDFCF9"/>
            </a:solidFill>
            <a:ln w="6350" cap="flat">
              <a:solidFill>
                <a:srgbClr val="DCD8C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800"/>
                </a:lnSpc>
                <a:defRPr sz="1300"/>
              </a:pPr>
            </a:p>
          </p:txBody>
        </p:sp>
        <p:sp>
          <p:nvSpPr>
            <p:cNvPr id="665" name="!Send: leaves a hidden string attached: Rc (unsynchronized counter), MutexGuard (tied to the locking thread)."/>
            <p:cNvSpPr txBox="1"/>
            <p:nvPr/>
          </p:nvSpPr>
          <p:spPr>
            <a:xfrm>
              <a:off x="158751" y="95250"/>
              <a:ext cx="5296735" cy="481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rmAutofit fontScale="100000" lnSpcReduction="0"/>
            </a:bodyPr>
            <a:lstStyle/>
            <a:p>
              <a:pPr>
                <a:lnSpc>
                  <a:spcPts val="1800"/>
                </a:lnSpc>
                <a:defRPr sz="1300">
                  <a:solidFill>
                    <a:schemeClr val="accent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defRPr>
              </a:pPr>
              <a:r>
                <a:t>!Send</a:t>
              </a:r>
              <a:r>
                <a:rPr>
                  <a:solidFill>
                    <a:srgbClr val="1B1F27"/>
                  </a:solidFill>
                  <a:latin typeface="+mj-lt"/>
                  <a:ea typeface="+mj-ea"/>
                  <a:cs typeface="+mj-cs"/>
                  <a:sym typeface="IBM Plex Sans Regular"/>
                </a:rPr>
                <a:t>: leaves a hidden string attached: </a:t>
              </a:r>
              <a:r>
                <a:t>Rc</a:t>
              </a:r>
              <a:r>
                <a:rPr>
                  <a:solidFill>
                    <a:srgbClr val="1B1F27"/>
                  </a:solidFill>
                  <a:latin typeface="+mj-lt"/>
                  <a:ea typeface="+mj-ea"/>
                  <a:cs typeface="+mj-cs"/>
                  <a:sym typeface="IBM Plex Sans Regular"/>
                </a:rPr>
                <a:t> (unsynchronized counter), </a:t>
              </a:r>
              <a:r>
                <a:t>MutexGuard</a:t>
              </a:r>
              <a:r>
                <a:rPr>
                  <a:solidFill>
                    <a:srgbClr val="1B1F27"/>
                  </a:solidFill>
                  <a:latin typeface="+mj-lt"/>
                  <a:ea typeface="+mj-ea"/>
                  <a:cs typeface="+mj-cs"/>
                  <a:sym typeface="IBM Plex Sans Regular"/>
                </a:rPr>
                <a:t> (tied to the locking thread).</a:t>
              </a:r>
            </a:p>
          </p:txBody>
        </p:sp>
      </p:grpSp>
      <p:sp>
        <p:nvSpPr>
          <p:cNvPr id="667" name="Shape 4"/>
          <p:cNvSpPr/>
          <p:nvPr/>
        </p:nvSpPr>
        <p:spPr>
          <a:xfrm>
            <a:off x="815975" y="3244205"/>
            <a:ext cx="5480050" cy="646431"/>
          </a:xfrm>
          <a:prstGeom prst="roundRect">
            <a:avLst>
              <a:gd name="adj" fmla="val 11297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8" name="Text 5"/>
          <p:cNvSpPr txBox="1"/>
          <p:nvPr/>
        </p:nvSpPr>
        <p:spPr>
          <a:xfrm>
            <a:off x="971550" y="3336280"/>
            <a:ext cx="64516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Arc&lt;T&gt;</a:t>
            </a:r>
          </a:p>
        </p:txBody>
      </p:sp>
      <p:sp>
        <p:nvSpPr>
          <p:cNvPr id="669" name="Text 6"/>
          <p:cNvSpPr txBox="1"/>
          <p:nvPr/>
        </p:nvSpPr>
        <p:spPr>
          <a:xfrm>
            <a:off x="1565910" y="3336280"/>
            <a:ext cx="13800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: </a:t>
            </a:r>
          </a:p>
        </p:txBody>
      </p:sp>
      <p:sp>
        <p:nvSpPr>
          <p:cNvPr id="670" name="Text 7"/>
          <p:cNvSpPr txBox="1"/>
          <p:nvPr/>
        </p:nvSpPr>
        <p:spPr>
          <a:xfrm>
            <a:off x="1653116" y="3336280"/>
            <a:ext cx="43497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uses </a:t>
            </a:r>
          </a:p>
        </p:txBody>
      </p:sp>
      <p:sp>
        <p:nvSpPr>
          <p:cNvPr id="671" name="Text 8"/>
          <p:cNvSpPr txBox="1"/>
          <p:nvPr/>
        </p:nvSpPr>
        <p:spPr>
          <a:xfrm>
            <a:off x="2037291" y="3336280"/>
            <a:ext cx="27167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an </a:t>
            </a:r>
          </a:p>
        </p:txBody>
      </p:sp>
      <p:sp>
        <p:nvSpPr>
          <p:cNvPr id="672" name="Text 9"/>
          <p:cNvSpPr txBox="1"/>
          <p:nvPr/>
        </p:nvSpPr>
        <p:spPr>
          <a:xfrm>
            <a:off x="2258166" y="3336280"/>
            <a:ext cx="59616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atomic </a:t>
            </a:r>
          </a:p>
        </p:txBody>
      </p:sp>
      <p:sp>
        <p:nvSpPr>
          <p:cNvPr id="673" name="Text 10"/>
          <p:cNvSpPr txBox="1"/>
          <p:nvPr/>
        </p:nvSpPr>
        <p:spPr>
          <a:xfrm>
            <a:off x="2803525" y="3336280"/>
            <a:ext cx="69193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counter, </a:t>
            </a:r>
          </a:p>
        </p:txBody>
      </p:sp>
      <p:sp>
        <p:nvSpPr>
          <p:cNvPr id="674" name="Text 11"/>
          <p:cNvSpPr txBox="1"/>
          <p:nvPr/>
        </p:nvSpPr>
        <p:spPr>
          <a:xfrm>
            <a:off x="3444662" y="3336280"/>
            <a:ext cx="26268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so </a:t>
            </a:r>
          </a:p>
        </p:txBody>
      </p:sp>
      <p:sp>
        <p:nvSpPr>
          <p:cNvPr id="675" name="Text 12"/>
          <p:cNvSpPr txBox="1"/>
          <p:nvPr/>
        </p:nvSpPr>
        <p:spPr>
          <a:xfrm>
            <a:off x="3656541" y="3336280"/>
            <a:ext cx="30945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it's </a:t>
            </a:r>
          </a:p>
        </p:txBody>
      </p:sp>
      <p:sp>
        <p:nvSpPr>
          <p:cNvPr id="676" name="Text 13"/>
          <p:cNvSpPr txBox="1"/>
          <p:nvPr/>
        </p:nvSpPr>
        <p:spPr>
          <a:xfrm>
            <a:off x="3915197" y="3336280"/>
            <a:ext cx="46577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Send </a:t>
            </a:r>
          </a:p>
        </p:txBody>
      </p:sp>
      <p:sp>
        <p:nvSpPr>
          <p:cNvPr id="677" name="Text 14"/>
          <p:cNvSpPr txBox="1"/>
          <p:nvPr/>
        </p:nvSpPr>
        <p:spPr>
          <a:xfrm>
            <a:off x="4330170" y="3336280"/>
            <a:ext cx="31369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(as </a:t>
            </a:r>
          </a:p>
        </p:txBody>
      </p:sp>
      <p:sp>
        <p:nvSpPr>
          <p:cNvPr id="678" name="Text 15"/>
          <p:cNvSpPr txBox="1"/>
          <p:nvPr/>
        </p:nvSpPr>
        <p:spPr>
          <a:xfrm>
            <a:off x="4593061" y="3336280"/>
            <a:ext cx="40809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long </a:t>
            </a:r>
          </a:p>
        </p:txBody>
      </p:sp>
      <p:sp>
        <p:nvSpPr>
          <p:cNvPr id="679" name="Text 16"/>
          <p:cNvSpPr txBox="1"/>
          <p:nvPr/>
        </p:nvSpPr>
        <p:spPr>
          <a:xfrm>
            <a:off x="4950354" y="3336280"/>
            <a:ext cx="25834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as </a:t>
            </a:r>
          </a:p>
        </p:txBody>
      </p:sp>
      <p:sp>
        <p:nvSpPr>
          <p:cNvPr id="680" name="Text 17"/>
          <p:cNvSpPr txBox="1"/>
          <p:nvPr/>
        </p:nvSpPr>
        <p:spPr>
          <a:xfrm>
            <a:off x="5157892" y="3336280"/>
            <a:ext cx="18415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T </a:t>
            </a:r>
          </a:p>
        </p:txBody>
      </p:sp>
      <p:sp>
        <p:nvSpPr>
          <p:cNvPr id="681" name="Text 18"/>
          <p:cNvSpPr txBox="1"/>
          <p:nvPr/>
        </p:nvSpPr>
        <p:spPr>
          <a:xfrm>
            <a:off x="5291242" y="3336280"/>
            <a:ext cx="45836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itself </a:t>
            </a:r>
          </a:p>
        </p:txBody>
      </p:sp>
      <p:sp>
        <p:nvSpPr>
          <p:cNvPr id="682" name="Text 19"/>
          <p:cNvSpPr txBox="1"/>
          <p:nvPr/>
        </p:nvSpPr>
        <p:spPr>
          <a:xfrm>
            <a:off x="5698807" y="3336280"/>
            <a:ext cx="21145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is </a:t>
            </a:r>
          </a:p>
        </p:txBody>
      </p:sp>
      <p:sp>
        <p:nvSpPr>
          <p:cNvPr id="683" name="Text 20"/>
          <p:cNvSpPr txBox="1"/>
          <p:nvPr/>
        </p:nvSpPr>
        <p:spPr>
          <a:xfrm>
            <a:off x="971550" y="3567434"/>
            <a:ext cx="46577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Send </a:t>
            </a:r>
          </a:p>
        </p:txBody>
      </p:sp>
      <p:sp>
        <p:nvSpPr>
          <p:cNvPr id="684" name="Text 21"/>
          <p:cNvSpPr txBox="1"/>
          <p:nvPr/>
        </p:nvSpPr>
        <p:spPr>
          <a:xfrm>
            <a:off x="1386523" y="3567434"/>
            <a:ext cx="18880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+ </a:t>
            </a:r>
          </a:p>
        </p:txBody>
      </p:sp>
      <p:sp>
        <p:nvSpPr>
          <p:cNvPr id="685" name="Text 22"/>
          <p:cNvSpPr txBox="1"/>
          <p:nvPr/>
        </p:nvSpPr>
        <p:spPr>
          <a:xfrm>
            <a:off x="1524529" y="3567434"/>
            <a:ext cx="54635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Sync).</a:t>
            </a:r>
          </a:p>
        </p:txBody>
      </p:sp>
      <p:sp>
        <p:nvSpPr>
          <p:cNvPr id="686" name="Shape 23"/>
          <p:cNvSpPr/>
          <p:nvPr/>
        </p:nvSpPr>
        <p:spPr>
          <a:xfrm>
            <a:off x="6556375" y="1355725"/>
            <a:ext cx="4819650" cy="2363471"/>
          </a:xfrm>
          <a:prstGeom prst="roundRect">
            <a:avLst>
              <a:gd name="adj" fmla="val 3090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689" name="Text 24"/>
          <p:cNvGrpSpPr/>
          <p:nvPr/>
        </p:nvGrpSpPr>
        <p:grpSpPr>
          <a:xfrm>
            <a:off x="6559550" y="1358900"/>
            <a:ext cx="4813300" cy="289560"/>
            <a:chOff x="0" y="0"/>
            <a:chExt cx="4813300" cy="289559"/>
          </a:xfrm>
        </p:grpSpPr>
        <p:sp>
          <p:nvSpPr>
            <p:cNvPr id="687" name="形狀"/>
            <p:cNvSpPr/>
            <p:nvPr/>
          </p:nvSpPr>
          <p:spPr>
            <a:xfrm>
              <a:off x="0" y="0"/>
              <a:ext cx="4813300" cy="2895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11"/>
                  </a:moveTo>
                  <a:cubicBezTo>
                    <a:pt x="0" y="2333"/>
                    <a:pt x="140" y="0"/>
                    <a:pt x="313" y="0"/>
                  </a:cubicBezTo>
                  <a:lnTo>
                    <a:pt x="21287" y="0"/>
                  </a:lnTo>
                  <a:cubicBezTo>
                    <a:pt x="21460" y="0"/>
                    <a:pt x="21600" y="2333"/>
                    <a:pt x="21600" y="5211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600"/>
                </a:lnSpc>
                <a:defRPr sz="1200"/>
              </a:pPr>
            </a:p>
          </p:txBody>
        </p:sp>
        <p:sp>
          <p:nvSpPr>
            <p:cNvPr id="688" name="Python mirror"/>
            <p:cNvSpPr txBox="1"/>
            <p:nvPr/>
          </p:nvSpPr>
          <p:spPr>
            <a:xfrm>
              <a:off x="139700" y="25400"/>
              <a:ext cx="4533900" cy="2641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2700" tIns="12700" rIns="12700" bIns="12700" numCol="1" anchor="t">
              <a:normAutofit fontScale="100000" lnSpcReduction="0"/>
            </a:bodyPr>
            <a:lstStyle>
              <a:lvl1pPr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Python mirror</a:t>
              </a:r>
            </a:p>
          </p:txBody>
        </p:sp>
      </p:grpSp>
      <p:sp>
        <p:nvSpPr>
          <p:cNvPr id="690" name="Text 25"/>
          <p:cNvSpPr txBox="1"/>
          <p:nvPr/>
        </p:nvSpPr>
        <p:spPr>
          <a:xfrm>
            <a:off x="6711950" y="1724657"/>
            <a:ext cx="4371340" cy="264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jobs = queue.Queue()  </a:t>
            </a:r>
            <a:r>
              <a:rPr>
                <a:solidFill>
                  <a:srgbClr val="5C6370"/>
                </a:solidFill>
              </a:rPr>
              <a:t># thread-safe hand-off</a:t>
            </a:r>
          </a:p>
        </p:txBody>
      </p:sp>
      <p:sp>
        <p:nvSpPr>
          <p:cNvPr id="691" name="Text 26"/>
          <p:cNvSpPr txBox="1"/>
          <p:nvPr/>
        </p:nvSpPr>
        <p:spPr>
          <a:xfrm>
            <a:off x="6711950" y="2203450"/>
            <a:ext cx="1696720" cy="264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# producer thread</a:t>
            </a:r>
          </a:p>
        </p:txBody>
      </p:sp>
      <p:sp>
        <p:nvSpPr>
          <p:cNvPr id="692" name="Text 27"/>
          <p:cNvSpPr txBox="1"/>
          <p:nvPr/>
        </p:nvSpPr>
        <p:spPr>
          <a:xfrm>
            <a:off x="6711950" y="2442840"/>
            <a:ext cx="4569460" cy="264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jobs.put(job)         </a:t>
            </a:r>
            <a:r>
              <a:rPr>
                <a:solidFill>
                  <a:srgbClr val="5C6370"/>
                </a:solidFill>
              </a:rPr>
              <a:t># mental Send: hands off</a:t>
            </a:r>
          </a:p>
        </p:txBody>
      </p:sp>
      <p:sp>
        <p:nvSpPr>
          <p:cNvPr id="693" name="Text 28"/>
          <p:cNvSpPr txBox="1"/>
          <p:nvPr/>
        </p:nvSpPr>
        <p:spPr>
          <a:xfrm>
            <a:off x="6711950" y="2682230"/>
            <a:ext cx="2984501" cy="264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# ...and never touch job again</a:t>
            </a:r>
          </a:p>
        </p:txBody>
      </p:sp>
      <p:sp>
        <p:nvSpPr>
          <p:cNvPr id="694" name="Text 29"/>
          <p:cNvSpPr txBox="1"/>
          <p:nvPr/>
        </p:nvSpPr>
        <p:spPr>
          <a:xfrm>
            <a:off x="6711950" y="3161034"/>
            <a:ext cx="1498600" cy="264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# worker thread</a:t>
            </a:r>
          </a:p>
        </p:txBody>
      </p:sp>
      <p:sp>
        <p:nvSpPr>
          <p:cNvPr id="695" name="Text 30"/>
          <p:cNvSpPr txBox="1"/>
          <p:nvPr/>
        </p:nvSpPr>
        <p:spPr>
          <a:xfrm>
            <a:off x="6711950" y="3400425"/>
            <a:ext cx="3876040" cy="264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job = jobs.get()      </a:t>
            </a:r>
            <a:r>
              <a:rPr>
                <a:solidFill>
                  <a:srgbClr val="5C6370"/>
                </a:solidFill>
              </a:rPr>
              <a:t># now it's theirs</a:t>
            </a:r>
          </a:p>
        </p:txBody>
      </p:sp>
      <p:sp>
        <p:nvSpPr>
          <p:cNvPr id="696" name="Shape 31"/>
          <p:cNvSpPr/>
          <p:nvPr/>
        </p:nvSpPr>
        <p:spPr>
          <a:xfrm>
            <a:off x="6553200" y="4066530"/>
            <a:ext cx="4826000" cy="1521461"/>
          </a:xfrm>
          <a:prstGeom prst="rect">
            <a:avLst/>
          </a:prstGeom>
          <a:solidFill>
            <a:srgbClr val="F6F5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7" name="Text 32"/>
          <p:cNvSpPr txBox="1"/>
          <p:nvPr/>
        </p:nvSpPr>
        <p:spPr>
          <a:xfrm>
            <a:off x="7874000" y="4066530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Rust</a:t>
            </a:r>
          </a:p>
        </p:txBody>
      </p:sp>
      <p:sp>
        <p:nvSpPr>
          <p:cNvPr id="698" name="Text 33"/>
          <p:cNvSpPr txBox="1"/>
          <p:nvPr/>
        </p:nvSpPr>
        <p:spPr>
          <a:xfrm>
            <a:off x="9683750" y="4066530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699" name="Text 34"/>
          <p:cNvSpPr txBox="1"/>
          <p:nvPr/>
        </p:nvSpPr>
        <p:spPr>
          <a:xfrm>
            <a:off x="6553200" y="43688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Who holds it?</a:t>
            </a:r>
          </a:p>
        </p:txBody>
      </p:sp>
      <p:grpSp>
        <p:nvGrpSpPr>
          <p:cNvPr id="702" name="Text 35"/>
          <p:cNvGrpSpPr/>
          <p:nvPr/>
        </p:nvGrpSpPr>
        <p:grpSpPr>
          <a:xfrm>
            <a:off x="7804150" y="4324350"/>
            <a:ext cx="1758950" cy="317500"/>
            <a:chOff x="0" y="0"/>
            <a:chExt cx="1758950" cy="317500"/>
          </a:xfrm>
        </p:grpSpPr>
        <p:sp>
          <p:nvSpPr>
            <p:cNvPr id="700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701" name="owner · &amp; · &amp;mut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owner · &amp; · &amp;mut</a:t>
              </a:r>
            </a:p>
          </p:txBody>
        </p:sp>
      </p:grpSp>
      <p:sp>
        <p:nvSpPr>
          <p:cNvPr id="703" name="Shape 36"/>
          <p:cNvSpPr/>
          <p:nvPr/>
        </p:nvSpPr>
        <p:spPr>
          <a:xfrm>
            <a:off x="9613900" y="4324350"/>
            <a:ext cx="1758950" cy="317500"/>
          </a:xfrm>
          <a:prstGeom prst="roundRect">
            <a:avLst>
              <a:gd name="adj" fmla="val 10000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4" name="Text 37"/>
          <p:cNvSpPr txBox="1"/>
          <p:nvPr/>
        </p:nvSpPr>
        <p:spPr>
          <a:xfrm>
            <a:off x="6553200" y="4737100"/>
            <a:ext cx="12573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Is it mutated?</a:t>
            </a:r>
          </a:p>
        </p:txBody>
      </p:sp>
      <p:grpSp>
        <p:nvGrpSpPr>
          <p:cNvPr id="707" name="Text 38"/>
          <p:cNvGrpSpPr/>
          <p:nvPr/>
        </p:nvGrpSpPr>
        <p:grpSpPr>
          <a:xfrm>
            <a:off x="7804150" y="4692650"/>
            <a:ext cx="1758950" cy="520700"/>
            <a:chOff x="0" y="0"/>
            <a:chExt cx="1758950" cy="520700"/>
          </a:xfrm>
        </p:grpSpPr>
        <p:sp>
          <p:nvSpPr>
            <p:cNvPr id="705" name="圓角矩形"/>
            <p:cNvSpPr/>
            <p:nvPr/>
          </p:nvSpPr>
          <p:spPr>
            <a:xfrm>
              <a:off x="0" y="0"/>
              <a:ext cx="1758950" cy="520700"/>
            </a:xfrm>
            <a:prstGeom prst="roundRect">
              <a:avLst>
                <a:gd name="adj" fmla="val 6098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706" name="mut · &amp;mut ·…"/>
            <p:cNvSpPr txBox="1"/>
            <p:nvPr/>
          </p:nvSpPr>
          <p:spPr>
            <a:xfrm>
              <a:off x="66450" y="41049"/>
              <a:ext cx="1676850" cy="453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/>
            <a:p>
              <a: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pPr>
              <a:r>
                <a:t>mut · &amp;mut ·</a:t>
              </a:r>
            </a:p>
            <a:p>
              <a: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pPr>
              <a:r>
                <a:t>Mutex / Atomic</a:t>
              </a:r>
            </a:p>
          </p:txBody>
        </p:sp>
      </p:grpSp>
      <p:sp>
        <p:nvSpPr>
          <p:cNvPr id="708" name="Shape 39"/>
          <p:cNvSpPr/>
          <p:nvPr/>
        </p:nvSpPr>
        <p:spPr>
          <a:xfrm>
            <a:off x="9613900" y="4692650"/>
            <a:ext cx="1758950" cy="520700"/>
          </a:xfrm>
          <a:prstGeom prst="roundRect">
            <a:avLst>
              <a:gd name="adj" fmla="val 6098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9" name="Text 40"/>
          <p:cNvSpPr txBox="1"/>
          <p:nvPr/>
        </p:nvSpPr>
        <p:spPr>
          <a:xfrm>
            <a:off x="6553200" y="53086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Across threads</a:t>
            </a:r>
          </a:p>
        </p:txBody>
      </p:sp>
      <p:grpSp>
        <p:nvGrpSpPr>
          <p:cNvPr id="712" name="Text 41"/>
          <p:cNvGrpSpPr/>
          <p:nvPr/>
        </p:nvGrpSpPr>
        <p:grpSpPr>
          <a:xfrm>
            <a:off x="7804150" y="5264150"/>
            <a:ext cx="1758950" cy="317500"/>
            <a:chOff x="0" y="0"/>
            <a:chExt cx="1758950" cy="317500"/>
          </a:xfrm>
        </p:grpSpPr>
        <p:sp>
          <p:nvSpPr>
            <p:cNvPr id="710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711" name="Send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Send</a:t>
              </a:r>
            </a:p>
          </p:txBody>
        </p:sp>
      </p:grpSp>
      <p:sp>
        <p:nvSpPr>
          <p:cNvPr id="713" name="Shape 42"/>
          <p:cNvSpPr/>
          <p:nvPr/>
        </p:nvSpPr>
        <p:spPr>
          <a:xfrm>
            <a:off x="9613900" y="5264150"/>
            <a:ext cx="1758950" cy="317500"/>
          </a:xfrm>
          <a:prstGeom prst="roundRect">
            <a:avLst>
              <a:gd name="adj" fmla="val 10000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4" name="Shape 43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5" name="Text 44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Moving data across threads triggers the first question all over again.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Sync: asked when you share it</a:t>
            </a:r>
          </a:p>
        </p:txBody>
      </p:sp>
      <p:sp>
        <p:nvSpPr>
          <p:cNvPr id="718" name="Text 1"/>
          <p:cNvSpPr txBox="1"/>
          <p:nvPr/>
        </p:nvSpPr>
        <p:spPr>
          <a:xfrm>
            <a:off x="812800" y="1353815"/>
            <a:ext cx="58642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When </a:t>
            </a:r>
          </a:p>
        </p:txBody>
      </p:sp>
      <p:sp>
        <p:nvSpPr>
          <p:cNvPr id="719" name="Text 2"/>
          <p:cNvSpPr txBox="1"/>
          <p:nvPr/>
        </p:nvSpPr>
        <p:spPr>
          <a:xfrm>
            <a:off x="1348423" y="1353815"/>
            <a:ext cx="80253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multiple </a:t>
            </a:r>
          </a:p>
        </p:txBody>
      </p:sp>
      <p:sp>
        <p:nvSpPr>
          <p:cNvPr id="720" name="Text 3"/>
          <p:cNvSpPr txBox="1"/>
          <p:nvPr/>
        </p:nvSpPr>
        <p:spPr>
          <a:xfrm>
            <a:off x="2100157" y="1353815"/>
            <a:ext cx="749407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threads </a:t>
            </a:r>
          </a:p>
        </p:txBody>
      </p:sp>
      <p:sp>
        <p:nvSpPr>
          <p:cNvPr id="721" name="Text 4"/>
          <p:cNvSpPr txBox="1"/>
          <p:nvPr/>
        </p:nvSpPr>
        <p:spPr>
          <a:xfrm>
            <a:off x="2798763" y="1353815"/>
            <a:ext cx="57203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share </a:t>
            </a:r>
          </a:p>
        </p:txBody>
      </p:sp>
      <p:sp>
        <p:nvSpPr>
          <p:cNvPr id="722" name="Text 5"/>
          <p:cNvSpPr txBox="1"/>
          <p:nvPr/>
        </p:nvSpPr>
        <p:spPr>
          <a:xfrm>
            <a:off x="3319991" y="1353815"/>
            <a:ext cx="19748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a </a:t>
            </a:r>
          </a:p>
        </p:txBody>
      </p:sp>
      <p:sp>
        <p:nvSpPr>
          <p:cNvPr id="723" name="Text 6"/>
          <p:cNvSpPr txBox="1"/>
          <p:nvPr/>
        </p:nvSpPr>
        <p:spPr>
          <a:xfrm>
            <a:off x="3466677" y="1353815"/>
            <a:ext cx="2794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&amp; </a:t>
            </a:r>
          </a:p>
        </p:txBody>
      </p:sp>
      <p:sp>
        <p:nvSpPr>
          <p:cNvPr id="724" name="Text 7"/>
          <p:cNvSpPr txBox="1"/>
          <p:nvPr/>
        </p:nvSpPr>
        <p:spPr>
          <a:xfrm>
            <a:off x="3695277" y="1353815"/>
            <a:ext cx="96393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reference, </a:t>
            </a:r>
          </a:p>
        </p:txBody>
      </p:sp>
      <p:sp>
        <p:nvSpPr>
          <p:cNvPr id="725" name="Text 8"/>
          <p:cNvSpPr txBox="1"/>
          <p:nvPr/>
        </p:nvSpPr>
        <p:spPr>
          <a:xfrm>
            <a:off x="4608407" y="1353815"/>
            <a:ext cx="37539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the </a:t>
            </a:r>
          </a:p>
        </p:txBody>
      </p:sp>
      <p:sp>
        <p:nvSpPr>
          <p:cNvPr id="726" name="Text 9"/>
          <p:cNvSpPr txBox="1"/>
          <p:nvPr/>
        </p:nvSpPr>
        <p:spPr>
          <a:xfrm>
            <a:off x="4932996" y="1353815"/>
            <a:ext cx="847938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compiler </a:t>
            </a:r>
          </a:p>
        </p:txBody>
      </p:sp>
      <p:sp>
        <p:nvSpPr>
          <p:cNvPr id="727" name="Text 10"/>
          <p:cNvSpPr txBox="1"/>
          <p:nvPr/>
        </p:nvSpPr>
        <p:spPr>
          <a:xfrm>
            <a:off x="5730133" y="1353815"/>
            <a:ext cx="517018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asks </a:t>
            </a:r>
          </a:p>
        </p:txBody>
      </p:sp>
      <p:sp>
        <p:nvSpPr>
          <p:cNvPr id="728" name="Text 11"/>
          <p:cNvSpPr txBox="1"/>
          <p:nvPr/>
        </p:nvSpPr>
        <p:spPr>
          <a:xfrm>
            <a:off x="812800" y="1620515"/>
            <a:ext cx="86413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Question </a:t>
            </a:r>
          </a:p>
        </p:txBody>
      </p:sp>
      <p:sp>
        <p:nvSpPr>
          <p:cNvPr id="729" name="Text 12"/>
          <p:cNvSpPr txBox="1"/>
          <p:nvPr/>
        </p:nvSpPr>
        <p:spPr>
          <a:xfrm>
            <a:off x="1626129" y="1620515"/>
            <a:ext cx="210079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2 </a:t>
            </a:r>
          </a:p>
        </p:txBody>
      </p:sp>
      <p:sp>
        <p:nvSpPr>
          <p:cNvPr id="730" name="Text 13"/>
          <p:cNvSpPr txBox="1"/>
          <p:nvPr/>
        </p:nvSpPr>
        <p:spPr>
          <a:xfrm>
            <a:off x="1785408" y="1620515"/>
            <a:ext cx="610659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again: </a:t>
            </a:r>
          </a:p>
        </p:txBody>
      </p:sp>
      <p:sp>
        <p:nvSpPr>
          <p:cNvPr id="731" name="Text 14"/>
          <p:cNvSpPr txBox="1"/>
          <p:nvPr/>
        </p:nvSpPr>
        <p:spPr>
          <a:xfrm>
            <a:off x="2345266" y="1620515"/>
            <a:ext cx="41190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can </a:t>
            </a:r>
          </a:p>
        </p:txBody>
      </p:sp>
      <p:sp>
        <p:nvSpPr>
          <p:cNvPr id="732" name="Text 15"/>
          <p:cNvSpPr txBox="1"/>
          <p:nvPr/>
        </p:nvSpPr>
        <p:spPr>
          <a:xfrm>
            <a:off x="2706370" y="1620515"/>
            <a:ext cx="7366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anyone </a:t>
            </a:r>
          </a:p>
        </p:txBody>
      </p:sp>
      <p:sp>
        <p:nvSpPr>
          <p:cNvPr id="733" name="Text 16"/>
          <p:cNvSpPr txBox="1"/>
          <p:nvPr/>
        </p:nvSpPr>
        <p:spPr>
          <a:xfrm>
            <a:off x="3392170" y="1620515"/>
            <a:ext cx="80052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secretly </a:t>
            </a:r>
          </a:p>
        </p:txBody>
      </p:sp>
      <p:sp>
        <p:nvSpPr>
          <p:cNvPr id="734" name="Text 17"/>
          <p:cNvSpPr txBox="1"/>
          <p:nvPr/>
        </p:nvSpPr>
        <p:spPr>
          <a:xfrm>
            <a:off x="4141892" y="1620515"/>
            <a:ext cx="55573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write </a:t>
            </a:r>
          </a:p>
        </p:txBody>
      </p:sp>
      <p:sp>
        <p:nvSpPr>
          <p:cNvPr id="735" name="Text 18"/>
          <p:cNvSpPr txBox="1"/>
          <p:nvPr/>
        </p:nvSpPr>
        <p:spPr>
          <a:xfrm>
            <a:off x="4646824" y="1620515"/>
            <a:ext cx="27347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to </a:t>
            </a:r>
          </a:p>
        </p:txBody>
      </p:sp>
      <p:sp>
        <p:nvSpPr>
          <p:cNvPr id="736" name="Text 19"/>
          <p:cNvSpPr txBox="1"/>
          <p:nvPr/>
        </p:nvSpPr>
        <p:spPr>
          <a:xfrm>
            <a:off x="4869496" y="1620515"/>
            <a:ext cx="268289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it?</a:t>
            </a:r>
          </a:p>
        </p:txBody>
      </p:sp>
      <p:sp>
        <p:nvSpPr>
          <p:cNvPr id="737" name="Shape 20"/>
          <p:cNvSpPr/>
          <p:nvPr/>
        </p:nvSpPr>
        <p:spPr>
          <a:xfrm>
            <a:off x="815975" y="2017390"/>
            <a:ext cx="5480050" cy="646431"/>
          </a:xfrm>
          <a:prstGeom prst="roundRect">
            <a:avLst>
              <a:gd name="adj" fmla="val 11297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8" name="Text 21"/>
          <p:cNvSpPr txBox="1"/>
          <p:nvPr/>
        </p:nvSpPr>
        <p:spPr>
          <a:xfrm>
            <a:off x="971550" y="2109465"/>
            <a:ext cx="67786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Interior </a:t>
            </a:r>
          </a:p>
        </p:txBody>
      </p:sp>
      <p:sp>
        <p:nvSpPr>
          <p:cNvPr id="739" name="Text 22"/>
          <p:cNvSpPr txBox="1"/>
          <p:nvPr/>
        </p:nvSpPr>
        <p:spPr>
          <a:xfrm>
            <a:off x="1598612" y="2109465"/>
            <a:ext cx="922233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mutability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: </a:t>
            </a:r>
          </a:p>
        </p:txBody>
      </p:sp>
      <p:sp>
        <p:nvSpPr>
          <p:cNvPr id="740" name="Text 23"/>
          <p:cNvSpPr txBox="1"/>
          <p:nvPr/>
        </p:nvSpPr>
        <p:spPr>
          <a:xfrm>
            <a:off x="2470043" y="2109465"/>
            <a:ext cx="17790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 </a:t>
            </a:r>
          </a:p>
        </p:txBody>
      </p:sp>
      <p:sp>
        <p:nvSpPr>
          <p:cNvPr id="741" name="Text 24"/>
          <p:cNvSpPr txBox="1"/>
          <p:nvPr/>
        </p:nvSpPr>
        <p:spPr>
          <a:xfrm>
            <a:off x="2597150" y="2109465"/>
            <a:ext cx="66452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method </a:t>
            </a:r>
          </a:p>
        </p:txBody>
      </p:sp>
      <p:sp>
        <p:nvSpPr>
          <p:cNvPr id="742" name="Text 25"/>
          <p:cNvSpPr txBox="1"/>
          <p:nvPr/>
        </p:nvSpPr>
        <p:spPr>
          <a:xfrm>
            <a:off x="3210877" y="2109465"/>
            <a:ext cx="49117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takes </a:t>
            </a:r>
          </a:p>
        </p:txBody>
      </p:sp>
      <p:sp>
        <p:nvSpPr>
          <p:cNvPr id="743" name="Text 26"/>
          <p:cNvSpPr txBox="1"/>
          <p:nvPr/>
        </p:nvSpPr>
        <p:spPr>
          <a:xfrm>
            <a:off x="3651250" y="2109465"/>
            <a:ext cx="5461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&amp;self</a:t>
            </a:r>
          </a:p>
        </p:txBody>
      </p:sp>
      <p:sp>
        <p:nvSpPr>
          <p:cNvPr id="744" name="Text 27"/>
          <p:cNvSpPr txBox="1"/>
          <p:nvPr/>
        </p:nvSpPr>
        <p:spPr>
          <a:xfrm>
            <a:off x="4146550" y="2109465"/>
            <a:ext cx="13462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, </a:t>
            </a:r>
          </a:p>
        </p:txBody>
      </p:sp>
      <p:sp>
        <p:nvSpPr>
          <p:cNvPr id="745" name="Text 28"/>
          <p:cNvSpPr txBox="1"/>
          <p:nvPr/>
        </p:nvSpPr>
        <p:spPr>
          <a:xfrm>
            <a:off x="4230370" y="2109465"/>
            <a:ext cx="31993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yet </a:t>
            </a:r>
          </a:p>
        </p:txBody>
      </p:sp>
      <p:sp>
        <p:nvSpPr>
          <p:cNvPr id="746" name="Text 29"/>
          <p:cNvSpPr txBox="1"/>
          <p:nvPr/>
        </p:nvSpPr>
        <p:spPr>
          <a:xfrm>
            <a:off x="4499504" y="2109465"/>
            <a:ext cx="70209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mutates </a:t>
            </a:r>
          </a:p>
        </p:txBody>
      </p:sp>
      <p:sp>
        <p:nvSpPr>
          <p:cNvPr id="747" name="Text 30"/>
          <p:cNvSpPr txBox="1"/>
          <p:nvPr/>
        </p:nvSpPr>
        <p:spPr>
          <a:xfrm>
            <a:off x="5150803" y="2109465"/>
            <a:ext cx="73114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internal </a:t>
            </a:r>
          </a:p>
        </p:txBody>
      </p:sp>
      <p:sp>
        <p:nvSpPr>
          <p:cNvPr id="748" name="Text 31"/>
          <p:cNvSpPr txBox="1"/>
          <p:nvPr/>
        </p:nvSpPr>
        <p:spPr>
          <a:xfrm>
            <a:off x="971550" y="2340619"/>
            <a:ext cx="4978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state.</a:t>
            </a:r>
          </a:p>
        </p:txBody>
      </p:sp>
      <p:grpSp>
        <p:nvGrpSpPr>
          <p:cNvPr id="751" name="Text 32"/>
          <p:cNvGrpSpPr/>
          <p:nvPr/>
        </p:nvGrpSpPr>
        <p:grpSpPr>
          <a:xfrm>
            <a:off x="815975" y="2746375"/>
            <a:ext cx="5480050" cy="646431"/>
            <a:chOff x="0" y="0"/>
            <a:chExt cx="5480050" cy="646430"/>
          </a:xfrm>
        </p:grpSpPr>
        <p:sp>
          <p:nvSpPr>
            <p:cNvPr id="749" name="圓角矩形"/>
            <p:cNvSpPr/>
            <p:nvPr/>
          </p:nvSpPr>
          <p:spPr>
            <a:xfrm>
              <a:off x="0" y="0"/>
              <a:ext cx="5480050" cy="646431"/>
            </a:xfrm>
            <a:prstGeom prst="roundRect">
              <a:avLst>
                <a:gd name="adj" fmla="val 11297"/>
              </a:avLst>
            </a:prstGeom>
            <a:solidFill>
              <a:srgbClr val="FDFCF9"/>
            </a:solidFill>
            <a:ln w="6350" cap="flat">
              <a:solidFill>
                <a:srgbClr val="DCD8C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800"/>
                </a:lnSpc>
                <a:defRPr sz="1300"/>
              </a:pPr>
            </a:p>
          </p:txBody>
        </p:sp>
        <p:sp>
          <p:nvSpPr>
            <p:cNvPr id="750" name="Synchronized (Mutex, Atomic) → Sync. Unsynchronized (Rc's counter) → !Sync. (Rc fails both gates for the exact same reason.)"/>
            <p:cNvSpPr txBox="1"/>
            <p:nvPr/>
          </p:nvSpPr>
          <p:spPr>
            <a:xfrm>
              <a:off x="158751" y="95250"/>
              <a:ext cx="5296735" cy="481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rmAutofit fontScale="100000" lnSpcReduction="0"/>
            </a:bodyPr>
            <a:lstStyle/>
            <a:p>
              <a:pPr>
                <a:lnSpc>
                  <a:spcPts val="1800"/>
                </a:lnSpc>
                <a:defRPr sz="1300"/>
              </a:pPr>
              <a:r>
                <a:t>Synchronized (</a:t>
              </a:r>
              <a:r>
                <a:rPr>
                  <a:solidFill>
                    <a:schemeClr val="accent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Mutex</a:t>
              </a:r>
              <a:r>
                <a:t>, </a:t>
              </a:r>
              <a:r>
                <a:rPr>
                  <a:solidFill>
                    <a:schemeClr val="accent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Atomic</a:t>
              </a:r>
              <a:r>
                <a:t>) → </a:t>
              </a:r>
              <a:r>
                <a:rPr>
                  <a:solidFill>
                    <a:schemeClr val="accent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Sync</a:t>
              </a:r>
              <a:r>
                <a:t>. Unsynchronized (</a:t>
              </a:r>
              <a:r>
                <a:rPr>
                  <a:solidFill>
                    <a:schemeClr val="accent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Rc</a:t>
              </a:r>
              <a:r>
                <a:t>'s counter) → </a:t>
              </a:r>
              <a:r>
                <a:rPr>
                  <a:solidFill>
                    <a:schemeClr val="accent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!Sync</a:t>
              </a:r>
              <a:r>
                <a:t>. (Rc fails both gates for the exact same reason.)</a:t>
              </a:r>
            </a:p>
          </p:txBody>
        </p:sp>
      </p:grpSp>
      <p:sp>
        <p:nvSpPr>
          <p:cNvPr id="752" name="Shape 33"/>
          <p:cNvSpPr/>
          <p:nvPr/>
        </p:nvSpPr>
        <p:spPr>
          <a:xfrm>
            <a:off x="815975" y="3475359"/>
            <a:ext cx="5480050" cy="415291"/>
          </a:xfrm>
          <a:prstGeom prst="roundRect">
            <a:avLst>
              <a:gd name="adj" fmla="val 17584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3" name="Text 34"/>
          <p:cNvSpPr txBox="1"/>
          <p:nvPr/>
        </p:nvSpPr>
        <p:spPr>
          <a:xfrm>
            <a:off x="971550" y="3567434"/>
            <a:ext cx="271866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/>
            </a:pPr>
            <a:r>
              <a:t>By definition: </a:t>
            </a:r>
            <a:r>
              <a:rPr>
                <a:solidFill>
                  <a:schemeClr val="accent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</a:t>
            </a:r>
            <a:r>
              <a:t> is Sync if and only if </a:t>
            </a:r>
          </a:p>
        </p:txBody>
      </p:sp>
      <p:sp>
        <p:nvSpPr>
          <p:cNvPr id="754" name="Text 35"/>
          <p:cNvSpPr txBox="1"/>
          <p:nvPr/>
        </p:nvSpPr>
        <p:spPr>
          <a:xfrm>
            <a:off x="3611033" y="3567434"/>
            <a:ext cx="34798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pPr>
            <a:r>
              <a:t>&amp;T</a:t>
            </a:r>
            <a:r>
              <a:rPr>
                <a:solidFill>
                  <a:srgbClr val="1B1F27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rPr>
              <a:t> </a:t>
            </a:r>
          </a:p>
        </p:txBody>
      </p:sp>
      <p:sp>
        <p:nvSpPr>
          <p:cNvPr id="755" name="Text 36"/>
          <p:cNvSpPr txBox="1"/>
          <p:nvPr/>
        </p:nvSpPr>
        <p:spPr>
          <a:xfrm>
            <a:off x="3908212" y="3567434"/>
            <a:ext cx="69786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is Send.</a:t>
            </a:r>
          </a:p>
        </p:txBody>
      </p:sp>
      <p:sp>
        <p:nvSpPr>
          <p:cNvPr id="756" name="Shape 37"/>
          <p:cNvSpPr/>
          <p:nvPr/>
        </p:nvSpPr>
        <p:spPr>
          <a:xfrm>
            <a:off x="6556375" y="1355725"/>
            <a:ext cx="4819650" cy="2708911"/>
          </a:xfrm>
          <a:prstGeom prst="roundRect">
            <a:avLst>
              <a:gd name="adj" fmla="val 2696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759" name="Text 38"/>
          <p:cNvGrpSpPr/>
          <p:nvPr/>
        </p:nvGrpSpPr>
        <p:grpSpPr>
          <a:xfrm>
            <a:off x="6559550" y="1358900"/>
            <a:ext cx="4813300" cy="289560"/>
            <a:chOff x="0" y="0"/>
            <a:chExt cx="4813300" cy="289559"/>
          </a:xfrm>
        </p:grpSpPr>
        <p:sp>
          <p:nvSpPr>
            <p:cNvPr id="757" name="形狀"/>
            <p:cNvSpPr/>
            <p:nvPr/>
          </p:nvSpPr>
          <p:spPr>
            <a:xfrm>
              <a:off x="0" y="0"/>
              <a:ext cx="4813300" cy="2895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11"/>
                  </a:moveTo>
                  <a:cubicBezTo>
                    <a:pt x="0" y="2333"/>
                    <a:pt x="140" y="0"/>
                    <a:pt x="313" y="0"/>
                  </a:cubicBezTo>
                  <a:lnTo>
                    <a:pt x="21287" y="0"/>
                  </a:lnTo>
                  <a:cubicBezTo>
                    <a:pt x="21460" y="0"/>
                    <a:pt x="21600" y="2333"/>
                    <a:pt x="21600" y="5211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600"/>
                </a:lnSpc>
                <a:defRPr sz="1200"/>
              </a:pPr>
            </a:p>
          </p:txBody>
        </p:sp>
        <p:sp>
          <p:nvSpPr>
            <p:cNvPr id="758" name="Python mirror"/>
            <p:cNvSpPr txBox="1"/>
            <p:nvPr/>
          </p:nvSpPr>
          <p:spPr>
            <a:xfrm>
              <a:off x="139700" y="25400"/>
              <a:ext cx="4533900" cy="2641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2700" tIns="12700" rIns="12700" bIns="12700" numCol="1" anchor="t">
              <a:normAutofit fontScale="100000" lnSpcReduction="0"/>
            </a:bodyPr>
            <a:lstStyle>
              <a:lvl1pPr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Python mirror</a:t>
              </a:r>
            </a:p>
          </p:txBody>
        </p:sp>
      </p:grpSp>
      <p:sp>
        <p:nvSpPr>
          <p:cNvPr id="760" name="Text 39"/>
          <p:cNvSpPr txBox="1"/>
          <p:nvPr/>
        </p:nvSpPr>
        <p:spPr>
          <a:xfrm>
            <a:off x="6711950" y="1699269"/>
            <a:ext cx="229108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@dataclass(frozen=True)</a:t>
            </a:r>
          </a:p>
        </p:txBody>
      </p:sp>
      <p:sp>
        <p:nvSpPr>
          <p:cNvPr id="761" name="Text 40"/>
          <p:cNvSpPr txBox="1"/>
          <p:nvPr/>
        </p:nvSpPr>
        <p:spPr>
          <a:xfrm>
            <a:off x="6711950" y="1930400"/>
            <a:ext cx="308356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class Config:  </a:t>
            </a:r>
            <a:r>
              <a:rPr>
                <a:solidFill>
                  <a:srgbClr val="5C6370"/>
                </a:solidFill>
              </a:rPr>
              <a:t># nothing writes</a:t>
            </a:r>
          </a:p>
        </p:txBody>
      </p:sp>
      <p:sp>
        <p:nvSpPr>
          <p:cNvPr id="762" name="Text 41"/>
          <p:cNvSpPr txBox="1"/>
          <p:nvPr/>
        </p:nvSpPr>
        <p:spPr>
          <a:xfrm>
            <a:off x="6711950" y="2161530"/>
            <a:ext cx="130048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rate: int</a:t>
            </a:r>
          </a:p>
        </p:txBody>
      </p:sp>
      <p:sp>
        <p:nvSpPr>
          <p:cNvPr id="763" name="Text 42"/>
          <p:cNvSpPr txBox="1"/>
          <p:nvPr/>
        </p:nvSpPr>
        <p:spPr>
          <a:xfrm>
            <a:off x="6711950" y="2392684"/>
            <a:ext cx="179578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class SafeCounter:</a:t>
            </a:r>
          </a:p>
        </p:txBody>
      </p:sp>
      <p:sp>
        <p:nvSpPr>
          <p:cNvPr id="764" name="Text 43"/>
          <p:cNvSpPr txBox="1"/>
          <p:nvPr/>
        </p:nvSpPr>
        <p:spPr>
          <a:xfrm>
            <a:off x="6711950" y="2623815"/>
            <a:ext cx="229108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def __init__(self):</a:t>
            </a:r>
          </a:p>
        </p:txBody>
      </p:sp>
      <p:sp>
        <p:nvSpPr>
          <p:cNvPr id="765" name="Text 44"/>
          <p:cNvSpPr txBox="1"/>
          <p:nvPr/>
        </p:nvSpPr>
        <p:spPr>
          <a:xfrm>
            <a:off x="6711950" y="2854969"/>
            <a:ext cx="367792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    self._lock = threading.Lock()</a:t>
            </a:r>
          </a:p>
        </p:txBody>
      </p:sp>
      <p:sp>
        <p:nvSpPr>
          <p:cNvPr id="766" name="Text 45"/>
          <p:cNvSpPr txBox="1"/>
          <p:nvPr/>
        </p:nvSpPr>
        <p:spPr>
          <a:xfrm>
            <a:off x="6711950" y="3086100"/>
            <a:ext cx="229108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    self._value = 0</a:t>
            </a:r>
          </a:p>
        </p:txBody>
      </p:sp>
      <p:sp>
        <p:nvSpPr>
          <p:cNvPr id="767" name="Text 46"/>
          <p:cNvSpPr txBox="1"/>
          <p:nvPr/>
        </p:nvSpPr>
        <p:spPr>
          <a:xfrm>
            <a:off x="6711950" y="3317230"/>
            <a:ext cx="239014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def increment(self):</a:t>
            </a:r>
          </a:p>
        </p:txBody>
      </p:sp>
      <p:sp>
        <p:nvSpPr>
          <p:cNvPr id="768" name="Text 47"/>
          <p:cNvSpPr txBox="1"/>
          <p:nvPr/>
        </p:nvSpPr>
        <p:spPr>
          <a:xfrm>
            <a:off x="6711950" y="3548384"/>
            <a:ext cx="427228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        with self._lock:     </a:t>
            </a:r>
            <a:r>
              <a:rPr>
                <a:solidFill>
                  <a:srgbClr val="5C6370"/>
                </a:solidFill>
              </a:rPr>
              <a:t># synchronized</a:t>
            </a:r>
          </a:p>
        </p:txBody>
      </p:sp>
      <p:sp>
        <p:nvSpPr>
          <p:cNvPr id="769" name="Text 48"/>
          <p:cNvSpPr txBox="1"/>
          <p:nvPr/>
        </p:nvSpPr>
        <p:spPr>
          <a:xfrm>
            <a:off x="6711950" y="3779515"/>
            <a:ext cx="278638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        self._value += 1</a:t>
            </a:r>
          </a:p>
        </p:txBody>
      </p:sp>
      <p:sp>
        <p:nvSpPr>
          <p:cNvPr id="770" name="Shape 49"/>
          <p:cNvSpPr/>
          <p:nvPr/>
        </p:nvSpPr>
        <p:spPr>
          <a:xfrm>
            <a:off x="6553200" y="4066530"/>
            <a:ext cx="4826000" cy="1521461"/>
          </a:xfrm>
          <a:prstGeom prst="rect">
            <a:avLst/>
          </a:prstGeom>
          <a:solidFill>
            <a:srgbClr val="F6F5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1" name="Text 50"/>
          <p:cNvSpPr txBox="1"/>
          <p:nvPr/>
        </p:nvSpPr>
        <p:spPr>
          <a:xfrm>
            <a:off x="7874000" y="4066530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Rust</a:t>
            </a:r>
          </a:p>
        </p:txBody>
      </p:sp>
      <p:sp>
        <p:nvSpPr>
          <p:cNvPr id="772" name="Text 51"/>
          <p:cNvSpPr txBox="1"/>
          <p:nvPr/>
        </p:nvSpPr>
        <p:spPr>
          <a:xfrm>
            <a:off x="9683750" y="4066530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773" name="Text 52"/>
          <p:cNvSpPr txBox="1"/>
          <p:nvPr/>
        </p:nvSpPr>
        <p:spPr>
          <a:xfrm>
            <a:off x="6553200" y="43688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Who holds it?</a:t>
            </a:r>
          </a:p>
        </p:txBody>
      </p:sp>
      <p:grpSp>
        <p:nvGrpSpPr>
          <p:cNvPr id="776" name="Text 53"/>
          <p:cNvGrpSpPr/>
          <p:nvPr/>
        </p:nvGrpSpPr>
        <p:grpSpPr>
          <a:xfrm>
            <a:off x="7804150" y="4324350"/>
            <a:ext cx="1758950" cy="317500"/>
            <a:chOff x="0" y="0"/>
            <a:chExt cx="1758950" cy="317500"/>
          </a:xfrm>
        </p:grpSpPr>
        <p:sp>
          <p:nvSpPr>
            <p:cNvPr id="774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775" name="owner · &amp; · &amp;mut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owner · &amp; · &amp;mut</a:t>
              </a:r>
            </a:p>
          </p:txBody>
        </p:sp>
      </p:grpSp>
      <p:sp>
        <p:nvSpPr>
          <p:cNvPr id="777" name="Shape 54"/>
          <p:cNvSpPr/>
          <p:nvPr/>
        </p:nvSpPr>
        <p:spPr>
          <a:xfrm>
            <a:off x="9613900" y="4324350"/>
            <a:ext cx="1758950" cy="317500"/>
          </a:xfrm>
          <a:prstGeom prst="roundRect">
            <a:avLst>
              <a:gd name="adj" fmla="val 10000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8" name="Text 55"/>
          <p:cNvSpPr txBox="1"/>
          <p:nvPr/>
        </p:nvSpPr>
        <p:spPr>
          <a:xfrm>
            <a:off x="6553200" y="4737100"/>
            <a:ext cx="12573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Is it mutated?</a:t>
            </a:r>
          </a:p>
        </p:txBody>
      </p:sp>
      <p:grpSp>
        <p:nvGrpSpPr>
          <p:cNvPr id="781" name="Text 56"/>
          <p:cNvGrpSpPr/>
          <p:nvPr/>
        </p:nvGrpSpPr>
        <p:grpSpPr>
          <a:xfrm>
            <a:off x="7804150" y="4692650"/>
            <a:ext cx="1758950" cy="520700"/>
            <a:chOff x="0" y="0"/>
            <a:chExt cx="1758950" cy="520700"/>
          </a:xfrm>
        </p:grpSpPr>
        <p:sp>
          <p:nvSpPr>
            <p:cNvPr id="779" name="圓角矩形"/>
            <p:cNvSpPr/>
            <p:nvPr/>
          </p:nvSpPr>
          <p:spPr>
            <a:xfrm>
              <a:off x="0" y="0"/>
              <a:ext cx="1758950" cy="520700"/>
            </a:xfrm>
            <a:prstGeom prst="roundRect">
              <a:avLst>
                <a:gd name="adj" fmla="val 6098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780" name="mut · &amp;mut ·…"/>
            <p:cNvSpPr txBox="1"/>
            <p:nvPr/>
          </p:nvSpPr>
          <p:spPr>
            <a:xfrm>
              <a:off x="66450" y="41049"/>
              <a:ext cx="1676850" cy="453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/>
            <a:p>
              <a: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pPr>
              <a:r>
                <a:t>mut · &amp;mut ·</a:t>
              </a:r>
            </a:p>
            <a:p>
              <a: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pPr>
              <a:r>
                <a:t>Mutex / Atomic</a:t>
              </a:r>
            </a:p>
          </p:txBody>
        </p:sp>
      </p:grpSp>
      <p:sp>
        <p:nvSpPr>
          <p:cNvPr id="782" name="Shape 57"/>
          <p:cNvSpPr/>
          <p:nvPr/>
        </p:nvSpPr>
        <p:spPr>
          <a:xfrm>
            <a:off x="9613900" y="4692650"/>
            <a:ext cx="1758950" cy="520700"/>
          </a:xfrm>
          <a:prstGeom prst="roundRect">
            <a:avLst>
              <a:gd name="adj" fmla="val 6098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3" name="Text 58"/>
          <p:cNvSpPr txBox="1"/>
          <p:nvPr/>
        </p:nvSpPr>
        <p:spPr>
          <a:xfrm>
            <a:off x="6553200" y="53086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Across threads</a:t>
            </a:r>
          </a:p>
        </p:txBody>
      </p:sp>
      <p:grpSp>
        <p:nvGrpSpPr>
          <p:cNvPr id="786" name="Text 59"/>
          <p:cNvGrpSpPr/>
          <p:nvPr/>
        </p:nvGrpSpPr>
        <p:grpSpPr>
          <a:xfrm>
            <a:off x="7804150" y="5264150"/>
            <a:ext cx="1758950" cy="317500"/>
            <a:chOff x="0" y="0"/>
            <a:chExt cx="1758950" cy="317500"/>
          </a:xfrm>
        </p:grpSpPr>
        <p:sp>
          <p:nvSpPr>
            <p:cNvPr id="784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785" name="Send · Sync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Send · Sync</a:t>
              </a:r>
            </a:p>
          </p:txBody>
        </p:sp>
      </p:grpSp>
      <p:sp>
        <p:nvSpPr>
          <p:cNvPr id="787" name="Shape 60"/>
          <p:cNvSpPr/>
          <p:nvPr/>
        </p:nvSpPr>
        <p:spPr>
          <a:xfrm>
            <a:off x="9613900" y="5264150"/>
            <a:ext cx="1758950" cy="317500"/>
          </a:xfrm>
          <a:prstGeom prst="roundRect">
            <a:avLst>
              <a:gd name="adj" fmla="val 10000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8" name="Shape 61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9" name="Text 62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Cross a thread boundary, and the compiler asks both questions again.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What the compiler covers, and what it leaves out</a:t>
            </a:r>
          </a:p>
        </p:txBody>
      </p:sp>
      <p:sp>
        <p:nvSpPr>
          <p:cNvPr id="792" name="Shape 1"/>
          <p:cNvSpPr/>
          <p:nvPr/>
        </p:nvSpPr>
        <p:spPr>
          <a:xfrm>
            <a:off x="812800" y="1353815"/>
            <a:ext cx="4788535" cy="343536"/>
          </a:xfrm>
          <a:prstGeom prst="roundRect">
            <a:avLst>
              <a:gd name="adj" fmla="val 11091"/>
            </a:avLst>
          </a:prstGeom>
          <a:solidFill>
            <a:srgbClr val="EEF2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3" name="Shape 2"/>
          <p:cNvSpPr/>
          <p:nvPr/>
        </p:nvSpPr>
        <p:spPr>
          <a:xfrm>
            <a:off x="812800" y="1353815"/>
            <a:ext cx="38101" cy="3435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9671" y="21600"/>
                  <a:pt x="0" y="20527"/>
                  <a:pt x="0" y="19204"/>
                </a:cubicBezTo>
                <a:lnTo>
                  <a:pt x="0" y="2396"/>
                </a:lnTo>
                <a:cubicBezTo>
                  <a:pt x="0" y="1073"/>
                  <a:pt x="9671" y="0"/>
                  <a:pt x="21600" y="0"/>
                </a:cubicBezTo>
                <a:cubicBezTo>
                  <a:pt x="17624" y="0"/>
                  <a:pt x="14400" y="1073"/>
                  <a:pt x="14400" y="2396"/>
                </a:cubicBezTo>
                <a:lnTo>
                  <a:pt x="14400" y="19204"/>
                </a:lnTo>
                <a:cubicBezTo>
                  <a:pt x="14400" y="20527"/>
                  <a:pt x="17624" y="21600"/>
                  <a:pt x="2160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4" name="Text 3"/>
          <p:cNvSpPr txBox="1"/>
          <p:nvPr/>
        </p:nvSpPr>
        <p:spPr>
          <a:xfrm>
            <a:off x="965200" y="1420490"/>
            <a:ext cx="101600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from Act I</a:t>
            </a:r>
          </a:p>
        </p:txBody>
      </p:sp>
      <p:sp>
        <p:nvSpPr>
          <p:cNvPr id="795" name="Text 4"/>
          <p:cNvSpPr txBox="1"/>
          <p:nvPr/>
        </p:nvSpPr>
        <p:spPr>
          <a:xfrm>
            <a:off x="1981200" y="1417315"/>
            <a:ext cx="3620135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“Thread safety isn't my problem. Python handles it.”</a:t>
            </a:r>
          </a:p>
        </p:txBody>
      </p:sp>
      <p:sp>
        <p:nvSpPr>
          <p:cNvPr id="796" name="Shape 5"/>
          <p:cNvSpPr/>
          <p:nvPr/>
        </p:nvSpPr>
        <p:spPr>
          <a:xfrm>
            <a:off x="819150" y="1881509"/>
            <a:ext cx="5118100" cy="1524001"/>
          </a:xfrm>
          <a:prstGeom prst="roundRect">
            <a:avLst>
              <a:gd name="adj" fmla="val 4583"/>
            </a:avLst>
          </a:prstGeom>
          <a:solidFill>
            <a:schemeClr val="accent5"/>
          </a:solidFill>
          <a:ln w="12700">
            <a:solidFill>
              <a:srgbClr val="E6D3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7" name="Text 6"/>
          <p:cNvSpPr txBox="1"/>
          <p:nvPr/>
        </p:nvSpPr>
        <p:spPr>
          <a:xfrm>
            <a:off x="1028700" y="2040259"/>
            <a:ext cx="4839971" cy="20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solidFill>
                  <a:srgbClr val="5C6370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Covers</a:t>
            </a:r>
          </a:p>
        </p:txBody>
      </p:sp>
      <p:sp>
        <p:nvSpPr>
          <p:cNvPr id="798" name="Text 7"/>
          <p:cNvSpPr txBox="1"/>
          <p:nvPr/>
        </p:nvSpPr>
        <p:spPr>
          <a:xfrm>
            <a:off x="1028700" y="2286644"/>
            <a:ext cx="4839971" cy="665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500"/>
              </a:lnSpc>
            </a:pPr>
            <a:r>
              <a:t>“Fearless concurrency” means one specific thing: </a:t>
            </a:r>
            <a:r>
              <a:rPr>
                <a:latin typeface="IBM Plex Sans Bold"/>
                <a:ea typeface="IBM Plex Sans Bold"/>
                <a:cs typeface="IBM Plex Sans Bold"/>
                <a:sym typeface="IBM Plex Sans Bold"/>
              </a:rPr>
              <a:t>safe Rust cannot express a data race.</a:t>
            </a:r>
          </a:p>
        </p:txBody>
      </p:sp>
      <p:sp>
        <p:nvSpPr>
          <p:cNvPr id="799" name="Shape 8"/>
          <p:cNvSpPr/>
          <p:nvPr/>
        </p:nvSpPr>
        <p:spPr>
          <a:xfrm>
            <a:off x="6254750" y="1881509"/>
            <a:ext cx="5118100" cy="1524001"/>
          </a:xfrm>
          <a:prstGeom prst="roundRect">
            <a:avLst>
              <a:gd name="adj" fmla="val 4583"/>
            </a:avLst>
          </a:prstGeom>
          <a:solidFill>
            <a:srgbClr val="FDFCF9"/>
          </a:solidFill>
          <a:ln w="127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0" name="Text 9"/>
          <p:cNvSpPr txBox="1"/>
          <p:nvPr/>
        </p:nvSpPr>
        <p:spPr>
          <a:xfrm>
            <a:off x="6464300" y="2040259"/>
            <a:ext cx="4839971" cy="20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solidFill>
                  <a:schemeClr val="accent2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Leaves out</a:t>
            </a:r>
          </a:p>
        </p:txBody>
      </p:sp>
      <p:sp>
        <p:nvSpPr>
          <p:cNvPr id="801" name="Text 10"/>
          <p:cNvSpPr txBox="1"/>
          <p:nvPr/>
        </p:nvSpPr>
        <p:spPr>
          <a:xfrm>
            <a:off x="6464300" y="2286644"/>
            <a:ext cx="4839971" cy="985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500"/>
              </a:lnSpc>
            </a:pPr>
            <a:r>
              <a:t>The compiler does not prevent </a:t>
            </a:r>
            <a:r>
              <a:rPr>
                <a:latin typeface="IBM Plex Sans Bold"/>
                <a:ea typeface="IBM Plex Sans Bold"/>
                <a:cs typeface="IBM Plex Sans Bold"/>
                <a:sym typeface="IBM Plex Sans Bold"/>
              </a:rPr>
              <a:t>race conditions or deadlocks.</a:t>
            </a:r>
            <a:r>
              <a:t> </a:t>
            </a:r>
            <a:r>
              <a:rPr>
                <a:solidFill>
                  <a:srgbClr val="5C6370"/>
                </a:solidFill>
              </a:rPr>
              <a:t>(The Rustonomicon)</a:t>
            </a:r>
          </a:p>
        </p:txBody>
      </p:sp>
      <p:sp>
        <p:nvSpPr>
          <p:cNvPr id="802" name="Text 11"/>
          <p:cNvSpPr txBox="1"/>
          <p:nvPr/>
        </p:nvSpPr>
        <p:spPr>
          <a:xfrm>
            <a:off x="812800" y="3589659"/>
            <a:ext cx="832273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Python's </a:t>
            </a:r>
          </a:p>
        </p:txBody>
      </p:sp>
      <p:sp>
        <p:nvSpPr>
          <p:cNvPr id="803" name="Text 12"/>
          <p:cNvSpPr txBox="1"/>
          <p:nvPr/>
        </p:nvSpPr>
        <p:spPr>
          <a:xfrm>
            <a:off x="1594273" y="3589659"/>
            <a:ext cx="81544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runtime, </a:t>
            </a:r>
          </a:p>
        </p:txBody>
      </p:sp>
      <p:sp>
        <p:nvSpPr>
          <p:cNvPr id="804" name="Text 13"/>
          <p:cNvSpPr txBox="1"/>
          <p:nvPr/>
        </p:nvSpPr>
        <p:spPr>
          <a:xfrm>
            <a:off x="2358918" y="3589659"/>
            <a:ext cx="25156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in </a:t>
            </a:r>
          </a:p>
        </p:txBody>
      </p:sp>
      <p:sp>
        <p:nvSpPr>
          <p:cNvPr id="805" name="Text 14"/>
          <p:cNvSpPr txBox="1"/>
          <p:nvPr/>
        </p:nvSpPr>
        <p:spPr>
          <a:xfrm>
            <a:off x="2559685" y="3589659"/>
            <a:ext cx="484188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Rust </a:t>
            </a:r>
          </a:p>
        </p:txBody>
      </p:sp>
      <p:sp>
        <p:nvSpPr>
          <p:cNvPr id="806" name="Text 15"/>
          <p:cNvSpPr txBox="1"/>
          <p:nvPr/>
        </p:nvSpPr>
        <p:spPr>
          <a:xfrm>
            <a:off x="2993072" y="3589659"/>
            <a:ext cx="651193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terms: </a:t>
            </a:r>
          </a:p>
        </p:txBody>
      </p:sp>
      <p:sp>
        <p:nvSpPr>
          <p:cNvPr id="807" name="Text 16"/>
          <p:cNvSpPr txBox="1"/>
          <p:nvPr/>
        </p:nvSpPr>
        <p:spPr>
          <a:xfrm>
            <a:off x="3593465" y="3589659"/>
            <a:ext cx="56250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every </a:t>
            </a:r>
          </a:p>
        </p:txBody>
      </p:sp>
      <p:sp>
        <p:nvSpPr>
          <p:cNvPr id="808" name="Text 17"/>
          <p:cNvSpPr txBox="1"/>
          <p:nvPr/>
        </p:nvSpPr>
        <p:spPr>
          <a:xfrm>
            <a:off x="4105169" y="3589659"/>
            <a:ext cx="62780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object </a:t>
            </a:r>
          </a:p>
        </p:txBody>
      </p:sp>
      <p:sp>
        <p:nvSpPr>
          <p:cNvPr id="809" name="Text 18"/>
          <p:cNvSpPr txBox="1"/>
          <p:nvPr/>
        </p:nvSpPr>
        <p:spPr>
          <a:xfrm>
            <a:off x="4682171" y="3589659"/>
            <a:ext cx="23622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is </a:t>
            </a:r>
          </a:p>
        </p:txBody>
      </p:sp>
      <p:sp>
        <p:nvSpPr>
          <p:cNvPr id="810" name="Text 19"/>
          <p:cNvSpPr txBox="1"/>
          <p:nvPr/>
        </p:nvSpPr>
        <p:spPr>
          <a:xfrm>
            <a:off x="4867592" y="3589659"/>
            <a:ext cx="84889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wrapped </a:t>
            </a:r>
          </a:p>
        </p:txBody>
      </p:sp>
      <p:sp>
        <p:nvSpPr>
          <p:cNvPr id="811" name="Text 20"/>
          <p:cNvSpPr txBox="1"/>
          <p:nvPr/>
        </p:nvSpPr>
        <p:spPr>
          <a:xfrm>
            <a:off x="5665682" y="3589659"/>
            <a:ext cx="39698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like </a:t>
            </a:r>
          </a:p>
        </p:txBody>
      </p:sp>
      <p:sp>
        <p:nvSpPr>
          <p:cNvPr id="812" name="Text 21"/>
          <p:cNvSpPr txBox="1"/>
          <p:nvPr/>
        </p:nvSpPr>
        <p:spPr>
          <a:xfrm>
            <a:off x="6011862" y="3589659"/>
            <a:ext cx="305648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an </a:t>
            </a:r>
          </a:p>
        </p:txBody>
      </p:sp>
      <p:sp>
        <p:nvSpPr>
          <p:cNvPr id="813" name="Text 22"/>
          <p:cNvSpPr txBox="1"/>
          <p:nvPr/>
        </p:nvSpPr>
        <p:spPr>
          <a:xfrm>
            <a:off x="6266708" y="3589659"/>
            <a:ext cx="7366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Arc&lt;T&gt;</a:t>
            </a:r>
          </a:p>
        </p:txBody>
      </p:sp>
      <p:sp>
        <p:nvSpPr>
          <p:cNvPr id="814" name="Text 23"/>
          <p:cNvSpPr txBox="1"/>
          <p:nvPr/>
        </p:nvSpPr>
        <p:spPr>
          <a:xfrm>
            <a:off x="6952508" y="3589659"/>
            <a:ext cx="147639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, </a:t>
            </a:r>
          </a:p>
        </p:txBody>
      </p:sp>
      <p:sp>
        <p:nvSpPr>
          <p:cNvPr id="815" name="Text 24"/>
          <p:cNvSpPr txBox="1"/>
          <p:nvPr/>
        </p:nvSpPr>
        <p:spPr>
          <a:xfrm>
            <a:off x="7049345" y="3589659"/>
            <a:ext cx="416138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and </a:t>
            </a:r>
          </a:p>
        </p:txBody>
      </p:sp>
      <p:sp>
        <p:nvSpPr>
          <p:cNvPr id="816" name="Text 25"/>
          <p:cNvSpPr txBox="1"/>
          <p:nvPr/>
        </p:nvSpPr>
        <p:spPr>
          <a:xfrm>
            <a:off x="7414683" y="3589659"/>
            <a:ext cx="70781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built-in </a:t>
            </a:r>
          </a:p>
        </p:txBody>
      </p:sp>
      <p:sp>
        <p:nvSpPr>
          <p:cNvPr id="817" name="Text 26"/>
          <p:cNvSpPr txBox="1"/>
          <p:nvPr/>
        </p:nvSpPr>
        <p:spPr>
          <a:xfrm>
            <a:off x="8071695" y="3589659"/>
            <a:ext cx="997057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containers </a:t>
            </a:r>
          </a:p>
        </p:txBody>
      </p:sp>
      <p:sp>
        <p:nvSpPr>
          <p:cNvPr id="818" name="Text 27"/>
          <p:cNvSpPr txBox="1"/>
          <p:nvPr/>
        </p:nvSpPr>
        <p:spPr>
          <a:xfrm>
            <a:off x="9017952" y="3589659"/>
            <a:ext cx="111474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synchronize </a:t>
            </a:r>
          </a:p>
        </p:txBody>
      </p:sp>
      <p:sp>
        <p:nvSpPr>
          <p:cNvPr id="819" name="Text 28"/>
          <p:cNvSpPr txBox="1"/>
          <p:nvPr/>
        </p:nvSpPr>
        <p:spPr>
          <a:xfrm>
            <a:off x="10081894" y="3589659"/>
            <a:ext cx="492973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their </a:t>
            </a:r>
          </a:p>
        </p:txBody>
      </p:sp>
      <p:sp>
        <p:nvSpPr>
          <p:cNvPr id="820" name="Text 29"/>
          <p:cNvSpPr txBox="1"/>
          <p:nvPr/>
        </p:nvSpPr>
        <p:spPr>
          <a:xfrm>
            <a:off x="10524066" y="3589659"/>
            <a:ext cx="486157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own </a:t>
            </a:r>
          </a:p>
        </p:txBody>
      </p:sp>
      <p:sp>
        <p:nvSpPr>
          <p:cNvPr id="821" name="Text 30"/>
          <p:cNvSpPr txBox="1"/>
          <p:nvPr/>
        </p:nvSpPr>
        <p:spPr>
          <a:xfrm>
            <a:off x="812800" y="3856359"/>
            <a:ext cx="753958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internal </a:t>
            </a:r>
          </a:p>
        </p:txBody>
      </p:sp>
      <p:sp>
        <p:nvSpPr>
          <p:cNvPr id="822" name="Text 31"/>
          <p:cNvSpPr txBox="1"/>
          <p:nvPr/>
        </p:nvSpPr>
        <p:spPr>
          <a:xfrm>
            <a:off x="1515956" y="3856359"/>
            <a:ext cx="924668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structure. </a:t>
            </a:r>
          </a:p>
        </p:txBody>
      </p:sp>
      <p:sp>
        <p:nvSpPr>
          <p:cNvPr id="823" name="Text 32"/>
          <p:cNvSpPr txBox="1"/>
          <p:nvPr/>
        </p:nvSpPr>
        <p:spPr>
          <a:xfrm>
            <a:off x="2389822" y="3856359"/>
            <a:ext cx="41751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The </a:t>
            </a:r>
          </a:p>
        </p:txBody>
      </p:sp>
      <p:sp>
        <p:nvSpPr>
          <p:cNvPr id="824" name="Text 33"/>
          <p:cNvSpPr txBox="1"/>
          <p:nvPr/>
        </p:nvSpPr>
        <p:spPr>
          <a:xfrm>
            <a:off x="2756535" y="3856359"/>
            <a:ext cx="767398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runtime </a:t>
            </a:r>
          </a:p>
        </p:txBody>
      </p:sp>
      <p:sp>
        <p:nvSpPr>
          <p:cNvPr id="825" name="Text 34"/>
          <p:cNvSpPr txBox="1"/>
          <p:nvPr/>
        </p:nvSpPr>
        <p:spPr>
          <a:xfrm>
            <a:off x="3473132" y="3856359"/>
            <a:ext cx="809308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answers </a:t>
            </a:r>
          </a:p>
        </p:txBody>
      </p:sp>
      <p:sp>
        <p:nvSpPr>
          <p:cNvPr id="826" name="Text 35"/>
          <p:cNvSpPr txBox="1"/>
          <p:nvPr/>
        </p:nvSpPr>
        <p:spPr>
          <a:xfrm>
            <a:off x="4231640" y="3856359"/>
            <a:ext cx="487999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both </a:t>
            </a:r>
          </a:p>
        </p:txBody>
      </p:sp>
      <p:sp>
        <p:nvSpPr>
          <p:cNvPr id="827" name="Text 36"/>
          <p:cNvSpPr txBox="1"/>
          <p:nvPr/>
        </p:nvSpPr>
        <p:spPr>
          <a:xfrm>
            <a:off x="4668837" y="3856359"/>
            <a:ext cx="932603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questions </a:t>
            </a:r>
          </a:p>
        </p:txBody>
      </p:sp>
      <p:sp>
        <p:nvSpPr>
          <p:cNvPr id="828" name="Text 37"/>
          <p:cNvSpPr txBox="1"/>
          <p:nvPr/>
        </p:nvSpPr>
        <p:spPr>
          <a:xfrm>
            <a:off x="5550641" y="3856359"/>
            <a:ext cx="33337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for </a:t>
            </a:r>
          </a:p>
        </p:txBody>
      </p:sp>
      <p:sp>
        <p:nvSpPr>
          <p:cNvPr id="829" name="Text 38"/>
          <p:cNvSpPr txBox="1"/>
          <p:nvPr/>
        </p:nvSpPr>
        <p:spPr>
          <a:xfrm>
            <a:off x="5833216" y="3856359"/>
            <a:ext cx="303108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its </a:t>
            </a:r>
          </a:p>
        </p:txBody>
      </p:sp>
      <p:sp>
        <p:nvSpPr>
          <p:cNvPr id="830" name="Text 39"/>
          <p:cNvSpPr txBox="1"/>
          <p:nvPr/>
        </p:nvSpPr>
        <p:spPr>
          <a:xfrm>
            <a:off x="6085521" y="3856359"/>
            <a:ext cx="45593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own </a:t>
            </a:r>
          </a:p>
        </p:txBody>
      </p:sp>
      <p:sp>
        <p:nvSpPr>
          <p:cNvPr id="831" name="Text 40"/>
          <p:cNvSpPr txBox="1"/>
          <p:nvPr/>
        </p:nvSpPr>
        <p:spPr>
          <a:xfrm>
            <a:off x="6490653" y="3856359"/>
            <a:ext cx="84783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memory, </a:t>
            </a:r>
          </a:p>
        </p:txBody>
      </p:sp>
      <p:sp>
        <p:nvSpPr>
          <p:cNvPr id="832" name="Text 41"/>
          <p:cNvSpPr txBox="1"/>
          <p:nvPr/>
        </p:nvSpPr>
        <p:spPr>
          <a:xfrm>
            <a:off x="7287683" y="3856359"/>
            <a:ext cx="377508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not </a:t>
            </a:r>
          </a:p>
        </p:txBody>
      </p:sp>
      <p:sp>
        <p:nvSpPr>
          <p:cNvPr id="833" name="Text 42"/>
          <p:cNvSpPr txBox="1"/>
          <p:nvPr/>
        </p:nvSpPr>
        <p:spPr>
          <a:xfrm>
            <a:off x="7614391" y="3856359"/>
            <a:ext cx="33337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for </a:t>
            </a:r>
          </a:p>
        </p:txBody>
      </p:sp>
      <p:sp>
        <p:nvSpPr>
          <p:cNvPr id="834" name="Text 43"/>
          <p:cNvSpPr txBox="1"/>
          <p:nvPr/>
        </p:nvSpPr>
        <p:spPr>
          <a:xfrm>
            <a:off x="7896966" y="3856359"/>
            <a:ext cx="47466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your </a:t>
            </a:r>
          </a:p>
        </p:txBody>
      </p:sp>
      <p:sp>
        <p:nvSpPr>
          <p:cNvPr id="835" name="Text 44"/>
          <p:cNvSpPr txBox="1"/>
          <p:nvPr/>
        </p:nvSpPr>
        <p:spPr>
          <a:xfrm>
            <a:off x="8320829" y="3856359"/>
            <a:ext cx="85206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business </a:t>
            </a:r>
          </a:p>
        </p:txBody>
      </p:sp>
      <p:sp>
        <p:nvSpPr>
          <p:cNvPr id="836" name="Text 45"/>
          <p:cNvSpPr txBox="1"/>
          <p:nvPr/>
        </p:nvSpPr>
        <p:spPr>
          <a:xfrm>
            <a:off x="9122092" y="3856359"/>
            <a:ext cx="54521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logic.</a:t>
            </a:r>
          </a:p>
        </p:txBody>
      </p:sp>
      <p:sp>
        <p:nvSpPr>
          <p:cNvPr id="837" name="Shape 46"/>
          <p:cNvSpPr/>
          <p:nvPr/>
        </p:nvSpPr>
        <p:spPr>
          <a:xfrm>
            <a:off x="6553200" y="4066530"/>
            <a:ext cx="4826000" cy="1521461"/>
          </a:xfrm>
          <a:prstGeom prst="rect">
            <a:avLst/>
          </a:prstGeom>
          <a:solidFill>
            <a:srgbClr val="F6F5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8" name="Text 47"/>
          <p:cNvSpPr txBox="1"/>
          <p:nvPr/>
        </p:nvSpPr>
        <p:spPr>
          <a:xfrm>
            <a:off x="7874000" y="4066530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Rust</a:t>
            </a:r>
          </a:p>
        </p:txBody>
      </p:sp>
      <p:sp>
        <p:nvSpPr>
          <p:cNvPr id="839" name="Text 48"/>
          <p:cNvSpPr txBox="1"/>
          <p:nvPr/>
        </p:nvSpPr>
        <p:spPr>
          <a:xfrm>
            <a:off x="9683750" y="4066530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840" name="Text 49"/>
          <p:cNvSpPr txBox="1"/>
          <p:nvPr/>
        </p:nvSpPr>
        <p:spPr>
          <a:xfrm>
            <a:off x="6553200" y="43688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Who holds it?</a:t>
            </a:r>
          </a:p>
        </p:txBody>
      </p:sp>
      <p:grpSp>
        <p:nvGrpSpPr>
          <p:cNvPr id="843" name="Text 50"/>
          <p:cNvGrpSpPr/>
          <p:nvPr/>
        </p:nvGrpSpPr>
        <p:grpSpPr>
          <a:xfrm>
            <a:off x="7804150" y="4324350"/>
            <a:ext cx="1758950" cy="317500"/>
            <a:chOff x="0" y="0"/>
            <a:chExt cx="1758950" cy="317500"/>
          </a:xfrm>
        </p:grpSpPr>
        <p:sp>
          <p:nvSpPr>
            <p:cNvPr id="841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842" name="owner · &amp; · &amp;mut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owner · &amp; · &amp;mut</a:t>
              </a:r>
            </a:p>
          </p:txBody>
        </p:sp>
      </p:grpSp>
      <p:sp>
        <p:nvSpPr>
          <p:cNvPr id="844" name="Shape 51"/>
          <p:cNvSpPr/>
          <p:nvPr/>
        </p:nvSpPr>
        <p:spPr>
          <a:xfrm>
            <a:off x="9613900" y="4324350"/>
            <a:ext cx="1758950" cy="317500"/>
          </a:xfrm>
          <a:prstGeom prst="roundRect">
            <a:avLst>
              <a:gd name="adj" fmla="val 10000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5" name="Text 52"/>
          <p:cNvSpPr txBox="1"/>
          <p:nvPr/>
        </p:nvSpPr>
        <p:spPr>
          <a:xfrm>
            <a:off x="6553200" y="4737100"/>
            <a:ext cx="12573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Is it mutated?</a:t>
            </a:r>
          </a:p>
        </p:txBody>
      </p:sp>
      <p:grpSp>
        <p:nvGrpSpPr>
          <p:cNvPr id="848" name="Text 53"/>
          <p:cNvGrpSpPr/>
          <p:nvPr/>
        </p:nvGrpSpPr>
        <p:grpSpPr>
          <a:xfrm>
            <a:off x="7804150" y="4692650"/>
            <a:ext cx="1758950" cy="520700"/>
            <a:chOff x="0" y="0"/>
            <a:chExt cx="1758950" cy="520700"/>
          </a:xfrm>
        </p:grpSpPr>
        <p:sp>
          <p:nvSpPr>
            <p:cNvPr id="846" name="圓角矩形"/>
            <p:cNvSpPr/>
            <p:nvPr/>
          </p:nvSpPr>
          <p:spPr>
            <a:xfrm>
              <a:off x="0" y="0"/>
              <a:ext cx="1758950" cy="520700"/>
            </a:xfrm>
            <a:prstGeom prst="roundRect">
              <a:avLst>
                <a:gd name="adj" fmla="val 6098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847" name="mut · &amp;mut ·…"/>
            <p:cNvSpPr txBox="1"/>
            <p:nvPr/>
          </p:nvSpPr>
          <p:spPr>
            <a:xfrm>
              <a:off x="66450" y="41049"/>
              <a:ext cx="1676850" cy="453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/>
            <a:p>
              <a: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pPr>
              <a:r>
                <a:t>mut · &amp;mut ·</a:t>
              </a:r>
            </a:p>
            <a:p>
              <a: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pPr>
              <a:r>
                <a:t>Mutex / Atomic</a:t>
              </a:r>
            </a:p>
          </p:txBody>
        </p:sp>
      </p:grpSp>
      <p:sp>
        <p:nvSpPr>
          <p:cNvPr id="849" name="Shape 54"/>
          <p:cNvSpPr/>
          <p:nvPr/>
        </p:nvSpPr>
        <p:spPr>
          <a:xfrm>
            <a:off x="9613900" y="4692650"/>
            <a:ext cx="1758950" cy="520700"/>
          </a:xfrm>
          <a:prstGeom prst="roundRect">
            <a:avLst>
              <a:gd name="adj" fmla="val 6098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0" name="Text 55"/>
          <p:cNvSpPr txBox="1"/>
          <p:nvPr/>
        </p:nvSpPr>
        <p:spPr>
          <a:xfrm>
            <a:off x="6553200" y="53086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Across threads</a:t>
            </a:r>
          </a:p>
        </p:txBody>
      </p:sp>
      <p:grpSp>
        <p:nvGrpSpPr>
          <p:cNvPr id="853" name="Text 56"/>
          <p:cNvGrpSpPr/>
          <p:nvPr/>
        </p:nvGrpSpPr>
        <p:grpSpPr>
          <a:xfrm>
            <a:off x="7804150" y="5264150"/>
            <a:ext cx="1758950" cy="317500"/>
            <a:chOff x="0" y="0"/>
            <a:chExt cx="1758950" cy="317500"/>
          </a:xfrm>
        </p:grpSpPr>
        <p:sp>
          <p:nvSpPr>
            <p:cNvPr id="851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852" name="Send · Sync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Send · Sync</a:t>
              </a:r>
            </a:p>
          </p:txBody>
        </p:sp>
      </p:grpSp>
      <p:sp>
        <p:nvSpPr>
          <p:cNvPr id="854" name="Shape 57"/>
          <p:cNvSpPr/>
          <p:nvPr/>
        </p:nvSpPr>
        <p:spPr>
          <a:xfrm>
            <a:off x="9613900" y="5264150"/>
            <a:ext cx="1758950" cy="317500"/>
          </a:xfrm>
          <a:prstGeom prst="roundRect">
            <a:avLst>
              <a:gd name="adj" fmla="val 10000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5" name="Shape 58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6" name="Text 59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Python's runtime already protects memory. From Rust, we borrow how to make correct logic the default.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Idiomatic Rust</a:t>
            </a:r>
          </a:p>
        </p:txBody>
      </p:sp>
      <p:sp>
        <p:nvSpPr>
          <p:cNvPr id="859" name="Shape 1"/>
          <p:cNvSpPr/>
          <p:nvPr/>
        </p:nvSpPr>
        <p:spPr>
          <a:xfrm>
            <a:off x="815975" y="1433190"/>
            <a:ext cx="8121650" cy="4118610"/>
          </a:xfrm>
          <a:prstGeom prst="roundRect">
            <a:avLst>
              <a:gd name="adj" fmla="val 1773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62" name="Text 2"/>
          <p:cNvGrpSpPr/>
          <p:nvPr/>
        </p:nvGrpSpPr>
        <p:grpSpPr>
          <a:xfrm>
            <a:off x="819150" y="1436365"/>
            <a:ext cx="8115300" cy="340361"/>
            <a:chOff x="0" y="0"/>
            <a:chExt cx="8115300" cy="340360"/>
          </a:xfrm>
        </p:grpSpPr>
        <p:sp>
          <p:nvSpPr>
            <p:cNvPr id="860" name="形狀"/>
            <p:cNvSpPr/>
            <p:nvPr/>
          </p:nvSpPr>
          <p:spPr>
            <a:xfrm>
              <a:off x="0" y="-1"/>
              <a:ext cx="8115300" cy="3403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4433"/>
                  </a:moveTo>
                  <a:cubicBezTo>
                    <a:pt x="0" y="1985"/>
                    <a:pt x="83" y="0"/>
                    <a:pt x="186" y="0"/>
                  </a:cubicBezTo>
                  <a:lnTo>
                    <a:pt x="21414" y="0"/>
                  </a:lnTo>
                  <a:cubicBezTo>
                    <a:pt x="21517" y="0"/>
                    <a:pt x="21600" y="1985"/>
                    <a:pt x="21600" y="4433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600"/>
                </a:lnSpc>
                <a:defRPr sz="1200"/>
              </a:pPr>
            </a:p>
          </p:txBody>
        </p:sp>
        <p:sp>
          <p:nvSpPr>
            <p:cNvPr id="861" name="Rust"/>
            <p:cNvSpPr txBox="1"/>
            <p:nvPr/>
          </p:nvSpPr>
          <p:spPr>
            <a:xfrm>
              <a:off x="139700" y="25399"/>
              <a:ext cx="7835900" cy="3149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100" tIns="38100" rIns="38100" bIns="38100" numCol="1" anchor="t">
              <a:normAutofit fontScale="100000" lnSpcReduction="0"/>
            </a:bodyPr>
            <a:lstStyle>
              <a:lvl1pPr>
                <a:lnSpc>
                  <a:spcPts val="1600"/>
                </a:lnSpc>
                <a:defRPr sz="1200">
                  <a:solidFill>
                    <a:srgbClr val="FBF4EE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Rust</a:t>
              </a:r>
            </a:p>
          </p:txBody>
        </p:sp>
      </p:grpSp>
      <p:sp>
        <p:nvSpPr>
          <p:cNvPr id="863" name="Text 3"/>
          <p:cNvSpPr txBox="1"/>
          <p:nvPr/>
        </p:nvSpPr>
        <p:spPr>
          <a:xfrm>
            <a:off x="1047749" y="1929134"/>
            <a:ext cx="40132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rgbClr val="8A9099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use std::sync::{Mutex, MutexGuard};</a:t>
            </a:r>
          </a:p>
        </p:txBody>
      </p:sp>
      <p:sp>
        <p:nvSpPr>
          <p:cNvPr id="864" name="Text 4"/>
          <p:cNvSpPr txBox="1"/>
          <p:nvPr/>
        </p:nvSpPr>
        <p:spPr>
          <a:xfrm>
            <a:off x="1047749" y="2462534"/>
            <a:ext cx="54991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fn withdraw(account: &amp;Mutex&lt;u64&gt;, amount: u64) {</a:t>
            </a:r>
          </a:p>
        </p:txBody>
      </p:sp>
      <p:grpSp>
        <p:nvGrpSpPr>
          <p:cNvPr id="867" name="Text 5"/>
          <p:cNvGrpSpPr/>
          <p:nvPr/>
        </p:nvGrpSpPr>
        <p:grpSpPr>
          <a:xfrm>
            <a:off x="971550" y="2729234"/>
            <a:ext cx="7810500" cy="266701"/>
            <a:chOff x="0" y="0"/>
            <a:chExt cx="7810500" cy="266700"/>
          </a:xfrm>
        </p:grpSpPr>
        <p:sp>
          <p:nvSpPr>
            <p:cNvPr id="865" name="矩形"/>
            <p:cNvSpPr/>
            <p:nvPr/>
          </p:nvSpPr>
          <p:spPr>
            <a:xfrm>
              <a:off x="0" y="0"/>
              <a:ext cx="7810500" cy="266700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100"/>
                </a:lnSpc>
                <a:defRPr sz="1500"/>
              </a:pPr>
            </a:p>
          </p:txBody>
        </p:sp>
        <p:sp>
          <p:nvSpPr>
            <p:cNvPr id="866" name="let mut balance: MutexGuard&lt;u64&gt; = account.lock().unwrap();"/>
            <p:cNvSpPr txBox="1"/>
            <p:nvPr/>
          </p:nvSpPr>
          <p:spPr>
            <a:xfrm>
              <a:off x="76200" y="0"/>
              <a:ext cx="7213600" cy="266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normAutofit fontScale="100000" lnSpcReduction="0"/>
            </a:bodyPr>
            <a:lstStyle>
              <a:lvl1pPr defTabSz="896111">
                <a:lnSpc>
                  <a:spcPts val="2000"/>
                </a:lnSpc>
                <a:defRPr sz="147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    let mut balance: MutexGuard&lt;u64&gt; = account.lock().unwrap();</a:t>
              </a:r>
            </a:p>
          </p:txBody>
        </p:sp>
      </p:grpSp>
      <p:sp>
        <p:nvSpPr>
          <p:cNvPr id="868" name="Text 6"/>
          <p:cNvSpPr txBox="1"/>
          <p:nvPr/>
        </p:nvSpPr>
        <p:spPr>
          <a:xfrm>
            <a:off x="1047749" y="2995934"/>
            <a:ext cx="30988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if *balance &gt;= amount {</a:t>
            </a:r>
          </a:p>
        </p:txBody>
      </p:sp>
      <p:sp>
        <p:nvSpPr>
          <p:cNvPr id="869" name="Text 7"/>
          <p:cNvSpPr txBox="1"/>
          <p:nvPr/>
        </p:nvSpPr>
        <p:spPr>
          <a:xfrm>
            <a:off x="1047749" y="3262634"/>
            <a:ext cx="30988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    *balance -= amount;</a:t>
            </a:r>
          </a:p>
        </p:txBody>
      </p:sp>
      <p:sp>
        <p:nvSpPr>
          <p:cNvPr id="870" name="Text 8"/>
          <p:cNvSpPr txBox="1"/>
          <p:nvPr/>
        </p:nvSpPr>
        <p:spPr>
          <a:xfrm>
            <a:off x="1047749" y="3529334"/>
            <a:ext cx="5842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}</a:t>
            </a:r>
          </a:p>
        </p:txBody>
      </p:sp>
      <p:sp>
        <p:nvSpPr>
          <p:cNvPr id="871" name="Text 9"/>
          <p:cNvSpPr txBox="1"/>
          <p:nvPr/>
        </p:nvSpPr>
        <p:spPr>
          <a:xfrm>
            <a:off x="1047749" y="3796034"/>
            <a:ext cx="45847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2100"/>
              </a:lnSpc>
              <a:defRPr sz="15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}   </a:t>
            </a:r>
            <a:r>
              <a:rPr>
                <a:solidFill>
                  <a:srgbClr val="5C6370"/>
                </a:solidFill>
              </a:rPr>
              <a:t>// guard dropped here, lock released</a:t>
            </a:r>
          </a:p>
        </p:txBody>
      </p:sp>
      <p:sp>
        <p:nvSpPr>
          <p:cNvPr id="872" name="Text 10"/>
          <p:cNvSpPr txBox="1"/>
          <p:nvPr/>
        </p:nvSpPr>
        <p:spPr>
          <a:xfrm>
            <a:off x="1047749" y="4329434"/>
            <a:ext cx="12700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rgbClr val="8A9099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fn main() {</a:t>
            </a:r>
          </a:p>
        </p:txBody>
      </p:sp>
      <p:sp>
        <p:nvSpPr>
          <p:cNvPr id="873" name="Text 11"/>
          <p:cNvSpPr txBox="1"/>
          <p:nvPr/>
        </p:nvSpPr>
        <p:spPr>
          <a:xfrm>
            <a:off x="1047749" y="4596134"/>
            <a:ext cx="52705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rgbClr val="8A9099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let account: Mutex&lt;u64&gt; = Mutex::new(100);</a:t>
            </a:r>
          </a:p>
        </p:txBody>
      </p:sp>
      <p:sp>
        <p:nvSpPr>
          <p:cNvPr id="874" name="Text 12"/>
          <p:cNvSpPr txBox="1"/>
          <p:nvPr/>
        </p:nvSpPr>
        <p:spPr>
          <a:xfrm>
            <a:off x="1047749" y="4862834"/>
            <a:ext cx="30988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rgbClr val="8A9099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withdraw(&amp;account, 30);</a:t>
            </a:r>
          </a:p>
        </p:txBody>
      </p:sp>
      <p:sp>
        <p:nvSpPr>
          <p:cNvPr id="875" name="Text 13"/>
          <p:cNvSpPr txBox="1"/>
          <p:nvPr/>
        </p:nvSpPr>
        <p:spPr>
          <a:xfrm>
            <a:off x="1047749" y="5129534"/>
            <a:ext cx="1270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rgbClr val="8A9099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}</a:t>
            </a:r>
          </a:p>
        </p:txBody>
      </p:sp>
      <p:sp>
        <p:nvSpPr>
          <p:cNvPr id="876" name="Shape 14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7" name="Text 15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Idiomatic Rust: correct by default. The guard is the only way to the data.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Racy Rust</a:t>
            </a:r>
          </a:p>
        </p:txBody>
      </p:sp>
      <p:sp>
        <p:nvSpPr>
          <p:cNvPr id="880" name="Shape 1"/>
          <p:cNvSpPr/>
          <p:nvPr/>
        </p:nvSpPr>
        <p:spPr>
          <a:xfrm>
            <a:off x="815975" y="1433190"/>
            <a:ext cx="8121650" cy="4118610"/>
          </a:xfrm>
          <a:prstGeom prst="roundRect">
            <a:avLst>
              <a:gd name="adj" fmla="val 1773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83" name="Text 2"/>
          <p:cNvGrpSpPr/>
          <p:nvPr/>
        </p:nvGrpSpPr>
        <p:grpSpPr>
          <a:xfrm>
            <a:off x="819150" y="1436365"/>
            <a:ext cx="8115300" cy="340361"/>
            <a:chOff x="0" y="0"/>
            <a:chExt cx="8115300" cy="340360"/>
          </a:xfrm>
        </p:grpSpPr>
        <p:sp>
          <p:nvSpPr>
            <p:cNvPr id="881" name="形狀"/>
            <p:cNvSpPr/>
            <p:nvPr/>
          </p:nvSpPr>
          <p:spPr>
            <a:xfrm>
              <a:off x="0" y="-1"/>
              <a:ext cx="8115300" cy="3403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4433"/>
                  </a:moveTo>
                  <a:cubicBezTo>
                    <a:pt x="0" y="1985"/>
                    <a:pt x="83" y="0"/>
                    <a:pt x="186" y="0"/>
                  </a:cubicBezTo>
                  <a:lnTo>
                    <a:pt x="21414" y="0"/>
                  </a:lnTo>
                  <a:cubicBezTo>
                    <a:pt x="21517" y="0"/>
                    <a:pt x="21600" y="1985"/>
                    <a:pt x="21600" y="4433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600"/>
                </a:lnSpc>
                <a:defRPr sz="1200"/>
              </a:pPr>
            </a:p>
          </p:txBody>
        </p:sp>
        <p:sp>
          <p:nvSpPr>
            <p:cNvPr id="882" name="Rust"/>
            <p:cNvSpPr txBox="1"/>
            <p:nvPr/>
          </p:nvSpPr>
          <p:spPr>
            <a:xfrm>
              <a:off x="139700" y="25399"/>
              <a:ext cx="7835900" cy="3149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8100" tIns="38100" rIns="38100" bIns="38100" numCol="1" anchor="t">
              <a:normAutofit fontScale="100000" lnSpcReduction="0"/>
            </a:bodyPr>
            <a:lstStyle>
              <a:lvl1pPr>
                <a:lnSpc>
                  <a:spcPts val="1600"/>
                </a:lnSpc>
                <a:defRPr sz="1200">
                  <a:solidFill>
                    <a:srgbClr val="FBF4EE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Rust</a:t>
              </a:r>
            </a:p>
          </p:txBody>
        </p:sp>
      </p:grpSp>
      <p:sp>
        <p:nvSpPr>
          <p:cNvPr id="884" name="Text 3"/>
          <p:cNvSpPr txBox="1"/>
          <p:nvPr/>
        </p:nvSpPr>
        <p:spPr>
          <a:xfrm>
            <a:off x="1047749" y="1929134"/>
            <a:ext cx="24130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rgbClr val="8A9099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use std::sync::Mutex;</a:t>
            </a:r>
          </a:p>
        </p:txBody>
      </p:sp>
      <p:sp>
        <p:nvSpPr>
          <p:cNvPr id="885" name="Text 4"/>
          <p:cNvSpPr txBox="1"/>
          <p:nvPr/>
        </p:nvSpPr>
        <p:spPr>
          <a:xfrm>
            <a:off x="1047749" y="2462534"/>
            <a:ext cx="54991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fn withdraw(account: &amp;Mutex&lt;u64&gt;, amount: u64) {</a:t>
            </a:r>
          </a:p>
        </p:txBody>
      </p:sp>
      <p:grpSp>
        <p:nvGrpSpPr>
          <p:cNvPr id="888" name="Text 5"/>
          <p:cNvGrpSpPr/>
          <p:nvPr/>
        </p:nvGrpSpPr>
        <p:grpSpPr>
          <a:xfrm>
            <a:off x="971550" y="2729234"/>
            <a:ext cx="7810500" cy="266701"/>
            <a:chOff x="0" y="0"/>
            <a:chExt cx="7810500" cy="266700"/>
          </a:xfrm>
        </p:grpSpPr>
        <p:sp>
          <p:nvSpPr>
            <p:cNvPr id="886" name="矩形"/>
            <p:cNvSpPr/>
            <p:nvPr/>
          </p:nvSpPr>
          <p:spPr>
            <a:xfrm>
              <a:off x="0" y="0"/>
              <a:ext cx="7810500" cy="266700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100"/>
                </a:lnSpc>
                <a:defRPr sz="1500"/>
              </a:pPr>
            </a:p>
          </p:txBody>
        </p:sp>
        <p:sp>
          <p:nvSpPr>
            <p:cNvPr id="887" name="let ok = *account.lock().unwrap() &gt;= amount;"/>
            <p:cNvSpPr txBox="1"/>
            <p:nvPr/>
          </p:nvSpPr>
          <p:spPr>
            <a:xfrm>
              <a:off x="76200" y="0"/>
              <a:ext cx="5499100" cy="266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normAutofit fontScale="100000" lnSpcReduction="0"/>
            </a:bodyPr>
            <a:lstStyle>
              <a:lvl1pPr defTabSz="896111">
                <a:lnSpc>
                  <a:spcPts val="2000"/>
                </a:lnSpc>
                <a:defRPr sz="147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    let ok = *account.lock().unwrap() &gt;= amount;</a:t>
              </a:r>
            </a:p>
          </p:txBody>
        </p:sp>
      </p:grpSp>
      <p:sp>
        <p:nvSpPr>
          <p:cNvPr id="889" name="Text 6"/>
          <p:cNvSpPr txBox="1"/>
          <p:nvPr/>
        </p:nvSpPr>
        <p:spPr>
          <a:xfrm>
            <a:off x="1047749" y="2995934"/>
            <a:ext cx="12700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if ok {</a:t>
            </a:r>
          </a:p>
        </p:txBody>
      </p:sp>
      <p:grpSp>
        <p:nvGrpSpPr>
          <p:cNvPr id="892" name="Text 7"/>
          <p:cNvGrpSpPr/>
          <p:nvPr/>
        </p:nvGrpSpPr>
        <p:grpSpPr>
          <a:xfrm>
            <a:off x="971550" y="3262634"/>
            <a:ext cx="7810500" cy="266701"/>
            <a:chOff x="0" y="0"/>
            <a:chExt cx="7810500" cy="266700"/>
          </a:xfrm>
        </p:grpSpPr>
        <p:sp>
          <p:nvSpPr>
            <p:cNvPr id="890" name="矩形"/>
            <p:cNvSpPr/>
            <p:nvPr/>
          </p:nvSpPr>
          <p:spPr>
            <a:xfrm>
              <a:off x="0" y="0"/>
              <a:ext cx="7810500" cy="266700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100"/>
                </a:lnSpc>
                <a:defRPr sz="1500"/>
              </a:pPr>
            </a:p>
          </p:txBody>
        </p:sp>
        <p:sp>
          <p:nvSpPr>
            <p:cNvPr id="891" name="*account.lock().unwrap() -= amount;"/>
            <p:cNvSpPr txBox="1"/>
            <p:nvPr/>
          </p:nvSpPr>
          <p:spPr>
            <a:xfrm>
              <a:off x="76200" y="0"/>
              <a:ext cx="4927600" cy="266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normAutofit fontScale="100000" lnSpcReduction="0"/>
            </a:bodyPr>
            <a:lstStyle>
              <a:lvl1pPr defTabSz="896111">
                <a:lnSpc>
                  <a:spcPts val="2000"/>
                </a:lnSpc>
                <a:defRPr sz="147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        *account.lock().unwrap() -= amount;</a:t>
              </a:r>
            </a:p>
          </p:txBody>
        </p:sp>
      </p:grpSp>
      <p:sp>
        <p:nvSpPr>
          <p:cNvPr id="893" name="Text 8"/>
          <p:cNvSpPr txBox="1"/>
          <p:nvPr/>
        </p:nvSpPr>
        <p:spPr>
          <a:xfrm>
            <a:off x="1047749" y="3529334"/>
            <a:ext cx="5842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}</a:t>
            </a:r>
          </a:p>
        </p:txBody>
      </p:sp>
      <p:sp>
        <p:nvSpPr>
          <p:cNvPr id="894" name="Text 9"/>
          <p:cNvSpPr txBox="1"/>
          <p:nvPr/>
        </p:nvSpPr>
        <p:spPr>
          <a:xfrm>
            <a:off x="1047749" y="3796034"/>
            <a:ext cx="1270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}</a:t>
            </a:r>
          </a:p>
        </p:txBody>
      </p:sp>
      <p:sp>
        <p:nvSpPr>
          <p:cNvPr id="895" name="Text 10"/>
          <p:cNvSpPr txBox="1"/>
          <p:nvPr/>
        </p:nvSpPr>
        <p:spPr>
          <a:xfrm>
            <a:off x="1047749" y="4329434"/>
            <a:ext cx="12700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rgbClr val="8A9099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fn main() {</a:t>
            </a:r>
          </a:p>
        </p:txBody>
      </p:sp>
      <p:sp>
        <p:nvSpPr>
          <p:cNvPr id="896" name="Text 11"/>
          <p:cNvSpPr txBox="1"/>
          <p:nvPr/>
        </p:nvSpPr>
        <p:spPr>
          <a:xfrm>
            <a:off x="1047749" y="4596134"/>
            <a:ext cx="52705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rgbClr val="8A9099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let account: Mutex&lt;u64&gt; = Mutex::new(100);</a:t>
            </a:r>
          </a:p>
        </p:txBody>
      </p:sp>
      <p:sp>
        <p:nvSpPr>
          <p:cNvPr id="897" name="Text 12"/>
          <p:cNvSpPr txBox="1"/>
          <p:nvPr/>
        </p:nvSpPr>
        <p:spPr>
          <a:xfrm>
            <a:off x="1047749" y="4862834"/>
            <a:ext cx="30988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rgbClr val="8A9099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withdraw(&amp;account, 30);</a:t>
            </a:r>
          </a:p>
        </p:txBody>
      </p:sp>
      <p:sp>
        <p:nvSpPr>
          <p:cNvPr id="898" name="Text 13"/>
          <p:cNvSpPr txBox="1"/>
          <p:nvPr/>
        </p:nvSpPr>
        <p:spPr>
          <a:xfrm>
            <a:off x="1047749" y="5129534"/>
            <a:ext cx="1270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rgbClr val="8A9099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}</a:t>
            </a:r>
          </a:p>
        </p:txBody>
      </p:sp>
      <p:sp>
        <p:nvSpPr>
          <p:cNvPr id="899" name="Shape 14"/>
          <p:cNvSpPr/>
          <p:nvPr/>
        </p:nvSpPr>
        <p:spPr>
          <a:xfrm>
            <a:off x="825499" y="5776590"/>
            <a:ext cx="1" cy="268606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0" name="Text 15"/>
          <p:cNvSpPr txBox="1"/>
          <p:nvPr/>
        </p:nvSpPr>
        <p:spPr>
          <a:xfrm>
            <a:off x="965200" y="5789290"/>
            <a:ext cx="3087879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Racy Rust: compiles, but the double </a:t>
            </a:r>
          </a:p>
        </p:txBody>
      </p:sp>
      <p:sp>
        <p:nvSpPr>
          <p:cNvPr id="901" name="Text 16"/>
          <p:cNvSpPr txBox="1"/>
          <p:nvPr/>
        </p:nvSpPr>
        <p:spPr>
          <a:xfrm>
            <a:off x="3963141" y="5792465"/>
            <a:ext cx="797561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lock() </a:t>
            </a:r>
          </a:p>
        </p:txBody>
      </p:sp>
      <p:sp>
        <p:nvSpPr>
          <p:cNvPr id="902" name="Text 17"/>
          <p:cNvSpPr txBox="1"/>
          <p:nvPr/>
        </p:nvSpPr>
        <p:spPr>
          <a:xfrm>
            <a:off x="4709900" y="5789290"/>
            <a:ext cx="1103123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stands out.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Text 0"/>
          <p:cNvSpPr txBox="1"/>
          <p:nvPr>
            <p:ph type="title"/>
          </p:nvPr>
        </p:nvSpPr>
        <p:spPr>
          <a:xfrm>
            <a:off x="812799" y="812800"/>
            <a:ext cx="10883394" cy="364385"/>
          </a:xfrm>
          <a:prstGeom prst="rect">
            <a:avLst/>
          </a:prstGeom>
        </p:spPr>
        <p:txBody>
          <a:bodyPr/>
          <a:lstStyle>
            <a:lvl1pPr>
              <a:lnSpc>
                <a:spcPts val="2600"/>
              </a:lnSpc>
              <a:defRPr spc="-100" sz="24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Hiding the parts in Python</a:t>
            </a:r>
          </a:p>
        </p:txBody>
      </p:sp>
      <p:sp>
        <p:nvSpPr>
          <p:cNvPr id="907" name="Shape 1"/>
          <p:cNvSpPr/>
          <p:nvPr/>
        </p:nvSpPr>
        <p:spPr>
          <a:xfrm>
            <a:off x="815975" y="1358155"/>
            <a:ext cx="3930650" cy="1271271"/>
          </a:xfrm>
          <a:prstGeom prst="roundRect">
            <a:avLst>
              <a:gd name="adj" fmla="val 5744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910" name="Text 2"/>
          <p:cNvGrpSpPr/>
          <p:nvPr/>
        </p:nvGrpSpPr>
        <p:grpSpPr>
          <a:xfrm>
            <a:off x="819150" y="1361330"/>
            <a:ext cx="3924300" cy="314961"/>
            <a:chOff x="0" y="0"/>
            <a:chExt cx="3924300" cy="314959"/>
          </a:xfrm>
        </p:grpSpPr>
        <p:sp>
          <p:nvSpPr>
            <p:cNvPr id="908" name="形狀"/>
            <p:cNvSpPr/>
            <p:nvPr/>
          </p:nvSpPr>
          <p:spPr>
            <a:xfrm>
              <a:off x="0" y="0"/>
              <a:ext cx="3924300" cy="314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4790"/>
                  </a:moveTo>
                  <a:cubicBezTo>
                    <a:pt x="0" y="2145"/>
                    <a:pt x="172" y="0"/>
                    <a:pt x="384" y="0"/>
                  </a:cubicBezTo>
                  <a:lnTo>
                    <a:pt x="21216" y="0"/>
                  </a:lnTo>
                  <a:cubicBezTo>
                    <a:pt x="21428" y="0"/>
                    <a:pt x="21600" y="2145"/>
                    <a:pt x="21600" y="479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600"/>
                </a:lnSpc>
                <a:defRPr sz="1200"/>
              </a:pPr>
            </a:p>
          </p:txBody>
        </p:sp>
        <p:sp>
          <p:nvSpPr>
            <p:cNvPr id="909" name="Plain Python"/>
            <p:cNvSpPr txBox="1"/>
            <p:nvPr/>
          </p:nvSpPr>
          <p:spPr>
            <a:xfrm>
              <a:off x="127000" y="25399"/>
              <a:ext cx="3670300" cy="2895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5400" tIns="25400" rIns="25400" bIns="25400" numCol="1" anchor="t">
              <a:normAutofit fontScale="100000" lnSpcReduction="0"/>
            </a:bodyPr>
            <a:lstStyle>
              <a:lvl1pPr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Plain Python</a:t>
              </a:r>
            </a:p>
          </p:txBody>
        </p:sp>
      </p:grpSp>
      <p:sp>
        <p:nvSpPr>
          <p:cNvPr id="911" name="Text 3"/>
          <p:cNvSpPr txBox="1"/>
          <p:nvPr/>
        </p:nvSpPr>
        <p:spPr>
          <a:xfrm>
            <a:off x="971550" y="1777900"/>
            <a:ext cx="239014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if self.balance &gt;= amount:</a:t>
            </a:r>
          </a:p>
        </p:txBody>
      </p:sp>
      <p:sp>
        <p:nvSpPr>
          <p:cNvPr id="912" name="Text 4"/>
          <p:cNvSpPr txBox="1"/>
          <p:nvPr/>
        </p:nvSpPr>
        <p:spPr>
          <a:xfrm>
            <a:off x="971550" y="2006500"/>
            <a:ext cx="239014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self.balance -= amount</a:t>
            </a:r>
          </a:p>
        </p:txBody>
      </p:sp>
      <p:sp>
        <p:nvSpPr>
          <p:cNvPr id="913" name="Text 5"/>
          <p:cNvSpPr txBox="1"/>
          <p:nvPr/>
        </p:nvSpPr>
        <p:spPr>
          <a:xfrm>
            <a:off x="971550" y="2311300"/>
            <a:ext cx="3728085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5C6370"/>
                </a:solidFill>
              </a:defRPr>
            </a:lvl1pPr>
          </a:lstStyle>
          <a:p>
            <a:pPr/>
            <a:r>
              <a:t>The version everyone writes first.</a:t>
            </a:r>
          </a:p>
        </p:txBody>
      </p:sp>
      <p:sp>
        <p:nvSpPr>
          <p:cNvPr id="914" name="Shape 6"/>
          <p:cNvSpPr/>
          <p:nvPr/>
        </p:nvSpPr>
        <p:spPr>
          <a:xfrm>
            <a:off x="4905375" y="1358155"/>
            <a:ext cx="6470650" cy="2871472"/>
          </a:xfrm>
          <a:prstGeom prst="roundRect">
            <a:avLst>
              <a:gd name="adj" fmla="val 2543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917" name="Text 7"/>
          <p:cNvGrpSpPr/>
          <p:nvPr/>
        </p:nvGrpSpPr>
        <p:grpSpPr>
          <a:xfrm>
            <a:off x="4908550" y="1361330"/>
            <a:ext cx="6464300" cy="314961"/>
            <a:chOff x="0" y="0"/>
            <a:chExt cx="6464300" cy="314959"/>
          </a:xfrm>
        </p:grpSpPr>
        <p:sp>
          <p:nvSpPr>
            <p:cNvPr id="915" name="形狀"/>
            <p:cNvSpPr/>
            <p:nvPr/>
          </p:nvSpPr>
          <p:spPr>
            <a:xfrm>
              <a:off x="0" y="0"/>
              <a:ext cx="6464300" cy="314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4790"/>
                  </a:moveTo>
                  <a:cubicBezTo>
                    <a:pt x="0" y="2145"/>
                    <a:pt x="104" y="0"/>
                    <a:pt x="233" y="0"/>
                  </a:cubicBezTo>
                  <a:lnTo>
                    <a:pt x="21367" y="0"/>
                  </a:lnTo>
                  <a:cubicBezTo>
                    <a:pt x="21496" y="0"/>
                    <a:pt x="21600" y="2145"/>
                    <a:pt x="21600" y="479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600"/>
                </a:lnSpc>
                <a:defRPr sz="1200"/>
              </a:pPr>
            </a:p>
          </p:txBody>
        </p:sp>
        <p:sp>
          <p:nvSpPr>
            <p:cNvPr id="916" name="Encapsulated Python"/>
            <p:cNvSpPr txBox="1"/>
            <p:nvPr/>
          </p:nvSpPr>
          <p:spPr>
            <a:xfrm>
              <a:off x="127000" y="25399"/>
              <a:ext cx="6210300" cy="2895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5400" tIns="25400" rIns="25400" bIns="25400" numCol="1" anchor="t">
              <a:normAutofit fontScale="100000" lnSpcReduction="0"/>
            </a:bodyPr>
            <a:lstStyle>
              <a:lvl1pPr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Encapsulated Python</a:t>
              </a:r>
            </a:p>
          </p:txBody>
        </p:sp>
      </p:grpSp>
      <p:sp>
        <p:nvSpPr>
          <p:cNvPr id="918" name="Text 8"/>
          <p:cNvSpPr txBox="1"/>
          <p:nvPr/>
        </p:nvSpPr>
        <p:spPr>
          <a:xfrm>
            <a:off x="5035549" y="1777900"/>
            <a:ext cx="129286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class Account:</a:t>
            </a:r>
          </a:p>
        </p:txBody>
      </p:sp>
      <p:sp>
        <p:nvSpPr>
          <p:cNvPr id="919" name="Text 9"/>
          <p:cNvSpPr txBox="1"/>
          <p:nvPr/>
        </p:nvSpPr>
        <p:spPr>
          <a:xfrm>
            <a:off x="5035550" y="1991246"/>
            <a:ext cx="412750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def __init__(self, balance: int) -&gt; None:</a:t>
            </a:r>
          </a:p>
        </p:txBody>
      </p:sp>
      <p:sp>
        <p:nvSpPr>
          <p:cNvPr id="920" name="Text 10"/>
          <p:cNvSpPr txBox="1"/>
          <p:nvPr/>
        </p:nvSpPr>
        <p:spPr>
          <a:xfrm>
            <a:off x="5035550" y="2204616"/>
            <a:ext cx="339598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    self._lock = threading.Lock()</a:t>
            </a:r>
          </a:p>
        </p:txBody>
      </p:sp>
      <p:sp>
        <p:nvSpPr>
          <p:cNvPr id="921" name="Text 11"/>
          <p:cNvSpPr txBox="1"/>
          <p:nvPr/>
        </p:nvSpPr>
        <p:spPr>
          <a:xfrm>
            <a:off x="5035550" y="2417985"/>
            <a:ext cx="284734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    self._balance = balance</a:t>
            </a:r>
          </a:p>
        </p:txBody>
      </p:sp>
      <p:sp>
        <p:nvSpPr>
          <p:cNvPr id="922" name="Text 12"/>
          <p:cNvSpPr txBox="1"/>
          <p:nvPr/>
        </p:nvSpPr>
        <p:spPr>
          <a:xfrm>
            <a:off x="5035550" y="2631331"/>
            <a:ext cx="403606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def withdraw(self, amount: int) -&gt; bool:</a:t>
            </a:r>
          </a:p>
        </p:txBody>
      </p:sp>
      <p:sp>
        <p:nvSpPr>
          <p:cNvPr id="923" name="Text 13"/>
          <p:cNvSpPr txBox="1"/>
          <p:nvPr/>
        </p:nvSpPr>
        <p:spPr>
          <a:xfrm>
            <a:off x="5035550" y="2844700"/>
            <a:ext cx="220726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    with self._lock:</a:t>
            </a:r>
          </a:p>
        </p:txBody>
      </p:sp>
      <p:sp>
        <p:nvSpPr>
          <p:cNvPr id="924" name="Text 14"/>
          <p:cNvSpPr txBox="1"/>
          <p:nvPr/>
        </p:nvSpPr>
        <p:spPr>
          <a:xfrm>
            <a:off x="5035550" y="3058046"/>
            <a:ext cx="357886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        if self._balance &gt;= amount:</a:t>
            </a:r>
          </a:p>
        </p:txBody>
      </p:sp>
      <p:sp>
        <p:nvSpPr>
          <p:cNvPr id="925" name="Text 15"/>
          <p:cNvSpPr txBox="1"/>
          <p:nvPr/>
        </p:nvSpPr>
        <p:spPr>
          <a:xfrm>
            <a:off x="5035550" y="3271415"/>
            <a:ext cx="357886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            self._balance -= amount</a:t>
            </a:r>
          </a:p>
        </p:txBody>
      </p:sp>
      <p:sp>
        <p:nvSpPr>
          <p:cNvPr id="926" name="Text 16"/>
          <p:cNvSpPr txBox="1"/>
          <p:nvPr/>
        </p:nvSpPr>
        <p:spPr>
          <a:xfrm>
            <a:off x="5035550" y="3484786"/>
            <a:ext cx="248158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            return True</a:t>
            </a:r>
          </a:p>
        </p:txBody>
      </p:sp>
      <p:sp>
        <p:nvSpPr>
          <p:cNvPr id="927" name="Text 17"/>
          <p:cNvSpPr txBox="1"/>
          <p:nvPr/>
        </p:nvSpPr>
        <p:spPr>
          <a:xfrm>
            <a:off x="5035550" y="3698130"/>
            <a:ext cx="220726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        return False</a:t>
            </a:r>
          </a:p>
        </p:txBody>
      </p:sp>
      <p:sp>
        <p:nvSpPr>
          <p:cNvPr id="928" name="Text 18"/>
          <p:cNvSpPr txBox="1"/>
          <p:nvPr/>
        </p:nvSpPr>
        <p:spPr>
          <a:xfrm>
            <a:off x="5035549" y="3911501"/>
            <a:ext cx="604774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# no get_balance, no set_balance; need flexibility? update(fn)</a:t>
            </a:r>
          </a:p>
        </p:txBody>
      </p:sp>
      <p:sp>
        <p:nvSpPr>
          <p:cNvPr id="929" name="Shape 19"/>
          <p:cNvSpPr/>
          <p:nvPr/>
        </p:nvSpPr>
        <p:spPr>
          <a:xfrm>
            <a:off x="815975" y="4247307"/>
            <a:ext cx="3930650" cy="880323"/>
          </a:xfrm>
          <a:prstGeom prst="roundRect">
            <a:avLst>
              <a:gd name="adj" fmla="val 8295"/>
            </a:avLst>
          </a:prstGeom>
          <a:solidFill>
            <a:srgbClr val="FBEDE5"/>
          </a:solidFill>
          <a:ln w="6350">
            <a:solidFill>
              <a:srgbClr val="E0B9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0" name="Text 20"/>
          <p:cNvSpPr txBox="1"/>
          <p:nvPr/>
        </p:nvSpPr>
        <p:spPr>
          <a:xfrm>
            <a:off x="971550" y="4326682"/>
            <a:ext cx="1278150" cy="36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600"/>
              </a:lnSpc>
              <a:defRPr sz="2400">
                <a:solidFill>
                  <a:schemeClr val="accent2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408,510</a:t>
            </a:r>
          </a:p>
        </p:txBody>
      </p:sp>
      <p:sp>
        <p:nvSpPr>
          <p:cNvPr id="931" name="Text 21"/>
          <p:cNvSpPr txBox="1"/>
          <p:nvPr/>
        </p:nvSpPr>
        <p:spPr>
          <a:xfrm>
            <a:off x="2249698" y="4407966"/>
            <a:ext cx="1066674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withdrawn</a:t>
            </a:r>
          </a:p>
        </p:txBody>
      </p:sp>
      <p:sp>
        <p:nvSpPr>
          <p:cNvPr id="932" name="Text 22"/>
          <p:cNvSpPr txBox="1"/>
          <p:nvPr/>
        </p:nvSpPr>
        <p:spPr>
          <a:xfrm>
            <a:off x="971550" y="4671690"/>
            <a:ext cx="3728085" cy="401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000">
                <a:solidFill>
                  <a:srgbClr val="3A404B"/>
                </a:solidFill>
              </a:defRPr>
            </a:lvl1pPr>
          </a:lstStyle>
          <a:p>
            <a:pPr/>
            <a:r>
              <a:t>from a balance of 100,000 · 8 threads withdrawing 1 until refused</a:t>
            </a:r>
          </a:p>
        </p:txBody>
      </p:sp>
      <p:sp>
        <p:nvSpPr>
          <p:cNvPr id="933" name="Shape 23"/>
          <p:cNvSpPr/>
          <p:nvPr/>
        </p:nvSpPr>
        <p:spPr>
          <a:xfrm>
            <a:off x="4905375" y="4247307"/>
            <a:ext cx="6470650" cy="880323"/>
          </a:xfrm>
          <a:prstGeom prst="roundRect">
            <a:avLst>
              <a:gd name="adj" fmla="val 8295"/>
            </a:avLst>
          </a:prstGeom>
          <a:solidFill>
            <a:srgbClr val="E8F3F0"/>
          </a:solidFill>
          <a:ln w="6350">
            <a:solidFill>
              <a:srgbClr val="B9DD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4" name="Text 24"/>
          <p:cNvSpPr txBox="1"/>
          <p:nvPr/>
        </p:nvSpPr>
        <p:spPr>
          <a:xfrm>
            <a:off x="5060950" y="4326682"/>
            <a:ext cx="248284" cy="36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600"/>
              </a:lnSpc>
              <a:defRPr sz="2400">
                <a:solidFill>
                  <a:schemeClr val="accent4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35" name="Text 25"/>
          <p:cNvSpPr txBox="1"/>
          <p:nvPr/>
        </p:nvSpPr>
        <p:spPr>
          <a:xfrm>
            <a:off x="5360034" y="4407966"/>
            <a:ext cx="1058419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overdrawn</a:t>
            </a:r>
          </a:p>
        </p:txBody>
      </p:sp>
      <p:sp>
        <p:nvSpPr>
          <p:cNvPr id="936" name="Text 26"/>
          <p:cNvSpPr txBox="1"/>
          <p:nvPr/>
        </p:nvSpPr>
        <p:spPr>
          <a:xfrm>
            <a:off x="5060950" y="4700066"/>
            <a:ext cx="2064728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same test, every call through </a:t>
            </a:r>
          </a:p>
        </p:txBody>
      </p:sp>
      <p:sp>
        <p:nvSpPr>
          <p:cNvPr id="937" name="Text 27"/>
          <p:cNvSpPr txBox="1"/>
          <p:nvPr/>
        </p:nvSpPr>
        <p:spPr>
          <a:xfrm>
            <a:off x="7065539" y="4703241"/>
            <a:ext cx="109728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withdraw()</a:t>
            </a:r>
          </a:p>
        </p:txBody>
      </p:sp>
      <p:sp>
        <p:nvSpPr>
          <p:cNvPr id="938" name="Shape 28"/>
          <p:cNvSpPr/>
          <p:nvPr/>
        </p:nvSpPr>
        <p:spPr>
          <a:xfrm flipH="1">
            <a:off x="825499" y="5539730"/>
            <a:ext cx="1" cy="505460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9" name="Text 29"/>
          <p:cNvSpPr txBox="1"/>
          <p:nvPr/>
        </p:nvSpPr>
        <p:spPr>
          <a:xfrm>
            <a:off x="965200" y="5552430"/>
            <a:ext cx="3898139" cy="505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Plain Python: broken,</a:t>
            </a:r>
          </a:p>
          <a:p>
            <a: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and it looks completely fine.</a:t>
            </a:r>
          </a:p>
        </p:txBody>
      </p:sp>
      <p:sp>
        <p:nvSpPr>
          <p:cNvPr id="940" name="Shape 30"/>
          <p:cNvSpPr/>
          <p:nvPr/>
        </p:nvSpPr>
        <p:spPr>
          <a:xfrm>
            <a:off x="4914900" y="5536555"/>
            <a:ext cx="1" cy="508635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1" name="Text 31"/>
          <p:cNvSpPr txBox="1"/>
          <p:nvPr/>
        </p:nvSpPr>
        <p:spPr>
          <a:xfrm>
            <a:off x="5054600" y="5549255"/>
            <a:ext cx="6514339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Encapsulated Python: the correct call is the easy one;</a:t>
            </a:r>
          </a:p>
        </p:txBody>
      </p:sp>
      <p:sp>
        <p:nvSpPr>
          <p:cNvPr id="942" name="Text 32"/>
          <p:cNvSpPr txBox="1"/>
          <p:nvPr/>
        </p:nvSpPr>
        <p:spPr>
          <a:xfrm>
            <a:off x="5054600" y="5789290"/>
            <a:ext cx="1714924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the racy path needs </a:t>
            </a:r>
          </a:p>
        </p:txBody>
      </p:sp>
      <p:sp>
        <p:nvSpPr>
          <p:cNvPr id="943" name="Text 33"/>
          <p:cNvSpPr txBox="1"/>
          <p:nvPr/>
        </p:nvSpPr>
        <p:spPr>
          <a:xfrm>
            <a:off x="6718723" y="5792465"/>
            <a:ext cx="904240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_balance</a:t>
            </a:r>
          </a:p>
        </p:txBody>
      </p:sp>
      <p:sp>
        <p:nvSpPr>
          <p:cNvPr id="944" name="Text 34"/>
          <p:cNvSpPr txBox="1"/>
          <p:nvPr/>
        </p:nvSpPr>
        <p:spPr>
          <a:xfrm>
            <a:off x="7572163" y="5789290"/>
            <a:ext cx="103928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.</a:t>
            </a:r>
          </a:p>
        </p:txBody>
      </p:sp>
      <p:sp>
        <p:nvSpPr>
          <p:cNvPr id="945" name="Text 35"/>
          <p:cNvSpPr txBox="1"/>
          <p:nvPr/>
        </p:nvSpPr>
        <p:spPr>
          <a:xfrm>
            <a:off x="812799" y="6238230"/>
            <a:ext cx="1088339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Source: mental_model/04_api_shape.py · results/mental_model_outputs_2026-10-13.txt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Types in Rust, API design in Python</a:t>
            </a:r>
          </a:p>
        </p:txBody>
      </p:sp>
      <p:sp>
        <p:nvSpPr>
          <p:cNvPr id="948" name="Shape 1"/>
          <p:cNvSpPr/>
          <p:nvPr/>
        </p:nvSpPr>
        <p:spPr>
          <a:xfrm>
            <a:off x="812800" y="1937692"/>
            <a:ext cx="1016000" cy="203201"/>
          </a:xfrm>
          <a:prstGeom prst="rect">
            <a:avLst/>
          </a:prstGeom>
          <a:solidFill>
            <a:srgbClr val="F6F5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9" name="Text 2"/>
          <p:cNvSpPr txBox="1"/>
          <p:nvPr/>
        </p:nvSpPr>
        <p:spPr>
          <a:xfrm>
            <a:off x="2057400" y="1891977"/>
            <a:ext cx="4526027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5C6370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The Path of Least Resistance</a:t>
            </a:r>
          </a:p>
        </p:txBody>
      </p:sp>
      <p:sp>
        <p:nvSpPr>
          <p:cNvPr id="950" name="Text 3"/>
          <p:cNvSpPr txBox="1"/>
          <p:nvPr/>
        </p:nvSpPr>
        <p:spPr>
          <a:xfrm>
            <a:off x="6832600" y="1891977"/>
            <a:ext cx="4526027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5C6370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The Racy Code</a:t>
            </a:r>
          </a:p>
        </p:txBody>
      </p:sp>
      <p:grpSp>
        <p:nvGrpSpPr>
          <p:cNvPr id="953" name="Text 4"/>
          <p:cNvGrpSpPr/>
          <p:nvPr/>
        </p:nvGrpSpPr>
        <p:grpSpPr>
          <a:xfrm>
            <a:off x="812800" y="2217092"/>
            <a:ext cx="1016000" cy="850901"/>
            <a:chOff x="0" y="0"/>
            <a:chExt cx="1016000" cy="850900"/>
          </a:xfrm>
        </p:grpSpPr>
        <p:sp>
          <p:nvSpPr>
            <p:cNvPr id="951" name="圓角矩形"/>
            <p:cNvSpPr/>
            <p:nvPr/>
          </p:nvSpPr>
          <p:spPr>
            <a:xfrm>
              <a:off x="0" y="0"/>
              <a:ext cx="1016000" cy="850900"/>
            </a:xfrm>
            <a:prstGeom prst="roundRect">
              <a:avLst>
                <a:gd name="adj" fmla="val 5970"/>
              </a:avLst>
            </a:prstGeom>
            <a:solidFill>
              <a:srgbClr val="FBEDE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ts val="1900"/>
                </a:lnSpc>
                <a:defRPr sz="1400"/>
              </a:pPr>
            </a:p>
          </p:txBody>
        </p:sp>
        <p:sp>
          <p:nvSpPr>
            <p:cNvPr id="952" name="Rust"/>
            <p:cNvSpPr txBox="1"/>
            <p:nvPr/>
          </p:nvSpPr>
          <p:spPr>
            <a:xfrm>
              <a:off x="40278" y="14878"/>
              <a:ext cx="935444" cy="8211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1321" tIns="61321" rIns="61321" bIns="61321" numCol="1" anchor="ctr">
              <a:normAutofit fontScale="100000" lnSpcReduction="0"/>
            </a:bodyPr>
            <a:lstStyle>
              <a:lvl1pPr>
                <a:lnSpc>
                  <a:spcPts val="1900"/>
                </a:lnSpc>
                <a:defRPr sz="1400">
                  <a:solidFill>
                    <a:schemeClr val="accent2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Rust</a:t>
              </a:r>
            </a:p>
          </p:txBody>
        </p:sp>
      </p:grpSp>
      <p:grpSp>
        <p:nvGrpSpPr>
          <p:cNvPr id="956" name="Text 5"/>
          <p:cNvGrpSpPr/>
          <p:nvPr/>
        </p:nvGrpSpPr>
        <p:grpSpPr>
          <a:xfrm>
            <a:off x="1908175" y="2220267"/>
            <a:ext cx="4692650" cy="844551"/>
            <a:chOff x="0" y="0"/>
            <a:chExt cx="4692650" cy="844550"/>
          </a:xfrm>
        </p:grpSpPr>
        <p:sp>
          <p:nvSpPr>
            <p:cNvPr id="954" name="圓角矩形"/>
            <p:cNvSpPr/>
            <p:nvPr/>
          </p:nvSpPr>
          <p:spPr>
            <a:xfrm>
              <a:off x="0" y="0"/>
              <a:ext cx="4692650" cy="844550"/>
            </a:xfrm>
            <a:prstGeom prst="roundRect">
              <a:avLst>
                <a:gd name="adj" fmla="val 8647"/>
              </a:avLst>
            </a:prstGeom>
            <a:solidFill>
              <a:srgbClr val="FDFCF9"/>
            </a:solidFill>
            <a:ln w="6350" cap="flat">
              <a:solidFill>
                <a:srgbClr val="DCD8C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100"/>
                </a:lnSpc>
                <a:defRPr sz="1500"/>
              </a:pPr>
            </a:p>
          </p:txBody>
        </p:sp>
        <p:sp>
          <p:nvSpPr>
            <p:cNvPr id="955" name="Idiomatic Rust: correct by default"/>
            <p:cNvSpPr txBox="1"/>
            <p:nvPr/>
          </p:nvSpPr>
          <p:spPr>
            <a:xfrm>
              <a:off x="156009" y="156009"/>
              <a:ext cx="4512077" cy="5325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742" tIns="2742" rIns="2742" bIns="2742" numCol="1" anchor="t">
              <a:normAutofit fontScale="100000" lnSpcReduction="0"/>
            </a:bodyPr>
            <a:lstStyle/>
            <a:p>
              <a:pPr>
                <a:lnSpc>
                  <a:spcPts val="2100"/>
                </a:lnSpc>
                <a:defRPr sz="1500">
                  <a:latin typeface="IBM Plex Sans Bold"/>
                  <a:ea typeface="IBM Plex Sans Bold"/>
                  <a:cs typeface="IBM Plex Sans Bold"/>
                  <a:sym typeface="IBM Plex Sans Bold"/>
                </a:defRPr>
              </a:pPr>
              <a:r>
                <a:t>Idiomatic Rust:</a:t>
              </a:r>
              <a:r>
                <a:rPr>
                  <a:latin typeface="+mj-lt"/>
                  <a:ea typeface="+mj-ea"/>
                  <a:cs typeface="+mj-cs"/>
                  <a:sym typeface="IBM Plex Sans Regular"/>
                </a:rPr>
                <a:t> correct by default</a:t>
              </a:r>
            </a:p>
          </p:txBody>
        </p:sp>
      </p:grpSp>
      <p:sp>
        <p:nvSpPr>
          <p:cNvPr id="957" name="Shape 6"/>
          <p:cNvSpPr/>
          <p:nvPr/>
        </p:nvSpPr>
        <p:spPr>
          <a:xfrm>
            <a:off x="6683375" y="2220267"/>
            <a:ext cx="4692650" cy="844551"/>
          </a:xfrm>
          <a:prstGeom prst="roundRect">
            <a:avLst>
              <a:gd name="adj" fmla="val 8647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8" name="Text 7"/>
          <p:cNvSpPr txBox="1"/>
          <p:nvPr/>
        </p:nvSpPr>
        <p:spPr>
          <a:xfrm>
            <a:off x="6838950" y="2375842"/>
            <a:ext cx="324005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100"/>
              </a:lnSpc>
              <a:defRPr sz="15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Racy Rust: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 compiles, but the double </a:t>
            </a:r>
          </a:p>
        </p:txBody>
      </p:sp>
      <p:sp>
        <p:nvSpPr>
          <p:cNvPr id="959" name="Text 8"/>
          <p:cNvSpPr txBox="1"/>
          <p:nvPr/>
        </p:nvSpPr>
        <p:spPr>
          <a:xfrm>
            <a:off x="9984633" y="2375842"/>
            <a:ext cx="96012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lock() </a:t>
            </a:r>
          </a:p>
        </p:txBody>
      </p:sp>
      <p:sp>
        <p:nvSpPr>
          <p:cNvPr id="960" name="Text 9"/>
          <p:cNvSpPr txBox="1"/>
          <p:nvPr/>
        </p:nvSpPr>
        <p:spPr>
          <a:xfrm>
            <a:off x="6838950" y="2642542"/>
            <a:ext cx="107785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stands out</a:t>
            </a:r>
          </a:p>
        </p:txBody>
      </p:sp>
      <p:grpSp>
        <p:nvGrpSpPr>
          <p:cNvPr id="963" name="Text 10"/>
          <p:cNvGrpSpPr/>
          <p:nvPr/>
        </p:nvGrpSpPr>
        <p:grpSpPr>
          <a:xfrm>
            <a:off x="812800" y="3144192"/>
            <a:ext cx="1016000" cy="1511301"/>
            <a:chOff x="0" y="0"/>
            <a:chExt cx="1016000" cy="1511300"/>
          </a:xfrm>
        </p:grpSpPr>
        <p:sp>
          <p:nvSpPr>
            <p:cNvPr id="961" name="圓角矩形"/>
            <p:cNvSpPr/>
            <p:nvPr/>
          </p:nvSpPr>
          <p:spPr>
            <a:xfrm>
              <a:off x="0" y="0"/>
              <a:ext cx="1016000" cy="1511300"/>
            </a:xfrm>
            <a:prstGeom prst="roundRect">
              <a:avLst>
                <a:gd name="adj" fmla="val 5000"/>
              </a:avLst>
            </a:prstGeom>
            <a:solidFill>
              <a:srgbClr val="E8EEF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ts val="1900"/>
                </a:lnSpc>
                <a:defRPr sz="1400"/>
              </a:pPr>
            </a:p>
          </p:txBody>
        </p:sp>
        <p:sp>
          <p:nvSpPr>
            <p:cNvPr id="962" name="Python"/>
            <p:cNvSpPr txBox="1"/>
            <p:nvPr/>
          </p:nvSpPr>
          <p:spPr>
            <a:xfrm>
              <a:off x="40278" y="14878"/>
              <a:ext cx="935444" cy="14815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1321" tIns="61321" rIns="61321" bIns="61321" numCol="1" anchor="ctr">
              <a:normAutofit fontScale="100000" lnSpcReduction="0"/>
            </a:bodyPr>
            <a:lstStyle>
              <a:lvl1pPr>
                <a:lnSpc>
                  <a:spcPts val="1900"/>
                </a:lnSpc>
                <a:defRPr sz="1400">
                  <a:solidFill>
                    <a:schemeClr val="accent1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Python</a:t>
              </a:r>
            </a:p>
          </p:txBody>
        </p:sp>
      </p:grpSp>
      <p:grpSp>
        <p:nvGrpSpPr>
          <p:cNvPr id="966" name="Text 11"/>
          <p:cNvGrpSpPr/>
          <p:nvPr/>
        </p:nvGrpSpPr>
        <p:grpSpPr>
          <a:xfrm>
            <a:off x="1908175" y="3147367"/>
            <a:ext cx="4692650" cy="577851"/>
            <a:chOff x="0" y="0"/>
            <a:chExt cx="4692650" cy="577850"/>
          </a:xfrm>
        </p:grpSpPr>
        <p:sp>
          <p:nvSpPr>
            <p:cNvPr id="964" name="圓角矩形"/>
            <p:cNvSpPr/>
            <p:nvPr/>
          </p:nvSpPr>
          <p:spPr>
            <a:xfrm>
              <a:off x="0" y="0"/>
              <a:ext cx="4692650" cy="577850"/>
            </a:xfrm>
            <a:prstGeom prst="roundRect">
              <a:avLst>
                <a:gd name="adj" fmla="val 12637"/>
              </a:avLst>
            </a:prstGeom>
            <a:solidFill>
              <a:srgbClr val="FDFCF9"/>
            </a:solidFill>
            <a:ln w="6350" cap="flat">
              <a:solidFill>
                <a:srgbClr val="DCD8C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100"/>
                </a:lnSpc>
                <a:defRPr sz="1500"/>
              </a:pPr>
            </a:p>
          </p:txBody>
        </p:sp>
        <p:sp>
          <p:nvSpPr>
            <p:cNvPr id="965" name="Plain Python: broken, and it looks completely fine"/>
            <p:cNvSpPr txBox="1"/>
            <p:nvPr/>
          </p:nvSpPr>
          <p:spPr>
            <a:xfrm>
              <a:off x="156008" y="156007"/>
              <a:ext cx="4512079" cy="2912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742" tIns="2742" rIns="2742" bIns="2742" numCol="1" anchor="t">
              <a:normAutofit fontScale="100000" lnSpcReduction="0"/>
            </a:bodyPr>
            <a:lstStyle/>
            <a:p>
              <a:pPr>
                <a:lnSpc>
                  <a:spcPts val="2100"/>
                </a:lnSpc>
                <a:defRPr sz="1500">
                  <a:latin typeface="IBM Plex Sans Bold"/>
                  <a:ea typeface="IBM Plex Sans Bold"/>
                  <a:cs typeface="IBM Plex Sans Bold"/>
                  <a:sym typeface="IBM Plex Sans Bold"/>
                </a:defRPr>
              </a:pPr>
              <a:r>
                <a:t>Plain Python:</a:t>
              </a:r>
              <a:r>
                <a:rPr>
                  <a:latin typeface="+mj-lt"/>
                  <a:ea typeface="+mj-ea"/>
                  <a:cs typeface="+mj-cs"/>
                  <a:sym typeface="IBM Plex Sans Regular"/>
                </a:rPr>
                <a:t> broken, and it looks completely fine</a:t>
              </a:r>
            </a:p>
          </p:txBody>
        </p:sp>
      </p:grpSp>
      <p:grpSp>
        <p:nvGrpSpPr>
          <p:cNvPr id="969" name="Text 12"/>
          <p:cNvGrpSpPr/>
          <p:nvPr/>
        </p:nvGrpSpPr>
        <p:grpSpPr>
          <a:xfrm>
            <a:off x="6683375" y="3147367"/>
            <a:ext cx="4692650" cy="577851"/>
            <a:chOff x="0" y="0"/>
            <a:chExt cx="4692650" cy="577850"/>
          </a:xfrm>
        </p:grpSpPr>
        <p:sp>
          <p:nvSpPr>
            <p:cNvPr id="967" name="圓角矩形"/>
            <p:cNvSpPr/>
            <p:nvPr/>
          </p:nvSpPr>
          <p:spPr>
            <a:xfrm>
              <a:off x="0" y="0"/>
              <a:ext cx="4692650" cy="577850"/>
            </a:xfrm>
            <a:prstGeom prst="roundRect">
              <a:avLst>
                <a:gd name="adj" fmla="val 12637"/>
              </a:avLst>
            </a:prstGeom>
            <a:solidFill>
              <a:srgbClr val="FDFCF9"/>
            </a:solidFill>
            <a:ln w="6350" cap="flat">
              <a:solidFill>
                <a:srgbClr val="DCD8C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100"/>
                </a:lnSpc>
                <a:defRPr sz="1500"/>
              </a:pPr>
            </a:p>
          </p:txBody>
        </p:sp>
        <p:sp>
          <p:nvSpPr>
            <p:cNvPr id="968" name="The same code. Nothing stands out."/>
            <p:cNvSpPr txBox="1"/>
            <p:nvPr/>
          </p:nvSpPr>
          <p:spPr>
            <a:xfrm>
              <a:off x="156008" y="156007"/>
              <a:ext cx="4512079" cy="2912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742" tIns="2742" rIns="2742" bIns="2742" numCol="1" anchor="t">
              <a:normAutofit fontScale="100000" lnSpcReduction="0"/>
            </a:bodyPr>
            <a:lstStyle>
              <a:lvl1pPr>
                <a:lnSpc>
                  <a:spcPts val="2100"/>
                </a:lnSpc>
                <a:defRPr sz="1500"/>
              </a:lvl1pPr>
            </a:lstStyle>
            <a:p>
              <a:pPr/>
              <a:r>
                <a:t>The same code. Nothing stands out.</a:t>
              </a:r>
            </a:p>
          </p:txBody>
        </p:sp>
      </p:grpSp>
      <p:grpSp>
        <p:nvGrpSpPr>
          <p:cNvPr id="972" name="Text 13"/>
          <p:cNvGrpSpPr/>
          <p:nvPr/>
        </p:nvGrpSpPr>
        <p:grpSpPr>
          <a:xfrm>
            <a:off x="1908175" y="3807767"/>
            <a:ext cx="4692650" cy="844551"/>
            <a:chOff x="0" y="0"/>
            <a:chExt cx="4692650" cy="844550"/>
          </a:xfrm>
        </p:grpSpPr>
        <p:sp>
          <p:nvSpPr>
            <p:cNvPr id="970" name="圓角矩形"/>
            <p:cNvSpPr/>
            <p:nvPr/>
          </p:nvSpPr>
          <p:spPr>
            <a:xfrm>
              <a:off x="0" y="0"/>
              <a:ext cx="4692650" cy="844550"/>
            </a:xfrm>
            <a:prstGeom prst="roundRect">
              <a:avLst>
                <a:gd name="adj" fmla="val 8647"/>
              </a:avLst>
            </a:prstGeom>
            <a:solidFill>
              <a:srgbClr val="FDFCF9"/>
            </a:solidFill>
            <a:ln w="6350" cap="flat">
              <a:solidFill>
                <a:srgbClr val="DCD8C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100"/>
                </a:lnSpc>
                <a:defRPr sz="1500"/>
              </a:pPr>
            </a:p>
          </p:txBody>
        </p:sp>
        <p:sp>
          <p:nvSpPr>
            <p:cNvPr id="971" name="Encapsulated Python: the correct call is the easy one"/>
            <p:cNvSpPr txBox="1"/>
            <p:nvPr/>
          </p:nvSpPr>
          <p:spPr>
            <a:xfrm>
              <a:off x="156009" y="156009"/>
              <a:ext cx="4512077" cy="5579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742" tIns="2742" rIns="2742" bIns="2742" numCol="1" anchor="t">
              <a:normAutofit fontScale="100000" lnSpcReduction="0"/>
            </a:bodyPr>
            <a:lstStyle/>
            <a:p>
              <a:pPr>
                <a:lnSpc>
                  <a:spcPts val="2100"/>
                </a:lnSpc>
                <a:defRPr sz="1500">
                  <a:latin typeface="IBM Plex Sans Bold"/>
                  <a:ea typeface="IBM Plex Sans Bold"/>
                  <a:cs typeface="IBM Plex Sans Bold"/>
                  <a:sym typeface="IBM Plex Sans Bold"/>
                </a:defRPr>
              </a:pPr>
              <a:r>
                <a:t>Encapsulated Python:</a:t>
              </a:r>
              <a:r>
                <a:rPr>
                  <a:latin typeface="+mj-lt"/>
                  <a:ea typeface="+mj-ea"/>
                  <a:cs typeface="+mj-cs"/>
                  <a:sym typeface="IBM Plex Sans Regular"/>
                </a:rPr>
                <a:t> the correct call is the easy one</a:t>
              </a:r>
            </a:p>
          </p:txBody>
        </p:sp>
      </p:grpSp>
      <p:sp>
        <p:nvSpPr>
          <p:cNvPr id="973" name="Shape 14"/>
          <p:cNvSpPr/>
          <p:nvPr/>
        </p:nvSpPr>
        <p:spPr>
          <a:xfrm>
            <a:off x="6683375" y="3807767"/>
            <a:ext cx="4692650" cy="844551"/>
          </a:xfrm>
          <a:prstGeom prst="roundRect">
            <a:avLst>
              <a:gd name="adj" fmla="val 8647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4" name="Text 15"/>
          <p:cNvSpPr txBox="1"/>
          <p:nvPr/>
        </p:nvSpPr>
        <p:spPr>
          <a:xfrm>
            <a:off x="6838950" y="3963342"/>
            <a:ext cx="182425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The racy path needs </a:t>
            </a:r>
          </a:p>
        </p:txBody>
      </p:sp>
      <p:sp>
        <p:nvSpPr>
          <p:cNvPr id="975" name="Text 16"/>
          <p:cNvSpPr txBox="1"/>
          <p:nvPr/>
        </p:nvSpPr>
        <p:spPr>
          <a:xfrm>
            <a:off x="8610071" y="3963342"/>
            <a:ext cx="109728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_balance</a:t>
            </a:r>
          </a:p>
        </p:txBody>
      </p:sp>
      <p:sp>
        <p:nvSpPr>
          <p:cNvPr id="976" name="Text 17"/>
          <p:cNvSpPr txBox="1"/>
          <p:nvPr/>
        </p:nvSpPr>
        <p:spPr>
          <a:xfrm>
            <a:off x="812800" y="4833292"/>
            <a:ext cx="46090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Note: </a:t>
            </a:r>
          </a:p>
        </p:txBody>
      </p:sp>
      <p:sp>
        <p:nvSpPr>
          <p:cNvPr id="977" name="Text 18"/>
          <p:cNvSpPr txBox="1"/>
          <p:nvPr/>
        </p:nvSpPr>
        <p:spPr>
          <a:xfrm>
            <a:off x="1222904" y="4833292"/>
            <a:ext cx="184469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A </a:t>
            </a:r>
          </a:p>
        </p:txBody>
      </p:sp>
      <p:sp>
        <p:nvSpPr>
          <p:cNvPr id="978" name="Text 19"/>
          <p:cNvSpPr txBox="1"/>
          <p:nvPr/>
        </p:nvSpPr>
        <p:spPr>
          <a:xfrm>
            <a:off x="1356572" y="4833292"/>
            <a:ext cx="12319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979" name="Text 20"/>
          <p:cNvSpPr txBox="1"/>
          <p:nvPr/>
        </p:nvSpPr>
        <p:spPr>
          <a:xfrm>
            <a:off x="1428962" y="4836467"/>
            <a:ext cx="1883665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with lock() as data:</a:t>
            </a:r>
          </a:p>
        </p:txBody>
      </p:sp>
      <p:sp>
        <p:nvSpPr>
          <p:cNvPr id="980" name="Text 21"/>
          <p:cNvSpPr txBox="1"/>
          <p:nvPr/>
        </p:nvSpPr>
        <p:spPr>
          <a:xfrm>
            <a:off x="3257762" y="4833292"/>
            <a:ext cx="15906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” </a:t>
            </a:r>
          </a:p>
        </p:txBody>
      </p:sp>
      <p:sp>
        <p:nvSpPr>
          <p:cNvPr id="981" name="Text 22"/>
          <p:cNvSpPr txBox="1"/>
          <p:nvPr/>
        </p:nvSpPr>
        <p:spPr>
          <a:xfrm>
            <a:off x="3366029" y="4833292"/>
            <a:ext cx="656909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wrapper </a:t>
            </a:r>
          </a:p>
        </p:txBody>
      </p:sp>
      <p:sp>
        <p:nvSpPr>
          <p:cNvPr id="982" name="Text 23"/>
          <p:cNvSpPr txBox="1"/>
          <p:nvPr/>
        </p:nvSpPr>
        <p:spPr>
          <a:xfrm>
            <a:off x="3972137" y="4833292"/>
            <a:ext cx="211455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in </a:t>
            </a:r>
          </a:p>
        </p:txBody>
      </p:sp>
      <p:sp>
        <p:nvSpPr>
          <p:cNvPr id="983" name="Text 24"/>
          <p:cNvSpPr txBox="1"/>
          <p:nvPr/>
        </p:nvSpPr>
        <p:spPr>
          <a:xfrm>
            <a:off x="4132791" y="4833292"/>
            <a:ext cx="5671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Python </a:t>
            </a:r>
          </a:p>
        </p:txBody>
      </p:sp>
      <p:sp>
        <p:nvSpPr>
          <p:cNvPr id="984" name="Text 25"/>
          <p:cNvSpPr txBox="1"/>
          <p:nvPr/>
        </p:nvSpPr>
        <p:spPr>
          <a:xfrm>
            <a:off x="4649153" y="4833292"/>
            <a:ext cx="19907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is </a:t>
            </a:r>
          </a:p>
        </p:txBody>
      </p:sp>
      <p:sp>
        <p:nvSpPr>
          <p:cNvPr id="985" name="Text 26"/>
          <p:cNvSpPr txBox="1"/>
          <p:nvPr/>
        </p:nvSpPr>
        <p:spPr>
          <a:xfrm>
            <a:off x="4797425" y="4833292"/>
            <a:ext cx="33803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just </a:t>
            </a:r>
          </a:p>
        </p:txBody>
      </p:sp>
      <p:sp>
        <p:nvSpPr>
          <p:cNvPr id="986" name="Text 27"/>
          <p:cNvSpPr txBox="1"/>
          <p:nvPr/>
        </p:nvSpPr>
        <p:spPr>
          <a:xfrm>
            <a:off x="5084657" y="4833292"/>
            <a:ext cx="16817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a </a:t>
            </a:r>
          </a:p>
        </p:txBody>
      </p:sp>
      <p:sp>
        <p:nvSpPr>
          <p:cNvPr id="987" name="Text 28"/>
          <p:cNvSpPr txBox="1"/>
          <p:nvPr/>
        </p:nvSpPr>
        <p:spPr>
          <a:xfrm>
            <a:off x="5202025" y="4833292"/>
            <a:ext cx="88212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convention. </a:t>
            </a:r>
          </a:p>
        </p:txBody>
      </p:sp>
      <p:sp>
        <p:nvSpPr>
          <p:cNvPr id="988" name="Text 29"/>
          <p:cNvSpPr txBox="1"/>
          <p:nvPr/>
        </p:nvSpPr>
        <p:spPr>
          <a:xfrm>
            <a:off x="6033346" y="4833292"/>
            <a:ext cx="34427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The </a:t>
            </a:r>
          </a:p>
        </p:txBody>
      </p:sp>
      <p:sp>
        <p:nvSpPr>
          <p:cNvPr id="989" name="Text 30"/>
          <p:cNvSpPr txBox="1"/>
          <p:nvPr/>
        </p:nvSpPr>
        <p:spPr>
          <a:xfrm>
            <a:off x="6326821" y="4833292"/>
            <a:ext cx="39137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data </a:t>
            </a:r>
          </a:p>
        </p:txBody>
      </p:sp>
      <p:sp>
        <p:nvSpPr>
          <p:cNvPr id="990" name="Text 31"/>
          <p:cNvSpPr txBox="1"/>
          <p:nvPr/>
        </p:nvSpPr>
        <p:spPr>
          <a:xfrm>
            <a:off x="6667395" y="4833292"/>
            <a:ext cx="74305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reference </a:t>
            </a:r>
          </a:p>
        </p:txBody>
      </p:sp>
      <p:sp>
        <p:nvSpPr>
          <p:cNvPr id="991" name="Text 32"/>
          <p:cNvSpPr txBox="1"/>
          <p:nvPr/>
        </p:nvSpPr>
        <p:spPr>
          <a:xfrm>
            <a:off x="7359650" y="4833292"/>
            <a:ext cx="33358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still </a:t>
            </a:r>
          </a:p>
        </p:txBody>
      </p:sp>
      <p:sp>
        <p:nvSpPr>
          <p:cNvPr id="992" name="Text 33"/>
          <p:cNvSpPr txBox="1"/>
          <p:nvPr/>
        </p:nvSpPr>
        <p:spPr>
          <a:xfrm>
            <a:off x="7642436" y="4833292"/>
            <a:ext cx="623359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outlives </a:t>
            </a:r>
          </a:p>
        </p:txBody>
      </p:sp>
      <p:sp>
        <p:nvSpPr>
          <p:cNvPr id="993" name="Text 34"/>
          <p:cNvSpPr txBox="1"/>
          <p:nvPr/>
        </p:nvSpPr>
        <p:spPr>
          <a:xfrm>
            <a:off x="8214994" y="4833292"/>
            <a:ext cx="310516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the </a:t>
            </a:r>
          </a:p>
        </p:txBody>
      </p:sp>
      <p:sp>
        <p:nvSpPr>
          <p:cNvPr id="994" name="Text 35"/>
          <p:cNvSpPr txBox="1"/>
          <p:nvPr/>
        </p:nvSpPr>
        <p:spPr>
          <a:xfrm>
            <a:off x="8474709" y="4833292"/>
            <a:ext cx="85640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with-block, </a:t>
            </a:r>
          </a:p>
        </p:txBody>
      </p:sp>
      <p:sp>
        <p:nvSpPr>
          <p:cNvPr id="995" name="Text 36"/>
          <p:cNvSpPr txBox="1"/>
          <p:nvPr/>
        </p:nvSpPr>
        <p:spPr>
          <a:xfrm>
            <a:off x="9280313" y="4833292"/>
            <a:ext cx="80137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3A404B"/>
                </a:solidFill>
              </a:defRPr>
            </a:lvl1pPr>
          </a:lstStyle>
          <a:p>
            <a:pPr/>
            <a:r>
              <a:t>unlocked.</a:t>
            </a:r>
          </a:p>
        </p:txBody>
      </p:sp>
      <p:sp>
        <p:nvSpPr>
          <p:cNvPr id="996" name="Shape 37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7" name="Text 38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Rust uses types to make the obvious code correct. Python can use API design to do the same.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Don't share, freeze it, or lock the whole operation</a:t>
            </a:r>
          </a:p>
        </p:txBody>
      </p:sp>
      <p:sp>
        <p:nvSpPr>
          <p:cNvPr id="1000" name="Shape 1"/>
          <p:cNvSpPr/>
          <p:nvPr/>
        </p:nvSpPr>
        <p:spPr>
          <a:xfrm>
            <a:off x="812800" y="1915169"/>
            <a:ext cx="2095500" cy="127001"/>
          </a:xfrm>
          <a:prstGeom prst="rect">
            <a:avLst/>
          </a:prstGeom>
          <a:solidFill>
            <a:srgbClr val="F6F5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01" name="Text 2"/>
          <p:cNvSpPr txBox="1"/>
          <p:nvPr/>
        </p:nvSpPr>
        <p:spPr>
          <a:xfrm>
            <a:off x="3136900" y="1915169"/>
            <a:ext cx="3087117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chemeClr val="accent2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Rust's default</a:t>
            </a:r>
          </a:p>
        </p:txBody>
      </p:sp>
      <p:sp>
        <p:nvSpPr>
          <p:cNvPr id="1002" name="Text 3"/>
          <p:cNvSpPr txBox="1"/>
          <p:nvPr/>
        </p:nvSpPr>
        <p:spPr>
          <a:xfrm>
            <a:off x="6515100" y="1915169"/>
            <a:ext cx="485305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chemeClr val="accent1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In Python, by hand</a:t>
            </a:r>
          </a:p>
        </p:txBody>
      </p:sp>
      <p:grpSp>
        <p:nvGrpSpPr>
          <p:cNvPr id="1005" name="Text 4"/>
          <p:cNvGrpSpPr/>
          <p:nvPr/>
        </p:nvGrpSpPr>
        <p:grpSpPr>
          <a:xfrm>
            <a:off x="812800" y="2296169"/>
            <a:ext cx="2095500" cy="850901"/>
            <a:chOff x="0" y="0"/>
            <a:chExt cx="2095500" cy="850900"/>
          </a:xfrm>
        </p:grpSpPr>
        <p:sp>
          <p:nvSpPr>
            <p:cNvPr id="1003" name="圓角矩形"/>
            <p:cNvSpPr/>
            <p:nvPr/>
          </p:nvSpPr>
          <p:spPr>
            <a:xfrm>
              <a:off x="0" y="0"/>
              <a:ext cx="2095500" cy="850900"/>
            </a:xfrm>
            <a:prstGeom prst="roundRect">
              <a:avLst>
                <a:gd name="adj" fmla="val 7463"/>
              </a:avLst>
            </a:prstGeom>
            <a:solidFill>
              <a:srgbClr val="E9E6D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ts val="2000"/>
                </a:lnSpc>
                <a:defRPr sz="1700"/>
              </a:pPr>
            </a:p>
          </p:txBody>
        </p:sp>
        <p:sp>
          <p:nvSpPr>
            <p:cNvPr id="1004" name="1 · Don't share"/>
            <p:cNvSpPr txBox="1"/>
            <p:nvPr/>
          </p:nvSpPr>
          <p:spPr>
            <a:xfrm>
              <a:off x="18598" y="18599"/>
              <a:ext cx="2058304" cy="8137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3801" tIns="133801" rIns="133801" bIns="133801" numCol="1" anchor="ctr">
              <a:normAutofit fontScale="100000" lnSpcReduction="0"/>
            </a:bodyPr>
            <a:lstStyle>
              <a:lvl1pPr>
                <a:lnSpc>
                  <a:spcPts val="2000"/>
                </a:lnSpc>
                <a:defRPr sz="1700">
                  <a:latin typeface="Space Grotesk Bold"/>
                  <a:ea typeface="Space Grotesk Bold"/>
                  <a:cs typeface="Space Grotesk Bold"/>
                  <a:sym typeface="Space Grotesk Bold"/>
                </a:defRPr>
              </a:lvl1pPr>
            </a:lstStyle>
            <a:p>
              <a:pPr/>
              <a:r>
                <a:t>1 · Don't share</a:t>
              </a:r>
            </a:p>
          </p:txBody>
        </p:sp>
      </p:grpSp>
      <p:sp>
        <p:nvSpPr>
          <p:cNvPr id="1006" name="Shape 5"/>
          <p:cNvSpPr/>
          <p:nvPr/>
        </p:nvSpPr>
        <p:spPr>
          <a:xfrm>
            <a:off x="2987675" y="2299344"/>
            <a:ext cx="3295650" cy="844551"/>
          </a:xfrm>
          <a:prstGeom prst="roundRect">
            <a:avLst>
              <a:gd name="adj" fmla="val 7143"/>
            </a:avLst>
          </a:prstGeom>
          <a:solidFill>
            <a:srgbClr val="FBEDE5"/>
          </a:solidFill>
          <a:ln w="6350">
            <a:solidFill>
              <a:srgbClr val="E8C9B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7" name="Text 6"/>
          <p:cNvSpPr txBox="1"/>
          <p:nvPr/>
        </p:nvSpPr>
        <p:spPr>
          <a:xfrm>
            <a:off x="3168650" y="2454919"/>
            <a:ext cx="404073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Not </a:t>
            </a:r>
          </a:p>
        </p:txBody>
      </p:sp>
      <p:sp>
        <p:nvSpPr>
          <p:cNvPr id="1008" name="Text 7"/>
          <p:cNvSpPr txBox="1"/>
          <p:nvPr/>
        </p:nvSpPr>
        <p:spPr>
          <a:xfrm>
            <a:off x="3521921" y="2454919"/>
            <a:ext cx="6825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shared </a:t>
            </a:r>
          </a:p>
        </p:txBody>
      </p:sp>
      <p:sp>
        <p:nvSpPr>
          <p:cNvPr id="1009" name="Text 8"/>
          <p:cNvSpPr txBox="1"/>
          <p:nvPr/>
        </p:nvSpPr>
        <p:spPr>
          <a:xfrm>
            <a:off x="4153641" y="2454919"/>
            <a:ext cx="652993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unless </a:t>
            </a:r>
          </a:p>
        </p:txBody>
      </p:sp>
      <p:sp>
        <p:nvSpPr>
          <p:cNvPr id="1010" name="Text 9"/>
          <p:cNvSpPr txBox="1"/>
          <p:nvPr/>
        </p:nvSpPr>
        <p:spPr>
          <a:xfrm>
            <a:off x="4755832" y="2454919"/>
            <a:ext cx="84889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wrapped </a:t>
            </a:r>
          </a:p>
        </p:txBody>
      </p:sp>
      <p:sp>
        <p:nvSpPr>
          <p:cNvPr id="1011" name="Text 10"/>
          <p:cNvSpPr txBox="1"/>
          <p:nvPr/>
        </p:nvSpPr>
        <p:spPr>
          <a:xfrm>
            <a:off x="5553921" y="2454919"/>
            <a:ext cx="25156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in </a:t>
            </a:r>
          </a:p>
        </p:txBody>
      </p:sp>
      <p:sp>
        <p:nvSpPr>
          <p:cNvPr id="1012" name="Text 11"/>
          <p:cNvSpPr txBox="1"/>
          <p:nvPr/>
        </p:nvSpPr>
        <p:spPr>
          <a:xfrm>
            <a:off x="3168650" y="2721619"/>
            <a:ext cx="1783079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Arc&lt;Mutex&lt;T&gt;&gt;</a:t>
            </a:r>
          </a:p>
        </p:txBody>
      </p:sp>
      <p:sp>
        <p:nvSpPr>
          <p:cNvPr id="1013" name="Shape 12"/>
          <p:cNvSpPr/>
          <p:nvPr/>
        </p:nvSpPr>
        <p:spPr>
          <a:xfrm>
            <a:off x="6365875" y="2299344"/>
            <a:ext cx="5010150" cy="844551"/>
          </a:xfrm>
          <a:prstGeom prst="roundRect">
            <a:avLst>
              <a:gd name="adj" fmla="val 7143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4" name="Text 13"/>
          <p:cNvSpPr txBox="1"/>
          <p:nvPr/>
        </p:nvSpPr>
        <p:spPr>
          <a:xfrm>
            <a:off x="6546850" y="2454919"/>
            <a:ext cx="130810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queue.put()</a:t>
            </a:r>
          </a:p>
        </p:txBody>
      </p:sp>
      <p:sp>
        <p:nvSpPr>
          <p:cNvPr id="1015" name="Text 14"/>
          <p:cNvSpPr txBox="1"/>
          <p:nvPr/>
        </p:nvSpPr>
        <p:spPr>
          <a:xfrm>
            <a:off x="7804150" y="2454919"/>
            <a:ext cx="46111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 and </a:t>
            </a:r>
          </a:p>
        </p:txBody>
      </p:sp>
      <p:sp>
        <p:nvSpPr>
          <p:cNvPr id="1016" name="Text 15"/>
          <p:cNvSpPr txBox="1"/>
          <p:nvPr/>
        </p:nvSpPr>
        <p:spPr>
          <a:xfrm>
            <a:off x="8214466" y="2454919"/>
            <a:ext cx="319089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let </a:t>
            </a:r>
          </a:p>
        </p:txBody>
      </p:sp>
      <p:sp>
        <p:nvSpPr>
          <p:cNvPr id="1017" name="Text 16"/>
          <p:cNvSpPr txBox="1"/>
          <p:nvPr/>
        </p:nvSpPr>
        <p:spPr>
          <a:xfrm>
            <a:off x="8482754" y="2454919"/>
            <a:ext cx="25696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go</a:t>
            </a:r>
          </a:p>
        </p:txBody>
      </p:sp>
      <p:sp>
        <p:nvSpPr>
          <p:cNvPr id="1018" name="Text 17"/>
          <p:cNvSpPr txBox="1"/>
          <p:nvPr/>
        </p:nvSpPr>
        <p:spPr>
          <a:xfrm>
            <a:off x="6546850" y="2721619"/>
            <a:ext cx="46545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split </a:t>
            </a:r>
          </a:p>
        </p:txBody>
      </p:sp>
      <p:sp>
        <p:nvSpPr>
          <p:cNvPr id="1019" name="Text 18"/>
          <p:cNvSpPr txBox="1"/>
          <p:nvPr/>
        </p:nvSpPr>
        <p:spPr>
          <a:xfrm>
            <a:off x="6961505" y="2721619"/>
            <a:ext cx="58896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input, </a:t>
            </a:r>
          </a:p>
        </p:txBody>
      </p:sp>
      <p:sp>
        <p:nvSpPr>
          <p:cNvPr id="1020" name="Text 19"/>
          <p:cNvSpPr txBox="1"/>
          <p:nvPr/>
        </p:nvSpPr>
        <p:spPr>
          <a:xfrm>
            <a:off x="7499667" y="2721619"/>
            <a:ext cx="63616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merge </a:t>
            </a:r>
          </a:p>
        </p:txBody>
      </p:sp>
      <p:sp>
        <p:nvSpPr>
          <p:cNvPr id="1021" name="Text 20"/>
          <p:cNvSpPr txBox="1"/>
          <p:nvPr/>
        </p:nvSpPr>
        <p:spPr>
          <a:xfrm>
            <a:off x="8085032" y="2721619"/>
            <a:ext cx="70218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results</a:t>
            </a:r>
          </a:p>
        </p:txBody>
      </p:sp>
      <p:grpSp>
        <p:nvGrpSpPr>
          <p:cNvPr id="1024" name="Text 21"/>
          <p:cNvGrpSpPr/>
          <p:nvPr/>
        </p:nvGrpSpPr>
        <p:grpSpPr>
          <a:xfrm>
            <a:off x="812800" y="3235969"/>
            <a:ext cx="2095500" cy="850901"/>
            <a:chOff x="0" y="0"/>
            <a:chExt cx="2095500" cy="850900"/>
          </a:xfrm>
        </p:grpSpPr>
        <p:sp>
          <p:nvSpPr>
            <p:cNvPr id="1022" name="圓角矩形"/>
            <p:cNvSpPr/>
            <p:nvPr/>
          </p:nvSpPr>
          <p:spPr>
            <a:xfrm>
              <a:off x="0" y="0"/>
              <a:ext cx="2095500" cy="850900"/>
            </a:xfrm>
            <a:prstGeom prst="roundRect">
              <a:avLst>
                <a:gd name="adj" fmla="val 7463"/>
              </a:avLst>
            </a:prstGeom>
            <a:solidFill>
              <a:srgbClr val="E9E6D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ts val="2000"/>
                </a:lnSpc>
                <a:defRPr sz="1700"/>
              </a:pPr>
            </a:p>
          </p:txBody>
        </p:sp>
        <p:sp>
          <p:nvSpPr>
            <p:cNvPr id="1023" name="2 · Freeze it"/>
            <p:cNvSpPr txBox="1"/>
            <p:nvPr/>
          </p:nvSpPr>
          <p:spPr>
            <a:xfrm>
              <a:off x="18598" y="18599"/>
              <a:ext cx="2058304" cy="8137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3801" tIns="133801" rIns="133801" bIns="133801" numCol="1" anchor="ctr">
              <a:normAutofit fontScale="100000" lnSpcReduction="0"/>
            </a:bodyPr>
            <a:lstStyle>
              <a:lvl1pPr>
                <a:lnSpc>
                  <a:spcPts val="2000"/>
                </a:lnSpc>
                <a:defRPr sz="1700">
                  <a:latin typeface="Space Grotesk Bold"/>
                  <a:ea typeface="Space Grotesk Bold"/>
                  <a:cs typeface="Space Grotesk Bold"/>
                  <a:sym typeface="Space Grotesk Bold"/>
                </a:defRPr>
              </a:lvl1pPr>
            </a:lstStyle>
            <a:p>
              <a:pPr/>
              <a:r>
                <a:t>2 · Freeze it</a:t>
              </a:r>
            </a:p>
          </p:txBody>
        </p:sp>
      </p:grpSp>
      <p:sp>
        <p:nvSpPr>
          <p:cNvPr id="1025" name="Shape 22"/>
          <p:cNvSpPr/>
          <p:nvPr/>
        </p:nvSpPr>
        <p:spPr>
          <a:xfrm>
            <a:off x="2987675" y="3239144"/>
            <a:ext cx="3295650" cy="844551"/>
          </a:xfrm>
          <a:prstGeom prst="roundRect">
            <a:avLst>
              <a:gd name="adj" fmla="val 7143"/>
            </a:avLst>
          </a:prstGeom>
          <a:solidFill>
            <a:srgbClr val="FBEDE5"/>
          </a:solidFill>
          <a:ln w="6350">
            <a:solidFill>
              <a:srgbClr val="E8C9B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6" name="Text 23"/>
          <p:cNvSpPr txBox="1"/>
          <p:nvPr/>
        </p:nvSpPr>
        <p:spPr>
          <a:xfrm>
            <a:off x="3168650" y="3528069"/>
            <a:ext cx="104817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Immutable </a:t>
            </a:r>
          </a:p>
        </p:txBody>
      </p:sp>
      <p:sp>
        <p:nvSpPr>
          <p:cNvPr id="1027" name="Text 24"/>
          <p:cNvSpPr txBox="1"/>
          <p:nvPr/>
        </p:nvSpPr>
        <p:spPr>
          <a:xfrm>
            <a:off x="4166022" y="3528069"/>
            <a:ext cx="652993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unless </a:t>
            </a:r>
          </a:p>
        </p:txBody>
      </p:sp>
      <p:sp>
        <p:nvSpPr>
          <p:cNvPr id="1028" name="Text 25"/>
          <p:cNvSpPr txBox="1"/>
          <p:nvPr/>
        </p:nvSpPr>
        <p:spPr>
          <a:xfrm>
            <a:off x="4768215" y="3528069"/>
            <a:ext cx="844233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declared </a:t>
            </a:r>
          </a:p>
        </p:txBody>
      </p:sp>
      <p:sp>
        <p:nvSpPr>
          <p:cNvPr id="1029" name="Text 26"/>
          <p:cNvSpPr txBox="1"/>
          <p:nvPr/>
        </p:nvSpPr>
        <p:spPr>
          <a:xfrm>
            <a:off x="5561646" y="3528069"/>
            <a:ext cx="40957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mut</a:t>
            </a:r>
          </a:p>
        </p:txBody>
      </p:sp>
      <p:sp>
        <p:nvSpPr>
          <p:cNvPr id="1030" name="Shape 27"/>
          <p:cNvSpPr/>
          <p:nvPr/>
        </p:nvSpPr>
        <p:spPr>
          <a:xfrm>
            <a:off x="6365875" y="3239144"/>
            <a:ext cx="5010150" cy="844551"/>
          </a:xfrm>
          <a:prstGeom prst="roundRect">
            <a:avLst>
              <a:gd name="adj" fmla="val 7143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1" name="Text 28"/>
          <p:cNvSpPr txBox="1"/>
          <p:nvPr/>
        </p:nvSpPr>
        <p:spPr>
          <a:xfrm>
            <a:off x="6546850" y="3394719"/>
            <a:ext cx="585788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tuple, </a:t>
            </a:r>
          </a:p>
        </p:txBody>
      </p:sp>
      <p:sp>
        <p:nvSpPr>
          <p:cNvPr id="1032" name="Text 29"/>
          <p:cNvSpPr txBox="1"/>
          <p:nvPr/>
        </p:nvSpPr>
        <p:spPr>
          <a:xfrm>
            <a:off x="7081838" y="3394719"/>
            <a:ext cx="947527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frozenset, </a:t>
            </a:r>
          </a:p>
        </p:txBody>
      </p:sp>
      <p:sp>
        <p:nvSpPr>
          <p:cNvPr id="1033" name="Text 30"/>
          <p:cNvSpPr txBox="1"/>
          <p:nvPr/>
        </p:nvSpPr>
        <p:spPr>
          <a:xfrm>
            <a:off x="7978563" y="3394719"/>
            <a:ext cx="2707768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@dataclass(frozen=True)</a:t>
            </a:r>
          </a:p>
        </p:txBody>
      </p:sp>
      <p:sp>
        <p:nvSpPr>
          <p:cNvPr id="1034" name="Text 31"/>
          <p:cNvSpPr txBox="1"/>
          <p:nvPr/>
        </p:nvSpPr>
        <p:spPr>
          <a:xfrm>
            <a:off x="10607463" y="3394719"/>
            <a:ext cx="102659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,</a:t>
            </a:r>
          </a:p>
        </p:txBody>
      </p:sp>
      <p:sp>
        <p:nvSpPr>
          <p:cNvPr id="1035" name="Text 32"/>
          <p:cNvSpPr txBox="1"/>
          <p:nvPr/>
        </p:nvSpPr>
        <p:spPr>
          <a:xfrm>
            <a:off x="6546850" y="3661419"/>
            <a:ext cx="95218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frozendict </a:t>
            </a:r>
          </a:p>
        </p:txBody>
      </p:sp>
      <p:sp>
        <p:nvSpPr>
          <p:cNvPr id="1036" name="Text 33"/>
          <p:cNvSpPr txBox="1"/>
          <p:nvPr/>
        </p:nvSpPr>
        <p:spPr>
          <a:xfrm>
            <a:off x="7448232" y="3661419"/>
            <a:ext cx="61817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(3.15) </a:t>
            </a:r>
          </a:p>
        </p:txBody>
      </p:sp>
      <p:sp>
        <p:nvSpPr>
          <p:cNvPr id="1037" name="Text 34"/>
          <p:cNvSpPr txBox="1"/>
          <p:nvPr/>
        </p:nvSpPr>
        <p:spPr>
          <a:xfrm>
            <a:off x="8015605" y="3661419"/>
            <a:ext cx="15790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· </a:t>
            </a:r>
          </a:p>
        </p:txBody>
      </p:sp>
      <p:sp>
        <p:nvSpPr>
          <p:cNvPr id="1038" name="Text 35"/>
          <p:cNvSpPr txBox="1"/>
          <p:nvPr/>
        </p:nvSpPr>
        <p:spPr>
          <a:xfrm>
            <a:off x="8122708" y="3661419"/>
            <a:ext cx="30025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all </a:t>
            </a:r>
          </a:p>
        </p:txBody>
      </p:sp>
      <p:sp>
        <p:nvSpPr>
          <p:cNvPr id="1039" name="Text 36"/>
          <p:cNvSpPr txBox="1"/>
          <p:nvPr/>
        </p:nvSpPr>
        <p:spPr>
          <a:xfrm>
            <a:off x="8372157" y="3661419"/>
            <a:ext cx="78892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shallow</a:t>
            </a:r>
          </a:p>
        </p:txBody>
      </p:sp>
      <p:grpSp>
        <p:nvGrpSpPr>
          <p:cNvPr id="1042" name="Text 37"/>
          <p:cNvGrpSpPr/>
          <p:nvPr/>
        </p:nvGrpSpPr>
        <p:grpSpPr>
          <a:xfrm>
            <a:off x="812800" y="4175769"/>
            <a:ext cx="2095500" cy="850901"/>
            <a:chOff x="0" y="0"/>
            <a:chExt cx="2095500" cy="850900"/>
          </a:xfrm>
        </p:grpSpPr>
        <p:sp>
          <p:nvSpPr>
            <p:cNvPr id="1040" name="圓角矩形"/>
            <p:cNvSpPr/>
            <p:nvPr/>
          </p:nvSpPr>
          <p:spPr>
            <a:xfrm>
              <a:off x="0" y="0"/>
              <a:ext cx="2095500" cy="850900"/>
            </a:xfrm>
            <a:prstGeom prst="roundRect">
              <a:avLst>
                <a:gd name="adj" fmla="val 7463"/>
              </a:avLst>
            </a:prstGeom>
            <a:solidFill>
              <a:srgbClr val="E9E6D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ts val="2000"/>
                </a:lnSpc>
                <a:defRPr sz="1700"/>
              </a:pPr>
            </a:p>
          </p:txBody>
        </p:sp>
        <p:sp>
          <p:nvSpPr>
            <p:cNvPr id="1041" name="3 · Lock the operation"/>
            <p:cNvSpPr txBox="1"/>
            <p:nvPr/>
          </p:nvSpPr>
          <p:spPr>
            <a:xfrm>
              <a:off x="72319" y="72320"/>
              <a:ext cx="2004583" cy="7062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80080" tIns="80080" rIns="80080" bIns="80080" numCol="1" anchor="ctr">
              <a:normAutofit fontScale="100000" lnSpcReduction="0"/>
            </a:bodyPr>
            <a:lstStyle>
              <a:lvl1pPr>
                <a:lnSpc>
                  <a:spcPts val="2000"/>
                </a:lnSpc>
                <a:defRPr sz="1700">
                  <a:latin typeface="Space Grotesk Bold"/>
                  <a:ea typeface="Space Grotesk Bold"/>
                  <a:cs typeface="Space Grotesk Bold"/>
                  <a:sym typeface="Space Grotesk Bold"/>
                </a:defRPr>
              </a:lvl1pPr>
            </a:lstStyle>
            <a:p>
              <a:pPr/>
              <a:r>
                <a:t>3 · Lock the operation</a:t>
              </a:r>
            </a:p>
          </p:txBody>
        </p:sp>
      </p:grpSp>
      <p:sp>
        <p:nvSpPr>
          <p:cNvPr id="1043" name="Shape 38"/>
          <p:cNvSpPr/>
          <p:nvPr/>
        </p:nvSpPr>
        <p:spPr>
          <a:xfrm>
            <a:off x="2987675" y="4178944"/>
            <a:ext cx="3295650" cy="844551"/>
          </a:xfrm>
          <a:prstGeom prst="roundRect">
            <a:avLst>
              <a:gd name="adj" fmla="val 7143"/>
            </a:avLst>
          </a:prstGeom>
          <a:solidFill>
            <a:srgbClr val="FBEDE5"/>
          </a:solidFill>
          <a:ln w="6350">
            <a:solidFill>
              <a:srgbClr val="E8C9B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4" name="Text 39"/>
          <p:cNvSpPr txBox="1"/>
          <p:nvPr/>
        </p:nvSpPr>
        <p:spPr>
          <a:xfrm>
            <a:off x="3168650" y="4467869"/>
            <a:ext cx="417513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The </a:t>
            </a:r>
          </a:p>
        </p:txBody>
      </p:sp>
      <p:sp>
        <p:nvSpPr>
          <p:cNvPr id="1045" name="Text 40"/>
          <p:cNvSpPr txBox="1"/>
          <p:nvPr/>
        </p:nvSpPr>
        <p:spPr>
          <a:xfrm>
            <a:off x="3535362" y="4467869"/>
            <a:ext cx="450533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lock </a:t>
            </a:r>
          </a:p>
        </p:txBody>
      </p:sp>
      <p:sp>
        <p:nvSpPr>
          <p:cNvPr id="1046" name="Text 41"/>
          <p:cNvSpPr txBox="1"/>
          <p:nvPr/>
        </p:nvSpPr>
        <p:spPr>
          <a:xfrm>
            <a:off x="3935095" y="4467869"/>
            <a:ext cx="548747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owns </a:t>
            </a:r>
          </a:p>
        </p:txBody>
      </p:sp>
      <p:sp>
        <p:nvSpPr>
          <p:cNvPr id="1047" name="Text 42"/>
          <p:cNvSpPr txBox="1"/>
          <p:nvPr/>
        </p:nvSpPr>
        <p:spPr>
          <a:xfrm>
            <a:off x="4433041" y="4467869"/>
            <a:ext cx="37539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the </a:t>
            </a:r>
          </a:p>
        </p:txBody>
      </p:sp>
      <p:sp>
        <p:nvSpPr>
          <p:cNvPr id="1048" name="Text 43"/>
          <p:cNvSpPr txBox="1"/>
          <p:nvPr/>
        </p:nvSpPr>
        <p:spPr>
          <a:xfrm>
            <a:off x="4757632" y="4467869"/>
            <a:ext cx="456947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data</a:t>
            </a:r>
          </a:p>
        </p:txBody>
      </p:sp>
      <p:sp>
        <p:nvSpPr>
          <p:cNvPr id="1049" name="Shape 44"/>
          <p:cNvSpPr/>
          <p:nvPr/>
        </p:nvSpPr>
        <p:spPr>
          <a:xfrm>
            <a:off x="6365875" y="4178944"/>
            <a:ext cx="5010150" cy="844551"/>
          </a:xfrm>
          <a:prstGeom prst="roundRect">
            <a:avLst>
              <a:gd name="adj" fmla="val 7143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0" name="Text 45"/>
          <p:cNvSpPr txBox="1"/>
          <p:nvPr/>
        </p:nvSpPr>
        <p:spPr>
          <a:xfrm>
            <a:off x="6546850" y="4334519"/>
            <a:ext cx="119380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withdraw()</a:t>
            </a:r>
          </a:p>
        </p:txBody>
      </p:sp>
      <p:sp>
        <p:nvSpPr>
          <p:cNvPr id="1051" name="Text 46"/>
          <p:cNvSpPr txBox="1"/>
          <p:nvPr/>
        </p:nvSpPr>
        <p:spPr>
          <a:xfrm>
            <a:off x="7689850" y="4334519"/>
            <a:ext cx="151448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: </a:t>
            </a:r>
          </a:p>
        </p:txBody>
      </p:sp>
      <p:sp>
        <p:nvSpPr>
          <p:cNvPr id="1052" name="Text 47"/>
          <p:cNvSpPr txBox="1"/>
          <p:nvPr/>
        </p:nvSpPr>
        <p:spPr>
          <a:xfrm>
            <a:off x="7790497" y="4334519"/>
            <a:ext cx="41518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one </a:t>
            </a:r>
          </a:p>
        </p:txBody>
      </p:sp>
      <p:sp>
        <p:nvSpPr>
          <p:cNvPr id="1053" name="Text 48"/>
          <p:cNvSpPr txBox="1"/>
          <p:nvPr/>
        </p:nvSpPr>
        <p:spPr>
          <a:xfrm>
            <a:off x="8154882" y="4334519"/>
            <a:ext cx="81068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method, </a:t>
            </a:r>
          </a:p>
        </p:txBody>
      </p:sp>
      <p:sp>
        <p:nvSpPr>
          <p:cNvPr id="1054" name="Text 49"/>
          <p:cNvSpPr txBox="1"/>
          <p:nvPr/>
        </p:nvSpPr>
        <p:spPr>
          <a:xfrm>
            <a:off x="8914765" y="4334519"/>
            <a:ext cx="41518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one </a:t>
            </a:r>
          </a:p>
        </p:txBody>
      </p:sp>
      <p:sp>
        <p:nvSpPr>
          <p:cNvPr id="1055" name="Text 50"/>
          <p:cNvSpPr txBox="1"/>
          <p:nvPr/>
        </p:nvSpPr>
        <p:spPr>
          <a:xfrm>
            <a:off x="9279149" y="4334519"/>
            <a:ext cx="50239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lock, </a:t>
            </a:r>
          </a:p>
        </p:txBody>
      </p:sp>
      <p:sp>
        <p:nvSpPr>
          <p:cNvPr id="1056" name="Text 51"/>
          <p:cNvSpPr txBox="1"/>
          <p:nvPr/>
        </p:nvSpPr>
        <p:spPr>
          <a:xfrm>
            <a:off x="9730740" y="4334519"/>
            <a:ext cx="31062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no </a:t>
            </a:r>
          </a:p>
        </p:txBody>
      </p:sp>
      <p:sp>
        <p:nvSpPr>
          <p:cNvPr id="1057" name="Text 52"/>
          <p:cNvSpPr txBox="1"/>
          <p:nvPr/>
        </p:nvSpPr>
        <p:spPr>
          <a:xfrm>
            <a:off x="9990560" y="4334519"/>
            <a:ext cx="412328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raw </a:t>
            </a:r>
          </a:p>
        </p:txBody>
      </p:sp>
      <p:sp>
        <p:nvSpPr>
          <p:cNvPr id="1058" name="Text 53"/>
          <p:cNvSpPr txBox="1"/>
          <p:nvPr/>
        </p:nvSpPr>
        <p:spPr>
          <a:xfrm>
            <a:off x="10352088" y="4334519"/>
            <a:ext cx="77724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getters </a:t>
            </a:r>
          </a:p>
        </p:txBody>
      </p:sp>
      <p:sp>
        <p:nvSpPr>
          <p:cNvPr id="1059" name="Text 54"/>
          <p:cNvSpPr txBox="1"/>
          <p:nvPr/>
        </p:nvSpPr>
        <p:spPr>
          <a:xfrm>
            <a:off x="6546850" y="4601219"/>
            <a:ext cx="27241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or </a:t>
            </a:r>
          </a:p>
        </p:txBody>
      </p:sp>
      <p:sp>
        <p:nvSpPr>
          <p:cNvPr id="1060" name="Text 55"/>
          <p:cNvSpPr txBox="1"/>
          <p:nvPr/>
        </p:nvSpPr>
        <p:spPr>
          <a:xfrm>
            <a:off x="6768465" y="4601219"/>
            <a:ext cx="71526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/>
            </a:lvl1pPr>
          </a:lstStyle>
          <a:p>
            <a:pPr/>
            <a:r>
              <a:t>setters</a:t>
            </a:r>
          </a:p>
        </p:txBody>
      </p:sp>
      <p:sp>
        <p:nvSpPr>
          <p:cNvPr id="1061" name="Shape 56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2" name="Text 57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Rust makes these three the default. In Python, you choose one each time.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Three questions</a:t>
            </a:r>
          </a:p>
        </p:txBody>
      </p:sp>
      <p:sp>
        <p:nvSpPr>
          <p:cNvPr id="1065" name="Text 1"/>
          <p:cNvSpPr txBox="1"/>
          <p:nvPr/>
        </p:nvSpPr>
        <p:spPr>
          <a:xfrm>
            <a:off x="812800" y="1379215"/>
            <a:ext cx="5650992" cy="36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600"/>
              </a:lnSpc>
              <a:defRPr sz="22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1. Who else holds this?</a:t>
            </a:r>
          </a:p>
        </p:txBody>
      </p:sp>
      <p:sp>
        <p:nvSpPr>
          <p:cNvPr id="1066" name="Text 2"/>
          <p:cNvSpPr txBox="1"/>
          <p:nvPr/>
        </p:nvSpPr>
        <p:spPr>
          <a:xfrm>
            <a:off x="812800" y="1968500"/>
            <a:ext cx="5650992" cy="3606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600"/>
              </a:lnSpc>
              <a:defRPr sz="22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2. Is anyone mutating it?</a:t>
            </a:r>
          </a:p>
        </p:txBody>
      </p:sp>
      <p:sp>
        <p:nvSpPr>
          <p:cNvPr id="1067" name="Text 3"/>
          <p:cNvSpPr txBox="1"/>
          <p:nvPr/>
        </p:nvSpPr>
        <p:spPr>
          <a:xfrm>
            <a:off x="812800" y="2557784"/>
            <a:ext cx="5650992" cy="695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600"/>
              </a:lnSpc>
              <a:defRPr sz="2200">
                <a:solidFill>
                  <a:schemeClr val="accent2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3. If both: give each thread a copy,</a:t>
            </a:r>
          </a:p>
          <a:p>
            <a:pPr>
              <a:lnSpc>
                <a:spcPts val="2600"/>
              </a:lnSpc>
              <a:defRPr sz="2200">
                <a:solidFill>
                  <a:schemeClr val="accent2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freeze it, or lock the whole operation?</a:t>
            </a:r>
          </a:p>
        </p:txBody>
      </p:sp>
      <p:sp>
        <p:nvSpPr>
          <p:cNvPr id="1068" name="Text 4"/>
          <p:cNvSpPr txBox="1"/>
          <p:nvPr/>
        </p:nvSpPr>
        <p:spPr>
          <a:xfrm>
            <a:off x="812800" y="3482330"/>
            <a:ext cx="5650992" cy="594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/>
            </a:lvl1pPr>
          </a:lstStyle>
          <a:p>
            <a:pPr/>
            <a:r>
              <a:t>Asking the questions won't magically erase bugs. It tells you exactly where to put the fix.</a:t>
            </a:r>
          </a:p>
        </p:txBody>
      </p:sp>
      <p:sp>
        <p:nvSpPr>
          <p:cNvPr id="1069" name="Shape 5"/>
          <p:cNvSpPr/>
          <p:nvPr/>
        </p:nvSpPr>
        <p:spPr>
          <a:xfrm>
            <a:off x="6553200" y="4066530"/>
            <a:ext cx="4826000" cy="1521461"/>
          </a:xfrm>
          <a:prstGeom prst="rect">
            <a:avLst/>
          </a:prstGeom>
          <a:solidFill>
            <a:srgbClr val="F6F5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0" name="Text 6"/>
          <p:cNvSpPr txBox="1"/>
          <p:nvPr/>
        </p:nvSpPr>
        <p:spPr>
          <a:xfrm>
            <a:off x="7874000" y="4066530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Rust</a:t>
            </a:r>
          </a:p>
        </p:txBody>
      </p:sp>
      <p:sp>
        <p:nvSpPr>
          <p:cNvPr id="1071" name="Text 7"/>
          <p:cNvSpPr txBox="1"/>
          <p:nvPr/>
        </p:nvSpPr>
        <p:spPr>
          <a:xfrm>
            <a:off x="9683750" y="4066530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1072" name="Text 8"/>
          <p:cNvSpPr txBox="1"/>
          <p:nvPr/>
        </p:nvSpPr>
        <p:spPr>
          <a:xfrm>
            <a:off x="6553200" y="43688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Who holds it?</a:t>
            </a:r>
          </a:p>
        </p:txBody>
      </p:sp>
      <p:grpSp>
        <p:nvGrpSpPr>
          <p:cNvPr id="1075" name="Text 9"/>
          <p:cNvGrpSpPr/>
          <p:nvPr/>
        </p:nvGrpSpPr>
        <p:grpSpPr>
          <a:xfrm>
            <a:off x="7804150" y="4324350"/>
            <a:ext cx="1758950" cy="317500"/>
            <a:chOff x="0" y="0"/>
            <a:chExt cx="1758950" cy="317500"/>
          </a:xfrm>
        </p:grpSpPr>
        <p:sp>
          <p:nvSpPr>
            <p:cNvPr id="1073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074" name="owner · &amp; · &amp;mut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owner · &amp; · &amp;mut</a:t>
              </a:r>
            </a:p>
          </p:txBody>
        </p:sp>
      </p:grpSp>
      <p:grpSp>
        <p:nvGrpSpPr>
          <p:cNvPr id="1078" name="Text 10"/>
          <p:cNvGrpSpPr/>
          <p:nvPr/>
        </p:nvGrpSpPr>
        <p:grpSpPr>
          <a:xfrm>
            <a:off x="9613900" y="4324350"/>
            <a:ext cx="1758950" cy="317500"/>
            <a:chOff x="0" y="0"/>
            <a:chExt cx="1758950" cy="317500"/>
          </a:xfrm>
        </p:grpSpPr>
        <p:sp>
          <p:nvSpPr>
            <p:cNvPr id="1076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E8EEF8"/>
            </a:solidFill>
            <a:ln w="127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077" name="a mental reflex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/>
              </a:lvl1pPr>
            </a:lstStyle>
            <a:p>
              <a:pPr/>
              <a:r>
                <a:t>a mental reflex</a:t>
              </a:r>
            </a:p>
          </p:txBody>
        </p:sp>
      </p:grpSp>
      <p:sp>
        <p:nvSpPr>
          <p:cNvPr id="1079" name="Text 11"/>
          <p:cNvSpPr txBox="1"/>
          <p:nvPr/>
        </p:nvSpPr>
        <p:spPr>
          <a:xfrm>
            <a:off x="6553200" y="4737100"/>
            <a:ext cx="12573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Is it mutated?</a:t>
            </a:r>
          </a:p>
        </p:txBody>
      </p:sp>
      <p:grpSp>
        <p:nvGrpSpPr>
          <p:cNvPr id="1082" name="Text 12"/>
          <p:cNvGrpSpPr/>
          <p:nvPr/>
        </p:nvGrpSpPr>
        <p:grpSpPr>
          <a:xfrm>
            <a:off x="7804150" y="4692650"/>
            <a:ext cx="1758950" cy="520700"/>
            <a:chOff x="0" y="0"/>
            <a:chExt cx="1758950" cy="520700"/>
          </a:xfrm>
        </p:grpSpPr>
        <p:sp>
          <p:nvSpPr>
            <p:cNvPr id="1080" name="圓角矩形"/>
            <p:cNvSpPr/>
            <p:nvPr/>
          </p:nvSpPr>
          <p:spPr>
            <a:xfrm>
              <a:off x="0" y="0"/>
              <a:ext cx="1758950" cy="520700"/>
            </a:xfrm>
            <a:prstGeom prst="roundRect">
              <a:avLst>
                <a:gd name="adj" fmla="val 6098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081" name="mut · &amp;mut ·…"/>
            <p:cNvSpPr txBox="1"/>
            <p:nvPr/>
          </p:nvSpPr>
          <p:spPr>
            <a:xfrm>
              <a:off x="66450" y="41049"/>
              <a:ext cx="1676850" cy="453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/>
            <a:p>
              <a: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pPr>
              <a:r>
                <a:t>mut · &amp;mut ·</a:t>
              </a:r>
            </a:p>
            <a:p>
              <a: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pPr>
              <a:r>
                <a:t>Mutex / Atomic</a:t>
              </a:r>
            </a:p>
          </p:txBody>
        </p:sp>
      </p:grpSp>
      <p:grpSp>
        <p:nvGrpSpPr>
          <p:cNvPr id="1085" name="Text 13"/>
          <p:cNvGrpSpPr/>
          <p:nvPr/>
        </p:nvGrpSpPr>
        <p:grpSpPr>
          <a:xfrm>
            <a:off x="9613900" y="4692650"/>
            <a:ext cx="1758950" cy="520700"/>
            <a:chOff x="0" y="0"/>
            <a:chExt cx="1758950" cy="520700"/>
          </a:xfrm>
        </p:grpSpPr>
        <p:sp>
          <p:nvSpPr>
            <p:cNvPr id="1083" name="圓角矩形"/>
            <p:cNvSpPr/>
            <p:nvPr/>
          </p:nvSpPr>
          <p:spPr>
            <a:xfrm>
              <a:off x="0" y="0"/>
              <a:ext cx="1758950" cy="520700"/>
            </a:xfrm>
            <a:prstGeom prst="roundRect">
              <a:avLst>
                <a:gd name="adj" fmla="val 6098"/>
              </a:avLst>
            </a:prstGeom>
            <a:solidFill>
              <a:srgbClr val="E8EEF8"/>
            </a:solidFill>
            <a:ln w="127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084" name="API encapsulation"/>
            <p:cNvSpPr txBox="1"/>
            <p:nvPr/>
          </p:nvSpPr>
          <p:spPr>
            <a:xfrm>
              <a:off x="66450" y="41049"/>
              <a:ext cx="1676850" cy="4386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/>
              </a:lvl1pPr>
            </a:lstStyle>
            <a:p>
              <a:pPr/>
              <a:r>
                <a:t>API encapsulation</a:t>
              </a:r>
            </a:p>
          </p:txBody>
        </p:sp>
      </p:grpSp>
      <p:sp>
        <p:nvSpPr>
          <p:cNvPr id="1086" name="Text 14"/>
          <p:cNvSpPr txBox="1"/>
          <p:nvPr/>
        </p:nvSpPr>
        <p:spPr>
          <a:xfrm>
            <a:off x="6553200" y="53086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Across threads</a:t>
            </a:r>
          </a:p>
        </p:txBody>
      </p:sp>
      <p:grpSp>
        <p:nvGrpSpPr>
          <p:cNvPr id="1089" name="Text 15"/>
          <p:cNvGrpSpPr/>
          <p:nvPr/>
        </p:nvGrpSpPr>
        <p:grpSpPr>
          <a:xfrm>
            <a:off x="7804150" y="5264150"/>
            <a:ext cx="1758950" cy="317500"/>
            <a:chOff x="0" y="0"/>
            <a:chExt cx="1758950" cy="317500"/>
          </a:xfrm>
        </p:grpSpPr>
        <p:sp>
          <p:nvSpPr>
            <p:cNvPr id="1087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088" name="Send · Sync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Send · Sync</a:t>
              </a:r>
            </a:p>
          </p:txBody>
        </p:sp>
      </p:grpSp>
      <p:sp>
        <p:nvSpPr>
          <p:cNvPr id="1090" name="Shape 16"/>
          <p:cNvSpPr/>
          <p:nvPr/>
        </p:nvSpPr>
        <p:spPr>
          <a:xfrm>
            <a:off x="9613900" y="5264150"/>
            <a:ext cx="1758950" cy="317500"/>
          </a:xfrm>
          <a:prstGeom prst="roundRect">
            <a:avLst>
              <a:gd name="adj" fmla="val 10000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1" name="Shape 17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2" name="Text 18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The first two questions spot the danger. The third picks the fix.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Reading Python docs with Send and Sync</a:t>
            </a:r>
          </a:p>
        </p:txBody>
      </p:sp>
      <p:sp>
        <p:nvSpPr>
          <p:cNvPr id="1095" name="Shape 1"/>
          <p:cNvSpPr/>
          <p:nvPr/>
        </p:nvSpPr>
        <p:spPr>
          <a:xfrm>
            <a:off x="812800" y="1328415"/>
            <a:ext cx="4347422" cy="553721"/>
          </a:xfrm>
          <a:prstGeom prst="roundRect">
            <a:avLst>
              <a:gd name="adj" fmla="val 6881"/>
            </a:avLst>
          </a:prstGeom>
          <a:solidFill>
            <a:srgbClr val="EEF2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6" name="Shape 2"/>
          <p:cNvSpPr/>
          <p:nvPr/>
        </p:nvSpPr>
        <p:spPr>
          <a:xfrm>
            <a:off x="812799" y="1328415"/>
            <a:ext cx="38101" cy="5537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9671" y="21600"/>
                  <a:pt x="0" y="20935"/>
                  <a:pt x="0" y="20114"/>
                </a:cubicBezTo>
                <a:lnTo>
                  <a:pt x="0" y="1486"/>
                </a:lnTo>
                <a:cubicBezTo>
                  <a:pt x="0" y="665"/>
                  <a:pt x="9671" y="0"/>
                  <a:pt x="21600" y="0"/>
                </a:cubicBezTo>
                <a:cubicBezTo>
                  <a:pt x="17624" y="0"/>
                  <a:pt x="14400" y="665"/>
                  <a:pt x="14400" y="1486"/>
                </a:cubicBezTo>
                <a:lnTo>
                  <a:pt x="14400" y="20114"/>
                </a:lnTo>
                <a:cubicBezTo>
                  <a:pt x="14400" y="20935"/>
                  <a:pt x="17624" y="21600"/>
                  <a:pt x="2160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7" name="Text 3"/>
          <p:cNvSpPr txBox="1"/>
          <p:nvPr/>
        </p:nvSpPr>
        <p:spPr>
          <a:xfrm>
            <a:off x="965200" y="1395090"/>
            <a:ext cx="101600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from Act I</a:t>
            </a:r>
          </a:p>
        </p:txBody>
      </p:sp>
      <p:sp>
        <p:nvSpPr>
          <p:cNvPr id="1098" name="Text 4"/>
          <p:cNvSpPr txBox="1"/>
          <p:nvPr/>
        </p:nvSpPr>
        <p:spPr>
          <a:xfrm>
            <a:off x="1981200" y="1391915"/>
            <a:ext cx="3143582" cy="452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pPr>
            <a:r>
              <a:t>“Can a Session be handed to another thread?</a:t>
            </a:r>
          </a:p>
          <a:p>
            <a: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pPr>
            <a:r>
              <a:t>Can two threads read it at once?”</a:t>
            </a:r>
          </a:p>
        </p:txBody>
      </p:sp>
      <p:grpSp>
        <p:nvGrpSpPr>
          <p:cNvPr id="1101" name="Text 5"/>
          <p:cNvGrpSpPr/>
          <p:nvPr/>
        </p:nvGrpSpPr>
        <p:grpSpPr>
          <a:xfrm>
            <a:off x="815975" y="1986905"/>
            <a:ext cx="5480050" cy="646431"/>
            <a:chOff x="0" y="0"/>
            <a:chExt cx="5480050" cy="646430"/>
          </a:xfrm>
        </p:grpSpPr>
        <p:sp>
          <p:nvSpPr>
            <p:cNvPr id="1099" name="圓角矩形"/>
            <p:cNvSpPr/>
            <p:nvPr/>
          </p:nvSpPr>
          <p:spPr>
            <a:xfrm>
              <a:off x="0" y="0"/>
              <a:ext cx="5480050" cy="646431"/>
            </a:xfrm>
            <a:prstGeom prst="roundRect">
              <a:avLst>
                <a:gd name="adj" fmla="val 11297"/>
              </a:avLst>
            </a:prstGeom>
            <a:solidFill>
              <a:srgbClr val="FDFCF9"/>
            </a:solidFill>
            <a:ln w="6350" cap="flat">
              <a:solidFill>
                <a:srgbClr val="DCD8C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800"/>
                </a:lnSpc>
                <a:defRPr sz="1300"/>
              </a:pPr>
            </a:p>
          </p:txBody>
        </p:sp>
        <p:sp>
          <p:nvSpPr>
            <p:cNvPr id="1100" name="SQLAlchemy Session → Use in one thread at a time (!Sync); moving it depends on the underlying connection."/>
            <p:cNvSpPr txBox="1"/>
            <p:nvPr/>
          </p:nvSpPr>
          <p:spPr>
            <a:xfrm>
              <a:off x="158751" y="95250"/>
              <a:ext cx="5296735" cy="481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rmAutofit fontScale="100000" lnSpcReduction="0"/>
            </a:bodyPr>
            <a:lstStyle/>
            <a:p>
              <a:pPr>
                <a:lnSpc>
                  <a:spcPts val="1800"/>
                </a:lnSpc>
                <a:defRPr sz="1300">
                  <a:latin typeface="IBM Plex Sans Bold"/>
                  <a:ea typeface="IBM Plex Sans Bold"/>
                  <a:cs typeface="IBM Plex Sans Bold"/>
                  <a:sym typeface="IBM Plex Sans Bold"/>
                </a:defRPr>
              </a:pPr>
              <a:r>
                <a:t>SQLAlchemy Session</a:t>
              </a:r>
              <a:r>
                <a:rPr>
                  <a:latin typeface="+mj-lt"/>
                  <a:ea typeface="+mj-ea"/>
                  <a:cs typeface="+mj-cs"/>
                  <a:sym typeface="IBM Plex Sans Regular"/>
                </a:rPr>
                <a:t> → Use in one thread at a time (</a:t>
              </a:r>
              <a:r>
                <a:rPr>
                  <a:solidFill>
                    <a:schemeClr val="accent2"/>
                  </a:solidFill>
                </a:rPr>
                <a:t>!Sync</a:t>
              </a:r>
              <a:r>
                <a:rPr>
                  <a:latin typeface="+mj-lt"/>
                  <a:ea typeface="+mj-ea"/>
                  <a:cs typeface="+mj-cs"/>
                  <a:sym typeface="IBM Plex Sans Regular"/>
                </a:rPr>
                <a:t>); moving it depends on the underlying connection.</a:t>
              </a:r>
            </a:p>
          </p:txBody>
        </p:sp>
      </p:grpSp>
      <p:sp>
        <p:nvSpPr>
          <p:cNvPr id="1102" name="Shape 6"/>
          <p:cNvSpPr/>
          <p:nvPr/>
        </p:nvSpPr>
        <p:spPr>
          <a:xfrm>
            <a:off x="815975" y="2741290"/>
            <a:ext cx="5480050" cy="646431"/>
          </a:xfrm>
          <a:prstGeom prst="roundRect">
            <a:avLst>
              <a:gd name="adj" fmla="val 11297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3" name="Text 7"/>
          <p:cNvSpPr txBox="1"/>
          <p:nvPr/>
        </p:nvSpPr>
        <p:spPr>
          <a:xfrm>
            <a:off x="971550" y="2833365"/>
            <a:ext cx="1836573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latin typeface="JetBrains Mono Bold"/>
                <a:ea typeface="JetBrains Mono Bold"/>
                <a:cs typeface="JetBrains Mono Bold"/>
                <a:sym typeface="JetBrains Mono Bold"/>
              </a:defRPr>
            </a:pPr>
            <a:r>
              <a:t>sqlite3.connect()</a:t>
            </a:r>
            <a:r>
              <a:rPr>
                <a:latin typeface="JetBrains Mono Regular"/>
                <a:ea typeface="JetBrains Mono Regular"/>
                <a:cs typeface="JetBrains Mono Regular"/>
                <a:sym typeface="JetBrains Mono Regular"/>
              </a:rPr>
              <a:t> </a:t>
            </a:r>
          </a:p>
        </p:txBody>
      </p:sp>
      <p:sp>
        <p:nvSpPr>
          <p:cNvPr id="1104" name="Text 8"/>
          <p:cNvSpPr txBox="1"/>
          <p:nvPr/>
        </p:nvSpPr>
        <p:spPr>
          <a:xfrm>
            <a:off x="2754629" y="2833365"/>
            <a:ext cx="25484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→ </a:t>
            </a:r>
          </a:p>
        </p:txBody>
      </p:sp>
      <p:sp>
        <p:nvSpPr>
          <p:cNvPr id="1105" name="Text 9"/>
          <p:cNvSpPr txBox="1"/>
          <p:nvPr/>
        </p:nvSpPr>
        <p:spPr>
          <a:xfrm>
            <a:off x="2958676" y="2833365"/>
            <a:ext cx="234673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check_same_thread=True </a:t>
            </a:r>
          </a:p>
        </p:txBody>
      </p:sp>
      <p:sp>
        <p:nvSpPr>
          <p:cNvPr id="1106" name="Text 10"/>
          <p:cNvSpPr txBox="1"/>
          <p:nvPr/>
        </p:nvSpPr>
        <p:spPr>
          <a:xfrm>
            <a:off x="5237057" y="2833365"/>
            <a:ext cx="26701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by </a:t>
            </a:r>
          </a:p>
        </p:txBody>
      </p:sp>
      <p:sp>
        <p:nvSpPr>
          <p:cNvPr id="1107" name="Text 11"/>
          <p:cNvSpPr txBox="1"/>
          <p:nvPr/>
        </p:nvSpPr>
        <p:spPr>
          <a:xfrm>
            <a:off x="5453274" y="2833365"/>
            <a:ext cx="67538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default </a:t>
            </a:r>
          </a:p>
        </p:txBody>
      </p:sp>
      <p:sp>
        <p:nvSpPr>
          <p:cNvPr id="1108" name="Text 12"/>
          <p:cNvSpPr txBox="1"/>
          <p:nvPr/>
        </p:nvSpPr>
        <p:spPr>
          <a:xfrm>
            <a:off x="971550" y="3064519"/>
            <a:ext cx="23325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(a </a:t>
            </a:r>
          </a:p>
        </p:txBody>
      </p:sp>
      <p:sp>
        <p:nvSpPr>
          <p:cNvPr id="1109" name="Text 13"/>
          <p:cNvSpPr txBox="1"/>
          <p:nvPr/>
        </p:nvSpPr>
        <p:spPr>
          <a:xfrm>
            <a:off x="1154006" y="3064519"/>
            <a:ext cx="1399013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runtime-enforced </a:t>
            </a:r>
          </a:p>
        </p:txBody>
      </p:sp>
      <p:sp>
        <p:nvSpPr>
          <p:cNvPr id="1110" name="Text 14"/>
          <p:cNvSpPr txBox="1"/>
          <p:nvPr/>
        </p:nvSpPr>
        <p:spPr>
          <a:xfrm>
            <a:off x="2502217" y="3064519"/>
            <a:ext cx="64833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solidFill>
                  <a:schemeClr val="accent2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!Send</a:t>
            </a:r>
            <a:r>
              <a:rPr>
                <a:solidFill>
                  <a:srgbClr val="1B1F27"/>
                </a:solidFill>
                <a:latin typeface="+mj-lt"/>
                <a:ea typeface="+mj-ea"/>
                <a:cs typeface="+mj-cs"/>
                <a:sym typeface="IBM Plex Sans Regular"/>
              </a:rPr>
              <a:t>).</a:t>
            </a:r>
          </a:p>
        </p:txBody>
      </p:sp>
      <p:sp>
        <p:nvSpPr>
          <p:cNvPr id="1111" name="Shape 15"/>
          <p:cNvSpPr/>
          <p:nvPr/>
        </p:nvSpPr>
        <p:spPr>
          <a:xfrm>
            <a:off x="815975" y="3495675"/>
            <a:ext cx="5480050" cy="646431"/>
          </a:xfrm>
          <a:prstGeom prst="roundRect">
            <a:avLst>
              <a:gd name="adj" fmla="val 11297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2" name="Text 16"/>
          <p:cNvSpPr txBox="1"/>
          <p:nvPr/>
        </p:nvSpPr>
        <p:spPr>
          <a:xfrm>
            <a:off x="971550" y="3587750"/>
            <a:ext cx="66897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asyncio </a:t>
            </a:r>
          </a:p>
        </p:txBody>
      </p:sp>
      <p:sp>
        <p:nvSpPr>
          <p:cNvPr id="1113" name="Text 17"/>
          <p:cNvSpPr txBox="1"/>
          <p:nvPr/>
        </p:nvSpPr>
        <p:spPr>
          <a:xfrm>
            <a:off x="1589723" y="3587750"/>
            <a:ext cx="51636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event </a:t>
            </a:r>
          </a:p>
        </p:txBody>
      </p:sp>
      <p:sp>
        <p:nvSpPr>
          <p:cNvPr id="1114" name="Text 18"/>
          <p:cNvSpPr txBox="1"/>
          <p:nvPr/>
        </p:nvSpPr>
        <p:spPr>
          <a:xfrm>
            <a:off x="2055283" y="3587750"/>
            <a:ext cx="42322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loop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 </a:t>
            </a:r>
          </a:p>
        </p:txBody>
      </p:sp>
      <p:sp>
        <p:nvSpPr>
          <p:cNvPr id="1115" name="Text 19"/>
          <p:cNvSpPr txBox="1"/>
          <p:nvPr/>
        </p:nvSpPr>
        <p:spPr>
          <a:xfrm>
            <a:off x="2427710" y="3587750"/>
            <a:ext cx="25484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→ </a:t>
            </a:r>
          </a:p>
        </p:txBody>
      </p:sp>
      <p:sp>
        <p:nvSpPr>
          <p:cNvPr id="1116" name="Text 20"/>
          <p:cNvSpPr txBox="1"/>
          <p:nvPr/>
        </p:nvSpPr>
        <p:spPr>
          <a:xfrm>
            <a:off x="2631757" y="3587750"/>
            <a:ext cx="55467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solidFill>
                  <a:schemeClr val="accent2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!Sync</a:t>
            </a:r>
            <a:r>
              <a:rPr>
                <a:solidFill>
                  <a:srgbClr val="1B1F27"/>
                </a:solidFill>
                <a:latin typeface="+mj-lt"/>
                <a:ea typeface="+mj-ea"/>
                <a:cs typeface="+mj-cs"/>
                <a:sym typeface="IBM Plex Sans Regular"/>
              </a:rPr>
              <a:t>, </a:t>
            </a:r>
          </a:p>
        </p:txBody>
      </p:sp>
      <p:sp>
        <p:nvSpPr>
          <p:cNvPr id="1117" name="Text 21"/>
          <p:cNvSpPr txBox="1"/>
          <p:nvPr/>
        </p:nvSpPr>
        <p:spPr>
          <a:xfrm>
            <a:off x="3135629" y="3587750"/>
            <a:ext cx="26267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so </a:t>
            </a:r>
          </a:p>
        </p:txBody>
      </p:sp>
      <p:sp>
        <p:nvSpPr>
          <p:cNvPr id="1118" name="Text 22"/>
          <p:cNvSpPr txBox="1"/>
          <p:nvPr/>
        </p:nvSpPr>
        <p:spPr>
          <a:xfrm>
            <a:off x="3347508" y="3587750"/>
            <a:ext cx="103515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cross-thread </a:t>
            </a:r>
          </a:p>
        </p:txBody>
      </p:sp>
      <p:sp>
        <p:nvSpPr>
          <p:cNvPr id="1119" name="Text 23"/>
          <p:cNvSpPr txBox="1"/>
          <p:nvPr/>
        </p:nvSpPr>
        <p:spPr>
          <a:xfrm>
            <a:off x="4331863" y="3587750"/>
            <a:ext cx="4304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calls </a:t>
            </a:r>
          </a:p>
        </p:txBody>
      </p:sp>
      <p:sp>
        <p:nvSpPr>
          <p:cNvPr id="1120" name="Text 24"/>
          <p:cNvSpPr txBox="1"/>
          <p:nvPr/>
        </p:nvSpPr>
        <p:spPr>
          <a:xfrm>
            <a:off x="4711487" y="3587750"/>
            <a:ext cx="46492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must </a:t>
            </a:r>
          </a:p>
        </p:txBody>
      </p:sp>
      <p:sp>
        <p:nvSpPr>
          <p:cNvPr id="1121" name="Text 25"/>
          <p:cNvSpPr txBox="1"/>
          <p:nvPr/>
        </p:nvSpPr>
        <p:spPr>
          <a:xfrm>
            <a:off x="5125613" y="3587750"/>
            <a:ext cx="26839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go </a:t>
            </a:r>
          </a:p>
        </p:txBody>
      </p:sp>
      <p:sp>
        <p:nvSpPr>
          <p:cNvPr id="1122" name="Text 26"/>
          <p:cNvSpPr txBox="1"/>
          <p:nvPr/>
        </p:nvSpPr>
        <p:spPr>
          <a:xfrm>
            <a:off x="5343207" y="3587750"/>
            <a:ext cx="66855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through </a:t>
            </a:r>
          </a:p>
        </p:txBody>
      </p:sp>
      <p:sp>
        <p:nvSpPr>
          <p:cNvPr id="1123" name="Text 27"/>
          <p:cNvSpPr txBox="1"/>
          <p:nvPr/>
        </p:nvSpPr>
        <p:spPr>
          <a:xfrm>
            <a:off x="5960957" y="3587750"/>
            <a:ext cx="17790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 </a:t>
            </a:r>
          </a:p>
        </p:txBody>
      </p:sp>
      <p:sp>
        <p:nvSpPr>
          <p:cNvPr id="1124" name="Text 28"/>
          <p:cNvSpPr txBox="1"/>
          <p:nvPr/>
        </p:nvSpPr>
        <p:spPr>
          <a:xfrm>
            <a:off x="971550" y="3818880"/>
            <a:ext cx="67775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channel </a:t>
            </a:r>
          </a:p>
        </p:txBody>
      </p:sp>
      <p:sp>
        <p:nvSpPr>
          <p:cNvPr id="1125" name="Text 29"/>
          <p:cNvSpPr txBox="1"/>
          <p:nvPr/>
        </p:nvSpPr>
        <p:spPr>
          <a:xfrm>
            <a:off x="1598506" y="3818880"/>
            <a:ext cx="10615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(</a:t>
            </a:r>
          </a:p>
        </p:txBody>
      </p:sp>
      <p:sp>
        <p:nvSpPr>
          <p:cNvPr id="1126" name="Text 30"/>
          <p:cNvSpPr txBox="1"/>
          <p:nvPr/>
        </p:nvSpPr>
        <p:spPr>
          <a:xfrm>
            <a:off x="1653857" y="3818880"/>
            <a:ext cx="204063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call_soon_threadsafe</a:t>
            </a:r>
          </a:p>
        </p:txBody>
      </p:sp>
      <p:sp>
        <p:nvSpPr>
          <p:cNvPr id="1127" name="Text 31"/>
          <p:cNvSpPr txBox="1"/>
          <p:nvPr/>
        </p:nvSpPr>
        <p:spPr>
          <a:xfrm>
            <a:off x="3635057" y="3818880"/>
            <a:ext cx="1510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).</a:t>
            </a:r>
          </a:p>
        </p:txBody>
      </p:sp>
      <p:grpSp>
        <p:nvGrpSpPr>
          <p:cNvPr id="1130" name="Text 32"/>
          <p:cNvGrpSpPr/>
          <p:nvPr/>
        </p:nvGrpSpPr>
        <p:grpSpPr>
          <a:xfrm>
            <a:off x="815975" y="4250059"/>
            <a:ext cx="5480050" cy="646431"/>
            <a:chOff x="0" y="0"/>
            <a:chExt cx="5480050" cy="646430"/>
          </a:xfrm>
        </p:grpSpPr>
        <p:sp>
          <p:nvSpPr>
            <p:cNvPr id="1128" name="圓角矩形"/>
            <p:cNvSpPr/>
            <p:nvPr/>
          </p:nvSpPr>
          <p:spPr>
            <a:xfrm>
              <a:off x="0" y="0"/>
              <a:ext cx="5480050" cy="646431"/>
            </a:xfrm>
            <a:prstGeom prst="roundRect">
              <a:avLst>
                <a:gd name="adj" fmla="val 11297"/>
              </a:avLst>
            </a:prstGeom>
            <a:solidFill>
              <a:srgbClr val="FDFCF9"/>
            </a:solidFill>
            <a:ln w="6350" cap="flat">
              <a:solidFill>
                <a:srgbClr val="DCD8C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800"/>
                </a:lnSpc>
                <a:defRPr sz="1300"/>
              </a:pPr>
            </a:p>
          </p:txBody>
        </p:sp>
        <p:sp>
          <p:nvSpPr>
            <p:cNvPr id="1129" name="Shared iterators → !Sync…"/>
            <p:cNvSpPr txBox="1"/>
            <p:nvPr/>
          </p:nvSpPr>
          <p:spPr>
            <a:xfrm>
              <a:off x="158751" y="95250"/>
              <a:ext cx="5296735" cy="481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rmAutofit fontScale="100000" lnSpcReduction="0"/>
            </a:bodyPr>
            <a:lstStyle/>
            <a:p>
              <a:pPr>
                <a:lnSpc>
                  <a:spcPts val="1800"/>
                </a:lnSpc>
                <a:defRPr sz="1300">
                  <a:latin typeface="IBM Plex Sans Bold"/>
                  <a:ea typeface="IBM Plex Sans Bold"/>
                  <a:cs typeface="IBM Plex Sans Bold"/>
                  <a:sym typeface="IBM Plex Sans Bold"/>
                </a:defRPr>
              </a:pPr>
              <a:r>
                <a:t>Shared iterators</a:t>
              </a:r>
              <a:r>
                <a:rPr>
                  <a:latin typeface="+mj-lt"/>
                  <a:ea typeface="+mj-ea"/>
                  <a:cs typeface="+mj-cs"/>
                  <a:sym typeface="IBM Plex Sans Regular"/>
                </a:rPr>
                <a:t> → </a:t>
              </a:r>
              <a:r>
                <a:rPr>
                  <a:solidFill>
                    <a:schemeClr val="accent2"/>
                  </a:solidFill>
                </a:rPr>
                <a:t>!Sync</a:t>
              </a:r>
            </a:p>
            <a:p>
              <a:pPr>
                <a:lnSpc>
                  <a:spcPts val="1800"/>
                </a:lnSpc>
                <a:defRPr sz="1300"/>
              </a:pPr>
              <a:r>
                <a:t>(explicitly called out in the free-threading HOWTO).</a:t>
              </a:r>
            </a:p>
          </p:txBody>
        </p:sp>
      </p:grpSp>
      <p:sp>
        <p:nvSpPr>
          <p:cNvPr id="1131" name="Shape 33"/>
          <p:cNvSpPr/>
          <p:nvPr/>
        </p:nvSpPr>
        <p:spPr>
          <a:xfrm>
            <a:off x="6553200" y="4066530"/>
            <a:ext cx="4826000" cy="1521461"/>
          </a:xfrm>
          <a:prstGeom prst="rect">
            <a:avLst/>
          </a:prstGeom>
          <a:solidFill>
            <a:srgbClr val="F6F5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2" name="Text 34"/>
          <p:cNvSpPr txBox="1"/>
          <p:nvPr/>
        </p:nvSpPr>
        <p:spPr>
          <a:xfrm>
            <a:off x="7874000" y="4066530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Rust</a:t>
            </a:r>
          </a:p>
        </p:txBody>
      </p:sp>
      <p:sp>
        <p:nvSpPr>
          <p:cNvPr id="1133" name="Text 35"/>
          <p:cNvSpPr txBox="1"/>
          <p:nvPr/>
        </p:nvSpPr>
        <p:spPr>
          <a:xfrm>
            <a:off x="9683750" y="4066530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1134" name="Text 36"/>
          <p:cNvSpPr txBox="1"/>
          <p:nvPr/>
        </p:nvSpPr>
        <p:spPr>
          <a:xfrm>
            <a:off x="6553200" y="43688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Who holds it?</a:t>
            </a:r>
          </a:p>
        </p:txBody>
      </p:sp>
      <p:grpSp>
        <p:nvGrpSpPr>
          <p:cNvPr id="1137" name="Text 37"/>
          <p:cNvGrpSpPr/>
          <p:nvPr/>
        </p:nvGrpSpPr>
        <p:grpSpPr>
          <a:xfrm>
            <a:off x="7804150" y="4324350"/>
            <a:ext cx="1758950" cy="317500"/>
            <a:chOff x="0" y="0"/>
            <a:chExt cx="1758950" cy="317500"/>
          </a:xfrm>
        </p:grpSpPr>
        <p:sp>
          <p:nvSpPr>
            <p:cNvPr id="1135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136" name="owner · &amp; · &amp;mut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owner · &amp; · &amp;mut</a:t>
              </a:r>
            </a:p>
          </p:txBody>
        </p:sp>
      </p:grpSp>
      <p:grpSp>
        <p:nvGrpSpPr>
          <p:cNvPr id="1140" name="Text 38"/>
          <p:cNvGrpSpPr/>
          <p:nvPr/>
        </p:nvGrpSpPr>
        <p:grpSpPr>
          <a:xfrm>
            <a:off x="9613900" y="4324350"/>
            <a:ext cx="1758950" cy="317500"/>
            <a:chOff x="0" y="0"/>
            <a:chExt cx="1758950" cy="317500"/>
          </a:xfrm>
        </p:grpSpPr>
        <p:sp>
          <p:nvSpPr>
            <p:cNvPr id="1138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E8EEF8"/>
            </a:solidFill>
            <a:ln w="127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139" name="a mental reflex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/>
              </a:lvl1pPr>
            </a:lstStyle>
            <a:p>
              <a:pPr/>
              <a:r>
                <a:t>a mental reflex</a:t>
              </a:r>
            </a:p>
          </p:txBody>
        </p:sp>
      </p:grpSp>
      <p:sp>
        <p:nvSpPr>
          <p:cNvPr id="1141" name="Text 39"/>
          <p:cNvSpPr txBox="1"/>
          <p:nvPr/>
        </p:nvSpPr>
        <p:spPr>
          <a:xfrm>
            <a:off x="6553200" y="4737100"/>
            <a:ext cx="12573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Is it mutated?</a:t>
            </a:r>
          </a:p>
        </p:txBody>
      </p:sp>
      <p:grpSp>
        <p:nvGrpSpPr>
          <p:cNvPr id="1144" name="Text 40"/>
          <p:cNvGrpSpPr/>
          <p:nvPr/>
        </p:nvGrpSpPr>
        <p:grpSpPr>
          <a:xfrm>
            <a:off x="7804150" y="4692650"/>
            <a:ext cx="1758950" cy="520700"/>
            <a:chOff x="0" y="0"/>
            <a:chExt cx="1758950" cy="520700"/>
          </a:xfrm>
        </p:grpSpPr>
        <p:sp>
          <p:nvSpPr>
            <p:cNvPr id="1142" name="圓角矩形"/>
            <p:cNvSpPr/>
            <p:nvPr/>
          </p:nvSpPr>
          <p:spPr>
            <a:xfrm>
              <a:off x="0" y="0"/>
              <a:ext cx="1758950" cy="520700"/>
            </a:xfrm>
            <a:prstGeom prst="roundRect">
              <a:avLst>
                <a:gd name="adj" fmla="val 6098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143" name="mut · &amp;mut ·…"/>
            <p:cNvSpPr txBox="1"/>
            <p:nvPr/>
          </p:nvSpPr>
          <p:spPr>
            <a:xfrm>
              <a:off x="66450" y="41049"/>
              <a:ext cx="1676850" cy="453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/>
            <a:p>
              <a: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pPr>
              <a:r>
                <a:t>mut · &amp;mut ·</a:t>
              </a:r>
            </a:p>
            <a:p>
              <a: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pPr>
              <a:r>
                <a:t>Mutex / Atomic</a:t>
              </a:r>
            </a:p>
          </p:txBody>
        </p:sp>
      </p:grpSp>
      <p:grpSp>
        <p:nvGrpSpPr>
          <p:cNvPr id="1147" name="Text 41"/>
          <p:cNvGrpSpPr/>
          <p:nvPr/>
        </p:nvGrpSpPr>
        <p:grpSpPr>
          <a:xfrm>
            <a:off x="9613900" y="4692650"/>
            <a:ext cx="1758950" cy="520700"/>
            <a:chOff x="0" y="0"/>
            <a:chExt cx="1758950" cy="520700"/>
          </a:xfrm>
        </p:grpSpPr>
        <p:sp>
          <p:nvSpPr>
            <p:cNvPr id="1145" name="圓角矩形"/>
            <p:cNvSpPr/>
            <p:nvPr/>
          </p:nvSpPr>
          <p:spPr>
            <a:xfrm>
              <a:off x="0" y="0"/>
              <a:ext cx="1758950" cy="520700"/>
            </a:xfrm>
            <a:prstGeom prst="roundRect">
              <a:avLst>
                <a:gd name="adj" fmla="val 6098"/>
              </a:avLst>
            </a:prstGeom>
            <a:solidFill>
              <a:srgbClr val="E8EEF8"/>
            </a:solidFill>
            <a:ln w="127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146" name="API encapsulation"/>
            <p:cNvSpPr txBox="1"/>
            <p:nvPr/>
          </p:nvSpPr>
          <p:spPr>
            <a:xfrm>
              <a:off x="66450" y="41049"/>
              <a:ext cx="1676850" cy="4386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/>
              </a:lvl1pPr>
            </a:lstStyle>
            <a:p>
              <a:pPr/>
              <a:r>
                <a:t>API encapsulation</a:t>
              </a:r>
            </a:p>
          </p:txBody>
        </p:sp>
      </p:grpSp>
      <p:sp>
        <p:nvSpPr>
          <p:cNvPr id="1148" name="Text 42"/>
          <p:cNvSpPr txBox="1"/>
          <p:nvPr/>
        </p:nvSpPr>
        <p:spPr>
          <a:xfrm>
            <a:off x="6553200" y="53086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Across threads</a:t>
            </a:r>
          </a:p>
        </p:txBody>
      </p:sp>
      <p:grpSp>
        <p:nvGrpSpPr>
          <p:cNvPr id="1151" name="Text 43"/>
          <p:cNvGrpSpPr/>
          <p:nvPr/>
        </p:nvGrpSpPr>
        <p:grpSpPr>
          <a:xfrm>
            <a:off x="7804150" y="5264150"/>
            <a:ext cx="1758950" cy="317500"/>
            <a:chOff x="0" y="0"/>
            <a:chExt cx="1758950" cy="317500"/>
          </a:xfrm>
        </p:grpSpPr>
        <p:sp>
          <p:nvSpPr>
            <p:cNvPr id="1149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150" name="Send · Sync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Send · Sync</a:t>
              </a:r>
            </a:p>
          </p:txBody>
        </p:sp>
      </p:grpSp>
      <p:grpSp>
        <p:nvGrpSpPr>
          <p:cNvPr id="1154" name="Text 44"/>
          <p:cNvGrpSpPr/>
          <p:nvPr/>
        </p:nvGrpSpPr>
        <p:grpSpPr>
          <a:xfrm>
            <a:off x="9613900" y="5264150"/>
            <a:ext cx="1758950" cy="317500"/>
            <a:chOff x="0" y="0"/>
            <a:chExt cx="1758950" cy="317500"/>
          </a:xfrm>
        </p:grpSpPr>
        <p:sp>
          <p:nvSpPr>
            <p:cNvPr id="1152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E8EEF8"/>
            </a:solidFill>
            <a:ln w="127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153" name="a shared vocabulary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/>
              </a:lvl1pPr>
            </a:lstStyle>
            <a:p>
              <a:pPr/>
              <a:r>
                <a:t>a shared vocabulary</a:t>
              </a:r>
            </a:p>
          </p:txBody>
        </p:sp>
      </p:grpSp>
      <p:sp>
        <p:nvSpPr>
          <p:cNvPr id="1155" name="Shape 45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6" name="Text 46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“Not thread-safe” is too vague. Send and Sync tell you what's actually forbidden.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Text 0"/>
          <p:cNvSpPr txBox="1"/>
          <p:nvPr>
            <p:ph type="title"/>
          </p:nvPr>
        </p:nvSpPr>
        <p:spPr>
          <a:xfrm>
            <a:off x="812799" y="1270000"/>
            <a:ext cx="10883394" cy="288291"/>
          </a:xfrm>
          <a:prstGeom prst="rect">
            <a:avLst/>
          </a:prstGeom>
        </p:spPr>
        <p:txBody>
          <a:bodyPr/>
          <a:lstStyle>
            <a:lvl1pPr>
              <a:lnSpc>
                <a:spcPts val="2000"/>
              </a:lnSpc>
              <a:defRPr sz="1800">
                <a:solidFill>
                  <a:srgbClr val="4FC2AE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Act III · The Free-threaded Future</a:t>
            </a:r>
          </a:p>
        </p:txBody>
      </p:sp>
      <p:sp>
        <p:nvSpPr>
          <p:cNvPr id="1159" name="Text 1"/>
          <p:cNvSpPr txBox="1"/>
          <p:nvPr/>
        </p:nvSpPr>
        <p:spPr>
          <a:xfrm>
            <a:off x="812799" y="1837680"/>
            <a:ext cx="10883394" cy="1366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5200"/>
              </a:lnSpc>
              <a:defRPr spc="-100" sz="4800">
                <a:solidFill>
                  <a:schemeClr val="accent3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Who else holds this?</a:t>
            </a:r>
          </a:p>
          <a:p>
            <a:pPr>
              <a:lnSpc>
                <a:spcPts val="5200"/>
              </a:lnSpc>
              <a:defRPr spc="-100" sz="4800">
                <a:solidFill>
                  <a:schemeClr val="accent3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Is anyone changing it?</a:t>
            </a:r>
          </a:p>
        </p:txBody>
      </p:sp>
      <p:sp>
        <p:nvSpPr>
          <p:cNvPr id="1160" name="Text 2"/>
          <p:cNvSpPr txBox="1"/>
          <p:nvPr/>
        </p:nvSpPr>
        <p:spPr>
          <a:xfrm>
            <a:off x="812799" y="3483619"/>
            <a:ext cx="10883394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  <a:defRPr>
                <a:solidFill>
                  <a:srgbClr val="C9CED8"/>
                </a:solidFill>
              </a:defRPr>
            </a:lvl1pPr>
          </a:lstStyle>
          <a:p>
            <a:pPr/>
            <a:r>
              <a:t>Which of your packages actually get faster? One simple rule decides.</a:t>
            </a:r>
          </a:p>
        </p:txBody>
      </p:sp>
      <p:sp>
        <p:nvSpPr>
          <p:cNvPr id="1161" name="Text 3"/>
          <p:cNvSpPr txBox="1"/>
          <p:nvPr/>
        </p:nvSpPr>
        <p:spPr>
          <a:xfrm>
            <a:off x="812799" y="5080000"/>
            <a:ext cx="10883394" cy="29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i="1" sz="1500">
                <a:solidFill>
                  <a:srgbClr val="4FC2AE"/>
                </a:solidFill>
              </a:defRPr>
            </a:lvl1pPr>
          </a:lstStyle>
          <a:p>
            <a:pPr/>
            <a:r>
              <a:t>Then we'll see who asks the two questions, right where the speedup happens.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Text 0"/>
          <p:cNvSpPr txBox="1"/>
          <p:nvPr>
            <p:ph type="title"/>
          </p:nvPr>
        </p:nvSpPr>
        <p:spPr>
          <a:xfrm>
            <a:off x="812799" y="812800"/>
            <a:ext cx="10883394" cy="381000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 sz="25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One ruler: does the work need the interpreter?</a:t>
            </a:r>
          </a:p>
        </p:txBody>
      </p:sp>
      <p:sp>
        <p:nvSpPr>
          <p:cNvPr id="1164" name="Text 1"/>
          <p:cNvSpPr txBox="1"/>
          <p:nvPr/>
        </p:nvSpPr>
        <p:spPr>
          <a:xfrm>
            <a:off x="812799" y="1473200"/>
            <a:ext cx="10883394" cy="512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900"/>
              </a:lnSpc>
              <a:defRPr sz="1300">
                <a:solidFill>
                  <a:srgbClr val="3A404B"/>
                </a:solidFill>
              </a:defRPr>
            </a:pPr>
            <a:r>
              <a:t>The packages we rely on for speed are native extensions: NumPy in C, pydantic-core and Polars in Rust.</a:t>
            </a:r>
          </a:p>
          <a:p>
            <a:pPr>
              <a:lnSpc>
                <a:spcPts val="1900"/>
              </a:lnSpc>
              <a:defRPr sz="1300">
                <a:solidFill>
                  <a:srgbClr val="3A404B"/>
                </a:solidFill>
              </a:defRPr>
            </a:pPr>
            <a:r>
              <a:t>The ruler applies right at the boundary where they meet Python.</a:t>
            </a:r>
          </a:p>
        </p:txBody>
      </p:sp>
      <p:sp>
        <p:nvSpPr>
          <p:cNvPr id="1165" name="Shape 2"/>
          <p:cNvSpPr/>
          <p:nvPr/>
        </p:nvSpPr>
        <p:spPr>
          <a:xfrm>
            <a:off x="812800" y="2112963"/>
            <a:ext cx="5181600" cy="2159001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16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3943" y="2119313"/>
            <a:ext cx="3479312" cy="2146301"/>
          </a:xfrm>
          <a:prstGeom prst="rect">
            <a:avLst/>
          </a:prstGeom>
          <a:ln w="12700">
            <a:miter lim="400000"/>
          </a:ln>
        </p:spPr>
      </p:pic>
      <p:sp>
        <p:nvSpPr>
          <p:cNvPr id="1167" name="Shape 3"/>
          <p:cNvSpPr/>
          <p:nvPr/>
        </p:nvSpPr>
        <p:spPr>
          <a:xfrm>
            <a:off x="815975" y="2116138"/>
            <a:ext cx="5175250" cy="2152651"/>
          </a:xfrm>
          <a:prstGeom prst="roundRect">
            <a:avLst>
              <a:gd name="adj" fmla="val 3392"/>
            </a:avLst>
          </a:prstGeom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8" name="Shape 4"/>
          <p:cNvSpPr/>
          <p:nvPr/>
        </p:nvSpPr>
        <p:spPr>
          <a:xfrm>
            <a:off x="6197600" y="2112963"/>
            <a:ext cx="5181600" cy="2159001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16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32735" y="2119313"/>
            <a:ext cx="3511330" cy="2146301"/>
          </a:xfrm>
          <a:prstGeom prst="rect">
            <a:avLst/>
          </a:prstGeom>
          <a:ln w="12700">
            <a:miter lim="400000"/>
          </a:ln>
        </p:spPr>
      </p:pic>
      <p:sp>
        <p:nvSpPr>
          <p:cNvPr id="1170" name="Shape 5"/>
          <p:cNvSpPr/>
          <p:nvPr/>
        </p:nvSpPr>
        <p:spPr>
          <a:xfrm>
            <a:off x="6200775" y="2116138"/>
            <a:ext cx="5175250" cy="2152651"/>
          </a:xfrm>
          <a:prstGeom prst="roundRect">
            <a:avLst>
              <a:gd name="adj" fmla="val 3392"/>
            </a:avLst>
          </a:prstGeom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1" name="Text 6"/>
          <p:cNvSpPr txBox="1"/>
          <p:nvPr/>
        </p:nvSpPr>
        <p:spPr>
          <a:xfrm>
            <a:off x="812800" y="4358630"/>
            <a:ext cx="7273036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900"/>
              </a:lnSpc>
              <a:defRPr sz="1400">
                <a:solidFill>
                  <a:schemeClr val="accent4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Attached:</a:t>
            </a:r>
            <a:r>
              <a:rPr>
                <a:solidFill>
                  <a:srgbClr val="1B1F27"/>
                </a:solidFill>
                <a:latin typeface="+mj-lt"/>
                <a:ea typeface="+mj-ea"/>
                <a:cs typeface="+mj-cs"/>
                <a:sym typeface="IBM Plex Sans Regular"/>
              </a:rPr>
              <a:t> the thread can touch Python objects and call Python code.</a:t>
            </a:r>
          </a:p>
        </p:txBody>
      </p:sp>
      <p:sp>
        <p:nvSpPr>
          <p:cNvPr id="1172" name="Text 7"/>
          <p:cNvSpPr txBox="1"/>
          <p:nvPr/>
        </p:nvSpPr>
        <p:spPr>
          <a:xfrm>
            <a:off x="1041399" y="4658369"/>
            <a:ext cx="703758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600"/>
              </a:lnSpc>
              <a:defRPr sz="1200"/>
            </a:pPr>
            <a:r>
              <a:t>• </a:t>
            </a:r>
            <a:r>
              <a:rPr>
                <a:latin typeface="IBM Plex Sans Bold"/>
                <a:ea typeface="IBM Plex Sans Bold"/>
                <a:cs typeface="IBM Plex Sans Bold"/>
                <a:sym typeface="IBM Plex Sans Bold"/>
              </a:rPr>
              <a:t>GIL on:</a:t>
            </a:r>
            <a:r>
              <a:t> only one attached thread at a time.</a:t>
            </a:r>
          </a:p>
        </p:txBody>
      </p:sp>
      <p:sp>
        <p:nvSpPr>
          <p:cNvPr id="1173" name="Text 8"/>
          <p:cNvSpPr txBox="1"/>
          <p:nvPr/>
        </p:nvSpPr>
        <p:spPr>
          <a:xfrm>
            <a:off x="1041399" y="4922515"/>
            <a:ext cx="703758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600"/>
              </a:lnSpc>
              <a:defRPr sz="1200"/>
            </a:pPr>
            <a:r>
              <a:t>• </a:t>
            </a:r>
            <a:r>
              <a:rPr>
                <a:latin typeface="IBM Plex Sans Bold"/>
                <a:ea typeface="IBM Plex Sans Bold"/>
                <a:cs typeface="IBM Plex Sans Bold"/>
                <a:sym typeface="IBM Plex Sans Bold"/>
              </a:rPr>
              <a:t>GIL off:</a:t>
            </a:r>
            <a:r>
              <a:t> as many as you want.</a:t>
            </a:r>
          </a:p>
        </p:txBody>
      </p:sp>
      <p:sp>
        <p:nvSpPr>
          <p:cNvPr id="1174" name="Text 9"/>
          <p:cNvSpPr txBox="1"/>
          <p:nvPr/>
        </p:nvSpPr>
        <p:spPr>
          <a:xfrm>
            <a:off x="812800" y="5186684"/>
            <a:ext cx="7273036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900"/>
              </a:lnSpc>
              <a:defRPr sz="1400">
                <a:solidFill>
                  <a:srgbClr val="56627A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Detached:</a:t>
            </a:r>
            <a:r>
              <a:rPr>
                <a:solidFill>
                  <a:srgbClr val="1B1F27"/>
                </a:solidFill>
                <a:latin typeface="+mj-lt"/>
                <a:ea typeface="+mj-ea"/>
                <a:cs typeface="+mj-cs"/>
                <a:sym typeface="IBM Plex Sans Regular"/>
              </a:rPr>
              <a:t> the thread runs pure native code and promises not to touch Python.</a:t>
            </a:r>
          </a:p>
        </p:txBody>
      </p:sp>
      <p:sp>
        <p:nvSpPr>
          <p:cNvPr id="1175" name="Text 10"/>
          <p:cNvSpPr txBox="1"/>
          <p:nvPr/>
        </p:nvSpPr>
        <p:spPr>
          <a:xfrm>
            <a:off x="8077200" y="4356100"/>
            <a:ext cx="34010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PyO3</a:t>
            </a:r>
          </a:p>
        </p:txBody>
      </p:sp>
      <p:sp>
        <p:nvSpPr>
          <p:cNvPr id="1176" name="Text 11"/>
          <p:cNvSpPr txBox="1"/>
          <p:nvPr/>
        </p:nvSpPr>
        <p:spPr>
          <a:xfrm>
            <a:off x="8077200" y="4574530"/>
            <a:ext cx="34010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0.26: with_gil → attach,</a:t>
            </a:r>
          </a:p>
        </p:txBody>
      </p:sp>
      <p:sp>
        <p:nvSpPr>
          <p:cNvPr id="1177" name="Text 12"/>
          <p:cNvSpPr txBox="1"/>
          <p:nvPr/>
        </p:nvSpPr>
        <p:spPr>
          <a:xfrm>
            <a:off x="8077200" y="4792984"/>
            <a:ext cx="34010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  allow_threads → detach</a:t>
            </a:r>
          </a:p>
        </p:txBody>
      </p:sp>
      <p:sp>
        <p:nvSpPr>
          <p:cNvPr id="1178" name="Text 13"/>
          <p:cNvSpPr txBox="1"/>
          <p:nvPr/>
        </p:nvSpPr>
        <p:spPr>
          <a:xfrm>
            <a:off x="8077200" y="5011415"/>
            <a:ext cx="34010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0.28: free-thread-safe by default</a:t>
            </a:r>
          </a:p>
        </p:txBody>
      </p:sp>
      <p:sp>
        <p:nvSpPr>
          <p:cNvPr id="1179" name="Text 14"/>
          <p:cNvSpPr txBox="1"/>
          <p:nvPr/>
        </p:nvSpPr>
        <p:spPr>
          <a:xfrm>
            <a:off x="8077200" y="5229869"/>
            <a:ext cx="34010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0.29: abi3t</a:t>
            </a:r>
          </a:p>
        </p:txBody>
      </p:sp>
      <p:sp>
        <p:nvSpPr>
          <p:cNvPr id="1180" name="Shape 15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1" name="Text 16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Touching Python objects requires an attached thread. Pure native work runs detached. That is the whole rule.</a:t>
            </a:r>
          </a:p>
        </p:txBody>
      </p:sp>
      <p:sp>
        <p:nvSpPr>
          <p:cNvPr id="1182" name="Text 17"/>
          <p:cNvSpPr txBox="1"/>
          <p:nvPr/>
        </p:nvSpPr>
        <p:spPr>
          <a:xfrm>
            <a:off x="812799" y="6238230"/>
            <a:ext cx="1088339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Diagrams adapted from py-free-threading.github.io/porting-extensions</a:t>
            </a:r>
          </a:p>
        </p:txBody>
      </p:sp>
      <p:pic>
        <p:nvPicPr>
          <p:cNvPr id="1183" name="圓角矩形 圓角矩形" descr="圓角矩形 圓角矩形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487318" y="2914328"/>
            <a:ext cx="778176" cy="1351286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"/>
                                        <p:tgtEl>
                                          <p:spTgt spid="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83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The experiment</a:t>
            </a:r>
          </a:p>
        </p:txBody>
      </p:sp>
      <p:sp>
        <p:nvSpPr>
          <p:cNvPr id="1187" name="Text 1"/>
          <p:cNvSpPr txBox="1"/>
          <p:nvPr/>
        </p:nvSpPr>
        <p:spPr>
          <a:xfrm>
            <a:off x="812799" y="1303015"/>
            <a:ext cx="10883394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To measure this fairly, we need a native package we fully control. So I built a small Rust extension with PyO3.</a:t>
            </a:r>
          </a:p>
        </p:txBody>
      </p:sp>
      <p:sp>
        <p:nvSpPr>
          <p:cNvPr id="1188" name="Text 2"/>
          <p:cNvSpPr txBox="1"/>
          <p:nvPr/>
        </p:nvSpPr>
        <p:spPr>
          <a:xfrm>
            <a:off x="812799" y="1678930"/>
            <a:ext cx="10883394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100 red envelopes. Two types of workloads. Four ways to run them.</a:t>
            </a:r>
          </a:p>
        </p:txBody>
      </p:sp>
      <p:sp>
        <p:nvSpPr>
          <p:cNvPr id="1189" name="Shape 3"/>
          <p:cNvSpPr/>
          <p:nvPr/>
        </p:nvSpPr>
        <p:spPr>
          <a:xfrm>
            <a:off x="815975" y="2083444"/>
            <a:ext cx="5200650" cy="726441"/>
          </a:xfrm>
          <a:prstGeom prst="roundRect">
            <a:avLst>
              <a:gd name="adj" fmla="val 10052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0" name="Text 4"/>
          <p:cNvSpPr txBox="1"/>
          <p:nvPr/>
        </p:nvSpPr>
        <p:spPr>
          <a:xfrm>
            <a:off x="971549" y="2200919"/>
            <a:ext cx="503618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Arithmetic workload</a:t>
            </a:r>
          </a:p>
        </p:txBody>
      </p:sp>
      <p:sp>
        <p:nvSpPr>
          <p:cNvPr id="1191" name="Text 5"/>
          <p:cNvSpPr txBox="1"/>
          <p:nvPr/>
        </p:nvSpPr>
        <p:spPr>
          <a:xfrm>
            <a:off x="971549" y="2452365"/>
            <a:ext cx="5036187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/>
            </a:lvl1pPr>
          </a:lstStyle>
          <a:p>
            <a:pPr/>
            <a:r>
              <a:t>1,000,000 integer operations per envelope.</a:t>
            </a:r>
          </a:p>
        </p:txBody>
      </p:sp>
      <p:sp>
        <p:nvSpPr>
          <p:cNvPr id="1192" name="Shape 6"/>
          <p:cNvSpPr/>
          <p:nvPr/>
        </p:nvSpPr>
        <p:spPr>
          <a:xfrm>
            <a:off x="6175375" y="2083444"/>
            <a:ext cx="5200650" cy="726441"/>
          </a:xfrm>
          <a:prstGeom prst="roundRect">
            <a:avLst>
              <a:gd name="adj" fmla="val 10052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3" name="Text 7"/>
          <p:cNvSpPr txBox="1"/>
          <p:nvPr/>
        </p:nvSpPr>
        <p:spPr>
          <a:xfrm>
            <a:off x="6330950" y="2200919"/>
            <a:ext cx="5036186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Callback workload</a:t>
            </a:r>
          </a:p>
        </p:txBody>
      </p:sp>
      <p:sp>
        <p:nvSpPr>
          <p:cNvPr id="1194" name="Text 8"/>
          <p:cNvSpPr txBox="1"/>
          <p:nvPr/>
        </p:nvSpPr>
        <p:spPr>
          <a:xfrm>
            <a:off x="6330950" y="2452365"/>
            <a:ext cx="5036186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/>
            </a:lvl1pPr>
          </a:lstStyle>
          <a:p>
            <a:pPr/>
            <a:r>
              <a:t>80,000 calls to a Python function per envelope.</a:t>
            </a:r>
          </a:p>
        </p:txBody>
      </p:sp>
      <p:sp>
        <p:nvSpPr>
          <p:cNvPr id="1195" name="Shape 9"/>
          <p:cNvSpPr/>
          <p:nvPr/>
        </p:nvSpPr>
        <p:spPr>
          <a:xfrm>
            <a:off x="815975" y="2943225"/>
            <a:ext cx="10560050" cy="417831"/>
          </a:xfrm>
          <a:prstGeom prst="roundRect">
            <a:avLst>
              <a:gd name="adj" fmla="val 14438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6" name="Text 10"/>
          <p:cNvSpPr txBox="1"/>
          <p:nvPr/>
        </p:nvSpPr>
        <p:spPr>
          <a:xfrm>
            <a:off x="946150" y="3009900"/>
            <a:ext cx="279400" cy="309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>
                <a:solidFill>
                  <a:schemeClr val="accent1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97" name="Text 11"/>
          <p:cNvSpPr txBox="1"/>
          <p:nvPr/>
        </p:nvSpPr>
        <p:spPr>
          <a:xfrm>
            <a:off x="1301750" y="3040707"/>
            <a:ext cx="10242423" cy="248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Pure Python (1 thread):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 the baseline arithmetic loop.</a:t>
            </a:r>
          </a:p>
        </p:txBody>
      </p:sp>
      <p:sp>
        <p:nvSpPr>
          <p:cNvPr id="1198" name="Shape 12"/>
          <p:cNvSpPr/>
          <p:nvPr/>
        </p:nvSpPr>
        <p:spPr>
          <a:xfrm>
            <a:off x="815975" y="3418209"/>
            <a:ext cx="10560050" cy="417831"/>
          </a:xfrm>
          <a:prstGeom prst="roundRect">
            <a:avLst>
              <a:gd name="adj" fmla="val 14438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9" name="Text 13"/>
          <p:cNvSpPr txBox="1"/>
          <p:nvPr/>
        </p:nvSpPr>
        <p:spPr>
          <a:xfrm>
            <a:off x="946150" y="3484884"/>
            <a:ext cx="279400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>
                <a:solidFill>
                  <a:schemeClr val="accent1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00" name="Text 14"/>
          <p:cNvSpPr txBox="1"/>
          <p:nvPr/>
        </p:nvSpPr>
        <p:spPr>
          <a:xfrm>
            <a:off x="1301750" y="3515667"/>
            <a:ext cx="10242423" cy="248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Pure Python (8 threads):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 the same loop on ThreadPoolExecutor.</a:t>
            </a:r>
          </a:p>
        </p:txBody>
      </p:sp>
      <p:sp>
        <p:nvSpPr>
          <p:cNvPr id="1201" name="Shape 15"/>
          <p:cNvSpPr/>
          <p:nvPr/>
        </p:nvSpPr>
        <p:spPr>
          <a:xfrm>
            <a:off x="815975" y="3893194"/>
            <a:ext cx="10560050" cy="417831"/>
          </a:xfrm>
          <a:prstGeom prst="roundRect">
            <a:avLst>
              <a:gd name="adj" fmla="val 14438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2" name="Text 16"/>
          <p:cNvSpPr txBox="1"/>
          <p:nvPr/>
        </p:nvSpPr>
        <p:spPr>
          <a:xfrm>
            <a:off x="946150" y="3959869"/>
            <a:ext cx="279400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>
                <a:solidFill>
                  <a:schemeClr val="accent2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203" name="Text 17"/>
          <p:cNvSpPr txBox="1"/>
          <p:nvPr/>
        </p:nvSpPr>
        <p:spPr>
          <a:xfrm>
            <a:off x="1301750" y="3990652"/>
            <a:ext cx="10242423" cy="248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Rust Native (8 workers):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 read inputs, detach, crunch in Rayon; never touches Python again.</a:t>
            </a:r>
          </a:p>
        </p:txBody>
      </p:sp>
      <p:sp>
        <p:nvSpPr>
          <p:cNvPr id="1204" name="Shape 18"/>
          <p:cNvSpPr/>
          <p:nvPr/>
        </p:nvSpPr>
        <p:spPr>
          <a:xfrm>
            <a:off x="815975" y="4368155"/>
            <a:ext cx="10560050" cy="417831"/>
          </a:xfrm>
          <a:prstGeom prst="roundRect">
            <a:avLst>
              <a:gd name="adj" fmla="val 14438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5" name="Text 19"/>
          <p:cNvSpPr txBox="1"/>
          <p:nvPr/>
        </p:nvSpPr>
        <p:spPr>
          <a:xfrm>
            <a:off x="946150" y="4434830"/>
            <a:ext cx="279400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>
                <a:solidFill>
                  <a:schemeClr val="accent2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206" name="Text 20"/>
          <p:cNvSpPr txBox="1"/>
          <p:nvPr/>
        </p:nvSpPr>
        <p:spPr>
          <a:xfrm>
            <a:off x="1301750" y="4465637"/>
            <a:ext cx="439208" cy="248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Rust </a:t>
            </a:r>
          </a:p>
        </p:txBody>
      </p:sp>
      <p:sp>
        <p:nvSpPr>
          <p:cNvPr id="1207" name="Text 21"/>
          <p:cNvSpPr txBox="1"/>
          <p:nvPr/>
        </p:nvSpPr>
        <p:spPr>
          <a:xfrm>
            <a:off x="1690158" y="4465637"/>
            <a:ext cx="752899" cy="248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Callback </a:t>
            </a:r>
          </a:p>
        </p:txBody>
      </p:sp>
      <p:sp>
        <p:nvSpPr>
          <p:cNvPr id="1208" name="Text 22"/>
          <p:cNvSpPr txBox="1"/>
          <p:nvPr/>
        </p:nvSpPr>
        <p:spPr>
          <a:xfrm>
            <a:off x="2392257" y="4465637"/>
            <a:ext cx="244476" cy="248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(8 </a:t>
            </a:r>
          </a:p>
        </p:txBody>
      </p:sp>
      <p:sp>
        <p:nvSpPr>
          <p:cNvPr id="1209" name="Text 23"/>
          <p:cNvSpPr txBox="1"/>
          <p:nvPr/>
        </p:nvSpPr>
        <p:spPr>
          <a:xfrm>
            <a:off x="2585932" y="4465637"/>
            <a:ext cx="817775" cy="248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workers):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 </a:t>
            </a:r>
          </a:p>
        </p:txBody>
      </p:sp>
      <p:sp>
        <p:nvSpPr>
          <p:cNvPr id="1210" name="Text 24"/>
          <p:cNvSpPr txBox="1"/>
          <p:nvPr/>
        </p:nvSpPr>
        <p:spPr>
          <a:xfrm>
            <a:off x="3352905" y="4465637"/>
            <a:ext cx="396664" cy="248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/>
            </a:lvl1pPr>
          </a:lstStyle>
          <a:p>
            <a:pPr/>
            <a:r>
              <a:t>stay </a:t>
            </a:r>
          </a:p>
        </p:txBody>
      </p:sp>
      <p:sp>
        <p:nvSpPr>
          <p:cNvPr id="1211" name="Text 25"/>
          <p:cNvSpPr txBox="1"/>
          <p:nvPr/>
        </p:nvSpPr>
        <p:spPr>
          <a:xfrm>
            <a:off x="3698769" y="4465637"/>
            <a:ext cx="788671" cy="248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/>
            </a:lvl1pPr>
          </a:lstStyle>
          <a:p>
            <a:pPr/>
            <a:r>
              <a:t>attached, </a:t>
            </a:r>
          </a:p>
        </p:txBody>
      </p:sp>
      <p:sp>
        <p:nvSpPr>
          <p:cNvPr id="1212" name="Text 26"/>
          <p:cNvSpPr txBox="1"/>
          <p:nvPr/>
        </p:nvSpPr>
        <p:spPr>
          <a:xfrm>
            <a:off x="4436638" y="4465637"/>
            <a:ext cx="445348" cy="248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/>
            </a:lvl1pPr>
          </a:lstStyle>
          <a:p>
            <a:pPr/>
            <a:r>
              <a:t>each </a:t>
            </a:r>
          </a:p>
        </p:txBody>
      </p:sp>
      <p:sp>
        <p:nvSpPr>
          <p:cNvPr id="1213" name="Text 27"/>
          <p:cNvSpPr txBox="1"/>
          <p:nvPr/>
        </p:nvSpPr>
        <p:spPr>
          <a:xfrm>
            <a:off x="4831186" y="4465637"/>
            <a:ext cx="572242" cy="248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/>
            </a:lvl1pPr>
          </a:lstStyle>
          <a:p>
            <a:pPr/>
            <a:r>
              <a:t>calling </a:t>
            </a:r>
          </a:p>
        </p:txBody>
      </p:sp>
      <p:sp>
        <p:nvSpPr>
          <p:cNvPr id="1214" name="Text 28"/>
          <p:cNvSpPr txBox="1"/>
          <p:nvPr/>
        </p:nvSpPr>
        <p:spPr>
          <a:xfrm>
            <a:off x="5352627" y="4465637"/>
            <a:ext cx="177907" cy="248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/>
            </a:lvl1pPr>
          </a:lstStyle>
          <a:p>
            <a:pPr/>
            <a:r>
              <a:t>a </a:t>
            </a:r>
          </a:p>
        </p:txBody>
      </p:sp>
      <p:sp>
        <p:nvSpPr>
          <p:cNvPr id="1215" name="Text 29"/>
          <p:cNvSpPr txBox="1"/>
          <p:nvPr/>
        </p:nvSpPr>
        <p:spPr>
          <a:xfrm>
            <a:off x="5479732" y="4465637"/>
            <a:ext cx="610130" cy="248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/>
            </a:lvl1pPr>
          </a:lstStyle>
          <a:p>
            <a:pPr/>
            <a:r>
              <a:t>Python </a:t>
            </a:r>
          </a:p>
        </p:txBody>
      </p:sp>
      <p:sp>
        <p:nvSpPr>
          <p:cNvPr id="1216" name="Text 30"/>
          <p:cNvSpPr txBox="1"/>
          <p:nvPr/>
        </p:nvSpPr>
        <p:spPr>
          <a:xfrm>
            <a:off x="6039062" y="4465637"/>
            <a:ext cx="2448764" cy="248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light_scorer(amount, k) </a:t>
            </a:r>
          </a:p>
        </p:txBody>
      </p:sp>
      <p:sp>
        <p:nvSpPr>
          <p:cNvPr id="1217" name="Text 31"/>
          <p:cNvSpPr txBox="1"/>
          <p:nvPr/>
        </p:nvSpPr>
        <p:spPr>
          <a:xfrm>
            <a:off x="8416501" y="4465637"/>
            <a:ext cx="629921" cy="248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/>
            </a:lvl1pPr>
          </a:lstStyle>
          <a:p>
            <a:pPr/>
            <a:r>
              <a:t>80,000 </a:t>
            </a:r>
          </a:p>
        </p:txBody>
      </p:sp>
      <p:sp>
        <p:nvSpPr>
          <p:cNvPr id="1218" name="Text 32"/>
          <p:cNvSpPr txBox="1"/>
          <p:nvPr/>
        </p:nvSpPr>
        <p:spPr>
          <a:xfrm>
            <a:off x="8995620" y="4465637"/>
            <a:ext cx="550165" cy="248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700"/>
              </a:lnSpc>
              <a:defRPr sz="1300"/>
            </a:lvl1pPr>
          </a:lstStyle>
          <a:p>
            <a:pPr/>
            <a:r>
              <a:t>times.</a:t>
            </a:r>
          </a:p>
        </p:txBody>
      </p:sp>
      <p:sp>
        <p:nvSpPr>
          <p:cNvPr id="1219" name="Text 33"/>
          <p:cNvSpPr txBox="1"/>
          <p:nvPr/>
        </p:nvSpPr>
        <p:spPr>
          <a:xfrm>
            <a:off x="812800" y="4916165"/>
            <a:ext cx="46090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Note: </a:t>
            </a:r>
          </a:p>
        </p:txBody>
      </p:sp>
      <p:sp>
        <p:nvSpPr>
          <p:cNvPr id="1220" name="Text 34"/>
          <p:cNvSpPr txBox="1"/>
          <p:nvPr/>
        </p:nvSpPr>
        <p:spPr>
          <a:xfrm>
            <a:off x="1222904" y="4919340"/>
            <a:ext cx="142240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light_scorer() </a:t>
            </a:r>
          </a:p>
        </p:txBody>
      </p:sp>
      <p:sp>
        <p:nvSpPr>
          <p:cNvPr id="1221" name="Text 35"/>
          <p:cNvSpPr txBox="1"/>
          <p:nvPr/>
        </p:nvSpPr>
        <p:spPr>
          <a:xfrm>
            <a:off x="2594504" y="4916165"/>
            <a:ext cx="19907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is </a:t>
            </a:r>
          </a:p>
        </p:txBody>
      </p:sp>
      <p:sp>
        <p:nvSpPr>
          <p:cNvPr id="1222" name="Text 36"/>
          <p:cNvSpPr txBox="1"/>
          <p:nvPr/>
        </p:nvSpPr>
        <p:spPr>
          <a:xfrm>
            <a:off x="2742776" y="4916165"/>
            <a:ext cx="16817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a </a:t>
            </a:r>
          </a:p>
        </p:txBody>
      </p:sp>
      <p:sp>
        <p:nvSpPr>
          <p:cNvPr id="1223" name="Text 37"/>
          <p:cNvSpPr txBox="1"/>
          <p:nvPr/>
        </p:nvSpPr>
        <p:spPr>
          <a:xfrm>
            <a:off x="2860145" y="4916165"/>
            <a:ext cx="40058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pure </a:t>
            </a:r>
          </a:p>
        </p:txBody>
      </p:sp>
      <p:sp>
        <p:nvSpPr>
          <p:cNvPr id="1224" name="Text 38"/>
          <p:cNvSpPr txBox="1"/>
          <p:nvPr/>
        </p:nvSpPr>
        <p:spPr>
          <a:xfrm>
            <a:off x="3209925" y="4916165"/>
            <a:ext cx="5671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Python </a:t>
            </a:r>
          </a:p>
        </p:txBody>
      </p:sp>
      <p:sp>
        <p:nvSpPr>
          <p:cNvPr id="1225" name="Text 39"/>
          <p:cNvSpPr txBox="1"/>
          <p:nvPr/>
        </p:nvSpPr>
        <p:spPr>
          <a:xfrm>
            <a:off x="3726286" y="4916165"/>
            <a:ext cx="64939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function </a:t>
            </a:r>
          </a:p>
        </p:txBody>
      </p:sp>
      <p:sp>
        <p:nvSpPr>
          <p:cNvPr id="1226" name="Text 40"/>
          <p:cNvSpPr txBox="1"/>
          <p:nvPr/>
        </p:nvSpPr>
        <p:spPr>
          <a:xfrm>
            <a:off x="4324879" y="4916165"/>
            <a:ext cx="38195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with </a:t>
            </a:r>
          </a:p>
        </p:txBody>
      </p:sp>
      <p:sp>
        <p:nvSpPr>
          <p:cNvPr id="1227" name="Text 41"/>
          <p:cNvSpPr txBox="1"/>
          <p:nvPr/>
        </p:nvSpPr>
        <p:spPr>
          <a:xfrm>
            <a:off x="4656032" y="4916165"/>
            <a:ext cx="25865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no </a:t>
            </a:r>
          </a:p>
        </p:txBody>
      </p:sp>
      <p:sp>
        <p:nvSpPr>
          <p:cNvPr id="1228" name="Text 42"/>
          <p:cNvSpPr txBox="1"/>
          <p:nvPr/>
        </p:nvSpPr>
        <p:spPr>
          <a:xfrm>
            <a:off x="4863887" y="4916165"/>
            <a:ext cx="556155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shared </a:t>
            </a:r>
          </a:p>
        </p:txBody>
      </p:sp>
      <p:sp>
        <p:nvSpPr>
          <p:cNvPr id="1229" name="Text 43"/>
          <p:cNvSpPr txBox="1"/>
          <p:nvPr/>
        </p:nvSpPr>
        <p:spPr>
          <a:xfrm>
            <a:off x="5369242" y="4916165"/>
            <a:ext cx="469795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state. </a:t>
            </a:r>
          </a:p>
        </p:txBody>
      </p:sp>
      <p:sp>
        <p:nvSpPr>
          <p:cNvPr id="1230" name="Text 44"/>
          <p:cNvSpPr txBox="1"/>
          <p:nvPr/>
        </p:nvSpPr>
        <p:spPr>
          <a:xfrm>
            <a:off x="5788237" y="4916165"/>
            <a:ext cx="43539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Keep </a:t>
            </a:r>
          </a:p>
        </p:txBody>
      </p:sp>
      <p:sp>
        <p:nvSpPr>
          <p:cNvPr id="1231" name="Text 45"/>
          <p:cNvSpPr txBox="1"/>
          <p:nvPr/>
        </p:nvSpPr>
        <p:spPr>
          <a:xfrm>
            <a:off x="6172834" y="4916165"/>
            <a:ext cx="33909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this </a:t>
            </a:r>
          </a:p>
        </p:txBody>
      </p:sp>
      <p:sp>
        <p:nvSpPr>
          <p:cNvPr id="1232" name="Text 46"/>
          <p:cNvSpPr txBox="1"/>
          <p:nvPr/>
        </p:nvSpPr>
        <p:spPr>
          <a:xfrm>
            <a:off x="6461125" y="4916165"/>
            <a:ext cx="211455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in </a:t>
            </a:r>
          </a:p>
        </p:txBody>
      </p:sp>
      <p:sp>
        <p:nvSpPr>
          <p:cNvPr id="1233" name="Text 47"/>
          <p:cNvSpPr txBox="1"/>
          <p:nvPr/>
        </p:nvSpPr>
        <p:spPr>
          <a:xfrm>
            <a:off x="6621780" y="4916165"/>
            <a:ext cx="43285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mind </a:t>
            </a:r>
          </a:p>
        </p:txBody>
      </p:sp>
      <p:sp>
        <p:nvSpPr>
          <p:cNvPr id="1234" name="Text 48"/>
          <p:cNvSpPr txBox="1"/>
          <p:nvPr/>
        </p:nvSpPr>
        <p:spPr>
          <a:xfrm>
            <a:off x="7003838" y="4916165"/>
            <a:ext cx="276755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for </a:t>
            </a:r>
          </a:p>
        </p:txBody>
      </p:sp>
      <p:sp>
        <p:nvSpPr>
          <p:cNvPr id="1235" name="Text 49"/>
          <p:cNvSpPr txBox="1"/>
          <p:nvPr/>
        </p:nvSpPr>
        <p:spPr>
          <a:xfrm>
            <a:off x="7229792" y="4916165"/>
            <a:ext cx="41364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later.</a:t>
            </a:r>
          </a:p>
        </p:txBody>
      </p:sp>
      <p:sp>
        <p:nvSpPr>
          <p:cNvPr id="1236" name="Text 50"/>
          <p:cNvSpPr txBox="1"/>
          <p:nvPr/>
        </p:nvSpPr>
        <p:spPr>
          <a:xfrm>
            <a:off x="812799" y="6238230"/>
            <a:ext cx="1088339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github.com/xavierforge/red_envelope_demo (tag pycon-tw-2026-r2)</a:t>
            </a:r>
          </a:p>
        </p:txBody>
      </p:sp>
      <p:sp>
        <p:nvSpPr>
          <p:cNvPr id="1237" name="裝飾體 13"/>
          <p:cNvSpPr/>
          <p:nvPr/>
        </p:nvSpPr>
        <p:spPr>
          <a:xfrm rot="5421495">
            <a:off x="19113" y="3601116"/>
            <a:ext cx="1349234" cy="771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5596" fill="norm" stroke="1" extrusionOk="0">
                <a:moveTo>
                  <a:pt x="8186" y="7"/>
                </a:moveTo>
                <a:cubicBezTo>
                  <a:pt x="5538" y="-278"/>
                  <a:pt x="2797" y="8362"/>
                  <a:pt x="49" y="663"/>
                </a:cubicBezTo>
                <a:lnTo>
                  <a:pt x="0" y="1181"/>
                </a:lnTo>
                <a:cubicBezTo>
                  <a:pt x="3497" y="13745"/>
                  <a:pt x="7050" y="-5602"/>
                  <a:pt x="10800" y="4870"/>
                </a:cubicBezTo>
                <a:cubicBezTo>
                  <a:pt x="14550" y="-5599"/>
                  <a:pt x="18104" y="13745"/>
                  <a:pt x="21600" y="1181"/>
                </a:cubicBezTo>
                <a:lnTo>
                  <a:pt x="21551" y="663"/>
                </a:lnTo>
                <a:cubicBezTo>
                  <a:pt x="17887" y="10929"/>
                  <a:pt x="14235" y="-7855"/>
                  <a:pt x="10800" y="4205"/>
                </a:cubicBezTo>
                <a:cubicBezTo>
                  <a:pt x="9941" y="1190"/>
                  <a:pt x="9069" y="103"/>
                  <a:pt x="8186" y="7"/>
                </a:cubicBezTo>
                <a:close/>
              </a:path>
            </a:pathLst>
          </a:custGeom>
          <a:solidFill>
            <a:srgbClr val="F6F5F0"/>
          </a:solidFill>
          <a:ln w="127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Does native Rust get even faster with the GIL off?</a:t>
            </a:r>
          </a:p>
        </p:txBody>
      </p:sp>
      <p:grpSp>
        <p:nvGrpSpPr>
          <p:cNvPr id="1242" name="Text 1"/>
          <p:cNvGrpSpPr/>
          <p:nvPr/>
        </p:nvGrpSpPr>
        <p:grpSpPr>
          <a:xfrm>
            <a:off x="812800" y="2228850"/>
            <a:ext cx="2673350" cy="289560"/>
            <a:chOff x="0" y="0"/>
            <a:chExt cx="2673350" cy="289559"/>
          </a:xfrm>
        </p:grpSpPr>
        <p:sp>
          <p:nvSpPr>
            <p:cNvPr id="1240" name="圓角矩形"/>
            <p:cNvSpPr/>
            <p:nvPr/>
          </p:nvSpPr>
          <p:spPr>
            <a:xfrm>
              <a:off x="0" y="0"/>
              <a:ext cx="2673350" cy="289560"/>
            </a:xfrm>
            <a:prstGeom prst="roundRect">
              <a:avLst>
                <a:gd name="adj" fmla="val 13158"/>
              </a:avLst>
            </a:prstGeom>
            <a:solidFill>
              <a:srgbClr val="EEF2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1600"/>
                </a:lnSpc>
                <a:defRPr sz="1200"/>
              </a:pPr>
            </a:p>
          </p:txBody>
        </p:sp>
        <p:sp>
          <p:nvSpPr>
            <p:cNvPr id="1241" name="Rows 1–2 · from the opening"/>
            <p:cNvSpPr txBox="1"/>
            <p:nvPr/>
          </p:nvSpPr>
          <p:spPr>
            <a:xfrm>
              <a:off x="95884" y="11159"/>
              <a:ext cx="2481581" cy="2672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1600"/>
                </a:lnSpc>
                <a:defRPr sz="1200">
                  <a:solidFill>
                    <a:schemeClr val="accent1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Rows 1–2 · from the opening</a:t>
              </a:r>
            </a:p>
          </p:txBody>
        </p:sp>
      </p:grpSp>
      <p:graphicFrame>
        <p:nvGraphicFramePr>
          <p:cNvPr id="1243" name="Table 0"/>
          <p:cNvGraphicFramePr/>
          <p:nvPr/>
        </p:nvGraphicFramePr>
        <p:xfrm>
          <a:off x="825500" y="2730500"/>
          <a:ext cx="10553700" cy="1651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854702"/>
                <a:gridCol w="1794129"/>
                <a:gridCol w="1794129"/>
                <a:gridCol w="2110740"/>
              </a:tblGrid>
              <a:tr h="412750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B1F27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Workload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6627A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GIL on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BAB8B0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chemeClr val="accent4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GIL off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BAB8B0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B1F27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Speedup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BAB8B0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B1F27"/>
                          </a:solidFill>
                        </a:rPr>
                        <a:t>Arithmetic · Pure Python (1 thread)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6627A"/>
                          </a:solidFill>
                        </a:rPr>
                        <a:t>18.938 s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chemeClr val="accent4"/>
                          </a:solidFill>
                        </a:rPr>
                        <a:t>19.111 s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B1F27"/>
                          </a:solidFill>
                        </a:rPr>
                        <a:t>baseline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B1F27"/>
                          </a:solidFill>
                        </a:rPr>
                        <a:t>Arithmetic · Pure Python (8 threads)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BFBDB8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FBDB8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6627A"/>
                          </a:solidFill>
                        </a:rPr>
                        <a:t>19.057 s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BFBDB8"/>
                      </a:solidFill>
                    </a:lnL>
                    <a:lnR w="12700">
                      <a:solidFill>
                        <a:srgbClr val="BFBDB8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FBDB8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chemeClr val="accent4"/>
                          </a:solidFill>
                        </a:rPr>
                        <a:t>3.811 s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BFBDB8"/>
                      </a:solidFill>
                    </a:lnL>
                    <a:lnR w="12700">
                      <a:solidFill>
                        <a:srgbClr val="BFBDB8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FBDB8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B1F27"/>
                          </a:solidFill>
                        </a:rPr>
                        <a:t>≈ 5.0x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BFBDB8"/>
                      </a:solidFill>
                    </a:lnL>
                    <a:lnR w="12700">
                      <a:solidFill>
                        <a:srgbClr val="BFBDB8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FBDB8"/>
                      </a:solidFill>
                    </a:lnB>
                    <a:solidFill>
                      <a:srgbClr val="EFEDE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B1F27"/>
                          </a:solidFill>
                        </a:rPr>
                        <a:t>Arithmetic · Rust Native (8 workers)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8C2A8"/>
                      </a:solidFill>
                    </a:lnR>
                    <a:lnT w="12700">
                      <a:solidFill>
                        <a:srgbClr val="BFBDB8"/>
                      </a:solidFill>
                    </a:lnT>
                    <a:lnB w="12700">
                      <a:solidFill>
                        <a:srgbClr val="C8C2A8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56627A"/>
                          </a:solidFill>
                        </a:rPr>
                        <a:t>0.042 s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8C2A8"/>
                      </a:solidFill>
                    </a:lnL>
                    <a:lnR w="12700">
                      <a:solidFill>
                        <a:srgbClr val="C8C2A8"/>
                      </a:solidFill>
                    </a:lnR>
                    <a:lnT w="12700">
                      <a:solidFill>
                        <a:srgbClr val="BFBDB8"/>
                      </a:solidFill>
                    </a:lnT>
                    <a:lnB w="12700">
                      <a:solidFill>
                        <a:srgbClr val="C8C2A8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chemeClr val="accent4"/>
                          </a:solidFill>
                        </a:rPr>
                        <a:t>?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8C2A8"/>
                      </a:solidFill>
                    </a:lnL>
                    <a:lnR w="12700">
                      <a:solidFill>
                        <a:srgbClr val="C8C2A8"/>
                      </a:solidFill>
                    </a:lnR>
                    <a:lnT w="12700">
                      <a:solidFill>
                        <a:srgbClr val="BFBDB8"/>
                      </a:solidFill>
                    </a:lnT>
                    <a:lnB w="12700">
                      <a:solidFill>
                        <a:srgbClr val="C8C2A8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1B1F27"/>
                          </a:solidFill>
                        </a:rPr>
                        <a:t>?</a:t>
                      </a:r>
                    </a:p>
                  </a:txBody>
                  <a:tcPr marL="66675" marR="66675" marT="66675" marB="66675" anchor="t" anchorCtr="0" horzOverflow="overflow">
                    <a:lnL w="12700">
                      <a:solidFill>
                        <a:srgbClr val="C8C2A8"/>
                      </a:solidFill>
                    </a:lnL>
                    <a:lnR w="12700">
                      <a:solidFill>
                        <a:srgbClr val="C8C2A8"/>
                      </a:solidFill>
                    </a:lnR>
                    <a:lnT w="12700">
                      <a:solidFill>
                        <a:srgbClr val="BFBDB8"/>
                      </a:solidFill>
                    </a:lnT>
                    <a:lnB w="12700">
                      <a:solidFill>
                        <a:srgbClr val="C8C2A8"/>
                      </a:solidFill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pic>
        <p:nvPicPr>
          <p:cNvPr id="124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82800" y="4591050"/>
            <a:ext cx="203200" cy="406400"/>
          </a:xfrm>
          <a:prstGeom prst="rect">
            <a:avLst/>
          </a:prstGeom>
          <a:ln w="12700">
            <a:miter lim="400000"/>
          </a:ln>
        </p:spPr>
      </p:pic>
      <p:sp>
        <p:nvSpPr>
          <p:cNvPr id="1245" name="Text 2"/>
          <p:cNvSpPr txBox="1"/>
          <p:nvPr/>
        </p:nvSpPr>
        <p:spPr>
          <a:xfrm>
            <a:off x="2387600" y="4757415"/>
            <a:ext cx="6343016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Read inputs, detach, crunch in Rayon; never touches Python again.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Text 0"/>
          <p:cNvSpPr txBox="1"/>
          <p:nvPr>
            <p:ph type="title"/>
          </p:nvPr>
        </p:nvSpPr>
        <p:spPr>
          <a:xfrm>
            <a:off x="812799" y="812800"/>
            <a:ext cx="10883394" cy="382799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 sz="25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Where the real speedup lives</a:t>
            </a:r>
          </a:p>
        </p:txBody>
      </p:sp>
      <p:graphicFrame>
        <p:nvGraphicFramePr>
          <p:cNvPr id="1248" name="Table 0"/>
          <p:cNvGraphicFramePr/>
          <p:nvPr/>
        </p:nvGraphicFramePr>
        <p:xfrm>
          <a:off x="825500" y="1487711"/>
          <a:ext cx="10553700" cy="162602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854702"/>
                <a:gridCol w="1794129"/>
                <a:gridCol w="1794129"/>
                <a:gridCol w="2110740"/>
              </a:tblGrid>
              <a:tr h="406506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Workload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56627A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GIL on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BAB8B0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4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GIL off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BAB8B0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Speedup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BAB8B0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</a:tr>
              <a:tr h="406506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</a:rPr>
                        <a:t>Arithmetic · Pure Python (1 thread)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56627A"/>
                          </a:solidFill>
                        </a:rPr>
                        <a:t>18.938 s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4"/>
                          </a:solidFill>
                        </a:rPr>
                        <a:t>19.111 s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</a:rPr>
                        <a:t>baseline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</a:tr>
              <a:tr h="406506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</a:rPr>
                        <a:t>Arithmetic · Pure Python (8 threads)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BFBDB8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FBDB8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56627A"/>
                          </a:solidFill>
                        </a:rPr>
                        <a:t>19.057 s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BFBDB8"/>
                      </a:solidFill>
                    </a:lnL>
                    <a:lnR w="12700">
                      <a:solidFill>
                        <a:srgbClr val="BFBDB8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FBDB8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4"/>
                          </a:solidFill>
                        </a:rPr>
                        <a:t>3.811 s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BFBDB8"/>
                      </a:solidFill>
                    </a:lnL>
                    <a:lnR w="12700">
                      <a:solidFill>
                        <a:srgbClr val="BFBDB8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FBDB8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4"/>
                          </a:solidFill>
                        </a:rPr>
                        <a:t>≈ 5.0x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BFBDB8"/>
                      </a:solidFill>
                    </a:lnL>
                    <a:lnR w="12700">
                      <a:solidFill>
                        <a:srgbClr val="BFBDB8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FBDB8"/>
                      </a:solidFill>
                    </a:lnB>
                    <a:solidFill>
                      <a:srgbClr val="EFEDE6"/>
                    </a:solidFill>
                  </a:tcPr>
                </a:tc>
              </a:tr>
              <a:tr h="406506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</a:rPr>
                        <a:t>Arithmetic · Rust Native (8 workers)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8C2A8"/>
                      </a:solidFill>
                    </a:lnR>
                    <a:lnT w="12700">
                      <a:solidFill>
                        <a:srgbClr val="BFBDB8"/>
                      </a:solidFill>
                    </a:lnT>
                    <a:lnB w="12700">
                      <a:solidFill>
                        <a:srgbClr val="C8C2A8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56627A"/>
                          </a:solidFill>
                        </a:rPr>
                        <a:t>0.042 s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8C2A8"/>
                      </a:solidFill>
                    </a:lnL>
                    <a:lnR w="12700">
                      <a:solidFill>
                        <a:srgbClr val="C8C2A8"/>
                      </a:solidFill>
                    </a:lnR>
                    <a:lnT w="12700">
                      <a:solidFill>
                        <a:srgbClr val="BFBDB8"/>
                      </a:solidFill>
                    </a:lnT>
                    <a:lnB w="12700">
                      <a:solidFill>
                        <a:srgbClr val="C8C2A8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4"/>
                          </a:solidFill>
                        </a:rPr>
                        <a:t>0.043 s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8C2A8"/>
                      </a:solidFill>
                    </a:lnL>
                    <a:lnR w="12700">
                      <a:solidFill>
                        <a:srgbClr val="C8C2A8"/>
                      </a:solidFill>
                    </a:lnR>
                    <a:lnT w="12700">
                      <a:solidFill>
                        <a:srgbClr val="BFBDB8"/>
                      </a:solidFill>
                    </a:lnT>
                    <a:lnB w="12700">
                      <a:solidFill>
                        <a:srgbClr val="C8C2A8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8A9099"/>
                          </a:solidFill>
                        </a:rPr>
                        <a:t>≈ 1.0x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8C2A8"/>
                      </a:solidFill>
                    </a:lnL>
                    <a:lnR w="12700">
                      <a:solidFill>
                        <a:srgbClr val="C8C2A8"/>
                      </a:solidFill>
                    </a:lnR>
                    <a:lnT w="12700">
                      <a:solidFill>
                        <a:srgbClr val="BFBDB8"/>
                      </a:solidFill>
                    </a:lnT>
                    <a:lnB w="12700">
                      <a:solidFill>
                        <a:srgbClr val="C8C2A8"/>
                      </a:solidFill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249" name="Text 1"/>
          <p:cNvSpPr txBox="1"/>
          <p:nvPr/>
        </p:nvSpPr>
        <p:spPr>
          <a:xfrm>
            <a:off x="838199" y="3264644"/>
            <a:ext cx="10857232" cy="270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Native speed + 8-way parallelism were already available with the GIL on.</a:t>
            </a:r>
          </a:p>
        </p:txBody>
      </p:sp>
      <p:sp>
        <p:nvSpPr>
          <p:cNvPr id="1250" name="Shape 2"/>
          <p:cNvSpPr/>
          <p:nvPr/>
        </p:nvSpPr>
        <p:spPr>
          <a:xfrm>
            <a:off x="812800" y="3661940"/>
            <a:ext cx="8689130" cy="430849"/>
          </a:xfrm>
          <a:prstGeom prst="roundRect">
            <a:avLst>
              <a:gd name="adj" fmla="val 11791"/>
            </a:avLst>
          </a:prstGeom>
          <a:solidFill>
            <a:srgbClr val="FBEDE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1" name="Shape 3"/>
          <p:cNvSpPr/>
          <p:nvPr/>
        </p:nvSpPr>
        <p:spPr>
          <a:xfrm>
            <a:off x="812799" y="3661940"/>
            <a:ext cx="50801" cy="4308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9671" y="21600"/>
                  <a:pt x="0" y="20460"/>
                  <a:pt x="0" y="19053"/>
                </a:cubicBezTo>
                <a:lnTo>
                  <a:pt x="0" y="2547"/>
                </a:lnTo>
                <a:cubicBezTo>
                  <a:pt x="0" y="1140"/>
                  <a:pt x="9671" y="0"/>
                  <a:pt x="21600" y="0"/>
                </a:cubicBezTo>
                <a:cubicBezTo>
                  <a:pt x="18618" y="0"/>
                  <a:pt x="16200" y="1140"/>
                  <a:pt x="16200" y="2547"/>
                </a:cubicBezTo>
                <a:lnTo>
                  <a:pt x="16200" y="19053"/>
                </a:lnTo>
                <a:cubicBezTo>
                  <a:pt x="16200" y="20460"/>
                  <a:pt x="18618" y="21600"/>
                  <a:pt x="216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2" name="Text 4"/>
          <p:cNvSpPr txBox="1"/>
          <p:nvPr/>
        </p:nvSpPr>
        <p:spPr>
          <a:xfrm>
            <a:off x="1003300" y="3750840"/>
            <a:ext cx="8596615" cy="278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000"/>
              </a:lnSpc>
              <a:defRPr sz="15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Arithmetic and Callback are different workloads! Compare speedups within the same row only.</a:t>
            </a:r>
          </a:p>
        </p:txBody>
      </p:sp>
      <p:graphicFrame>
        <p:nvGraphicFramePr>
          <p:cNvPr id="1253" name="Table 1"/>
          <p:cNvGraphicFramePr/>
          <p:nvPr/>
        </p:nvGraphicFramePr>
        <p:xfrm>
          <a:off x="825500" y="4257897"/>
          <a:ext cx="10553700" cy="81555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854702"/>
                <a:gridCol w="1794129"/>
                <a:gridCol w="1794129"/>
                <a:gridCol w="2110740"/>
              </a:tblGrid>
              <a:tr h="40777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Workload</a:t>
                      </a:r>
                    </a:p>
                  </a:txBody>
                  <a:tcPr marL="65842" marR="65842" marT="65842" marB="65842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56627A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GIL on</a:t>
                      </a:r>
                    </a:p>
                  </a:txBody>
                  <a:tcPr marL="65842" marR="65842" marT="65842" marB="65842" anchor="t" anchorCtr="0" horzOverflow="overflow">
                    <a:lnL w="12700">
                      <a:solidFill>
                        <a:srgbClr val="BAB8B0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4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GIL off</a:t>
                      </a:r>
                    </a:p>
                  </a:txBody>
                  <a:tcPr marL="65842" marR="65842" marT="65842" marB="65842" anchor="t" anchorCtr="0" horzOverflow="overflow">
                    <a:lnL w="12700">
                      <a:solidFill>
                        <a:srgbClr val="BAB8B0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Speedup</a:t>
                      </a:r>
                    </a:p>
                  </a:txBody>
                  <a:tcPr marL="65842" marR="65842" marT="65842" marB="65842" anchor="t" anchorCtr="0" horzOverflow="overflow">
                    <a:lnL w="12700">
                      <a:solidFill>
                        <a:srgbClr val="BAB8B0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</a:tr>
              <a:tr h="40777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</a:rPr>
                        <a:t>Callback · Rust calling Python (8 workers)</a:t>
                      </a:r>
                    </a:p>
                  </a:txBody>
                  <a:tcPr marL="65842" marR="65842" marT="65842" marB="65842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56627A"/>
                          </a:solidFill>
                        </a:rPr>
                        <a:t>2.096 s</a:t>
                      </a:r>
                    </a:p>
                  </a:txBody>
                  <a:tcPr marL="65842" marR="65842" marT="65842" marB="65842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4"/>
                          </a:solidFill>
                        </a:rPr>
                        <a:t>?</a:t>
                      </a:r>
                    </a:p>
                  </a:txBody>
                  <a:tcPr marL="65842" marR="65842" marT="65842" marB="65842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</a:rPr>
                        <a:t>?</a:t>
                      </a:r>
                    </a:p>
                  </a:txBody>
                  <a:tcPr marL="65842" marR="65842" marT="65842" marB="65842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54" name="Text 5"/>
          <p:cNvSpPr txBox="1"/>
          <p:nvPr/>
        </p:nvSpPr>
        <p:spPr>
          <a:xfrm>
            <a:off x="812800" y="5222552"/>
            <a:ext cx="47349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Same </a:t>
            </a:r>
          </a:p>
        </p:txBody>
      </p:sp>
      <p:sp>
        <p:nvSpPr>
          <p:cNvPr id="1255" name="Text 6"/>
          <p:cNvSpPr txBox="1"/>
          <p:nvPr/>
        </p:nvSpPr>
        <p:spPr>
          <a:xfrm>
            <a:off x="1235498" y="5222552"/>
            <a:ext cx="104182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free-threaded </a:t>
            </a:r>
          </a:p>
        </p:txBody>
      </p:sp>
      <p:sp>
        <p:nvSpPr>
          <p:cNvPr id="1256" name="Text 7"/>
          <p:cNvSpPr txBox="1"/>
          <p:nvPr/>
        </p:nvSpPr>
        <p:spPr>
          <a:xfrm>
            <a:off x="2226522" y="5222552"/>
            <a:ext cx="42968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build </a:t>
            </a:r>
          </a:p>
        </p:txBody>
      </p:sp>
      <p:sp>
        <p:nvSpPr>
          <p:cNvPr id="1257" name="Text 8"/>
          <p:cNvSpPr txBox="1"/>
          <p:nvPr/>
        </p:nvSpPr>
        <p:spPr>
          <a:xfrm>
            <a:off x="2605404" y="5222552"/>
            <a:ext cx="73247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(3.14.6t), </a:t>
            </a:r>
          </a:p>
        </p:txBody>
      </p:sp>
      <p:sp>
        <p:nvSpPr>
          <p:cNvPr id="1258" name="Text 9"/>
          <p:cNvSpPr txBox="1"/>
          <p:nvPr/>
        </p:nvSpPr>
        <p:spPr>
          <a:xfrm>
            <a:off x="3287078" y="5222552"/>
            <a:ext cx="599759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toggled </a:t>
            </a:r>
          </a:p>
        </p:txBody>
      </p:sp>
      <p:sp>
        <p:nvSpPr>
          <p:cNvPr id="1259" name="Text 10"/>
          <p:cNvSpPr txBox="1"/>
          <p:nvPr/>
        </p:nvSpPr>
        <p:spPr>
          <a:xfrm>
            <a:off x="3836034" y="5222552"/>
            <a:ext cx="28120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via </a:t>
            </a:r>
          </a:p>
        </p:txBody>
      </p:sp>
      <p:sp>
        <p:nvSpPr>
          <p:cNvPr id="1260" name="Text 11"/>
          <p:cNvSpPr txBox="1"/>
          <p:nvPr/>
        </p:nvSpPr>
        <p:spPr>
          <a:xfrm>
            <a:off x="4066433" y="5225727"/>
            <a:ext cx="96520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-X gil=1/0</a:t>
            </a:r>
          </a:p>
        </p:txBody>
      </p:sp>
      <p:sp>
        <p:nvSpPr>
          <p:cNvPr id="1261" name="Text 12"/>
          <p:cNvSpPr txBox="1"/>
          <p:nvPr/>
        </p:nvSpPr>
        <p:spPr>
          <a:xfrm>
            <a:off x="4980833" y="5222552"/>
            <a:ext cx="13123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; </a:t>
            </a:r>
          </a:p>
        </p:txBody>
      </p:sp>
      <p:sp>
        <p:nvSpPr>
          <p:cNvPr id="1262" name="Text 13"/>
          <p:cNvSpPr txBox="1"/>
          <p:nvPr/>
        </p:nvSpPr>
        <p:spPr>
          <a:xfrm>
            <a:off x="5061267" y="5222552"/>
            <a:ext cx="59795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median </a:t>
            </a:r>
          </a:p>
        </p:txBody>
      </p:sp>
      <p:sp>
        <p:nvSpPr>
          <p:cNvPr id="1263" name="Text 14"/>
          <p:cNvSpPr txBox="1"/>
          <p:nvPr/>
        </p:nvSpPr>
        <p:spPr>
          <a:xfrm>
            <a:off x="5608425" y="5222552"/>
            <a:ext cx="22066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of </a:t>
            </a:r>
          </a:p>
        </p:txBody>
      </p:sp>
      <p:sp>
        <p:nvSpPr>
          <p:cNvPr id="1264" name="Text 15"/>
          <p:cNvSpPr txBox="1"/>
          <p:nvPr/>
        </p:nvSpPr>
        <p:spPr>
          <a:xfrm>
            <a:off x="5778287" y="5222552"/>
            <a:ext cx="17822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5 </a:t>
            </a:r>
          </a:p>
        </p:txBody>
      </p:sp>
      <p:sp>
        <p:nvSpPr>
          <p:cNvPr id="1265" name="Text 16"/>
          <p:cNvSpPr txBox="1"/>
          <p:nvPr/>
        </p:nvSpPr>
        <p:spPr>
          <a:xfrm>
            <a:off x="5905712" y="5222552"/>
            <a:ext cx="38999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runs </a:t>
            </a:r>
          </a:p>
        </p:txBody>
      </p:sp>
      <p:sp>
        <p:nvSpPr>
          <p:cNvPr id="1266" name="Text 17"/>
          <p:cNvSpPr txBox="1"/>
          <p:nvPr/>
        </p:nvSpPr>
        <p:spPr>
          <a:xfrm>
            <a:off x="6244907" y="5222552"/>
            <a:ext cx="25865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on </a:t>
            </a:r>
          </a:p>
        </p:txBody>
      </p:sp>
      <p:sp>
        <p:nvSpPr>
          <p:cNvPr id="1267" name="Text 18"/>
          <p:cNvSpPr txBox="1"/>
          <p:nvPr/>
        </p:nvSpPr>
        <p:spPr>
          <a:xfrm>
            <a:off x="6452763" y="5222552"/>
            <a:ext cx="48641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Apple </a:t>
            </a:r>
          </a:p>
        </p:txBody>
      </p:sp>
      <p:sp>
        <p:nvSpPr>
          <p:cNvPr id="1268" name="Text 19"/>
          <p:cNvSpPr txBox="1"/>
          <p:nvPr/>
        </p:nvSpPr>
        <p:spPr>
          <a:xfrm>
            <a:off x="6888374" y="5222552"/>
            <a:ext cx="30194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M1 </a:t>
            </a:r>
          </a:p>
        </p:txBody>
      </p:sp>
      <p:sp>
        <p:nvSpPr>
          <p:cNvPr id="1269" name="Text 20"/>
          <p:cNvSpPr txBox="1"/>
          <p:nvPr/>
        </p:nvSpPr>
        <p:spPr>
          <a:xfrm>
            <a:off x="7139516" y="5222552"/>
            <a:ext cx="32372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Pro.</a:t>
            </a:r>
          </a:p>
        </p:txBody>
      </p:sp>
      <p:sp>
        <p:nvSpPr>
          <p:cNvPr id="1270" name="Shape 21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1" name="Text 22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Detached native work was already fast.</a:t>
            </a:r>
          </a:p>
        </p:txBody>
      </p:sp>
      <p:sp>
        <p:nvSpPr>
          <p:cNvPr id="1272" name="Text 23"/>
          <p:cNvSpPr txBox="1"/>
          <p:nvPr/>
        </p:nvSpPr>
        <p:spPr>
          <a:xfrm>
            <a:off x="812799" y="6238230"/>
            <a:ext cx="1088339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Source: results/compare_2026-10-11.txt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Text 0"/>
          <p:cNvSpPr txBox="1"/>
          <p:nvPr>
            <p:ph type="title"/>
          </p:nvPr>
        </p:nvSpPr>
        <p:spPr>
          <a:xfrm>
            <a:off x="812799" y="812800"/>
            <a:ext cx="10883394" cy="382799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 sz="25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Where the real speedup lives</a:t>
            </a:r>
          </a:p>
        </p:txBody>
      </p:sp>
      <p:graphicFrame>
        <p:nvGraphicFramePr>
          <p:cNvPr id="1275" name="Table 0"/>
          <p:cNvGraphicFramePr/>
          <p:nvPr/>
        </p:nvGraphicFramePr>
        <p:xfrm>
          <a:off x="825500" y="1487711"/>
          <a:ext cx="10553700" cy="162602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854702"/>
                <a:gridCol w="1794129"/>
                <a:gridCol w="1794129"/>
                <a:gridCol w="2110740"/>
              </a:tblGrid>
              <a:tr h="406506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Workload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56627A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GIL on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BAB8B0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4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GIL off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BAB8B0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Speedup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BAB8B0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</a:tr>
              <a:tr h="406506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</a:rPr>
                        <a:t>Arithmetic · Pure Python (1 thread)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56627A"/>
                          </a:solidFill>
                        </a:rPr>
                        <a:t>18.938 s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4"/>
                          </a:solidFill>
                        </a:rPr>
                        <a:t>19.111 s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</a:rPr>
                        <a:t>baseline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</a:tr>
              <a:tr h="406506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</a:rPr>
                        <a:t>Arithmetic · Pure Python (8 threads)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BFBDB8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FBDB8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56627A"/>
                          </a:solidFill>
                        </a:rPr>
                        <a:t>19.057 s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BFBDB8"/>
                      </a:solidFill>
                    </a:lnL>
                    <a:lnR w="12700">
                      <a:solidFill>
                        <a:srgbClr val="BFBDB8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FBDB8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4"/>
                          </a:solidFill>
                        </a:rPr>
                        <a:t>3.811 s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BFBDB8"/>
                      </a:solidFill>
                    </a:lnL>
                    <a:lnR w="12700">
                      <a:solidFill>
                        <a:srgbClr val="BFBDB8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FBDB8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4"/>
                          </a:solidFill>
                        </a:rPr>
                        <a:t>≈ 5.0x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BFBDB8"/>
                      </a:solidFill>
                    </a:lnL>
                    <a:lnR w="12700">
                      <a:solidFill>
                        <a:srgbClr val="BFBDB8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FBDB8"/>
                      </a:solidFill>
                    </a:lnB>
                    <a:solidFill>
                      <a:srgbClr val="EFEDE6"/>
                    </a:solidFill>
                  </a:tcPr>
                </a:tc>
              </a:tr>
              <a:tr h="406506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</a:rPr>
                        <a:t>Arithmetic · Rust Native (8 workers)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FBDB8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56627A"/>
                          </a:solidFill>
                        </a:rPr>
                        <a:t>0.042 s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FBDB8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4"/>
                          </a:solidFill>
                        </a:rPr>
                        <a:t>0.043 s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FBDB8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8A9099"/>
                          </a:solidFill>
                        </a:rPr>
                        <a:t>≈ 1.0x</a:t>
                      </a:r>
                    </a:p>
                  </a:txBody>
                  <a:tcPr marL="65633" marR="65633" marT="65633" marB="65633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4C4BF"/>
                      </a:solidFill>
                    </a:lnR>
                    <a:lnT w="12700">
                      <a:solidFill>
                        <a:srgbClr val="BFBDB8"/>
                      </a:solidFill>
                    </a:lnT>
                    <a:lnB w="12700">
                      <a:solidFill>
                        <a:srgbClr val="C4C4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76" name="Text 1"/>
          <p:cNvSpPr txBox="1"/>
          <p:nvPr/>
        </p:nvSpPr>
        <p:spPr>
          <a:xfrm>
            <a:off x="838199" y="3264644"/>
            <a:ext cx="10857232" cy="270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Native speed + 8-way parallelism were already available with the GIL on.</a:t>
            </a:r>
          </a:p>
        </p:txBody>
      </p:sp>
      <p:sp>
        <p:nvSpPr>
          <p:cNvPr id="1277" name="Shape 2"/>
          <p:cNvSpPr/>
          <p:nvPr/>
        </p:nvSpPr>
        <p:spPr>
          <a:xfrm>
            <a:off x="812800" y="3661940"/>
            <a:ext cx="8689130" cy="430849"/>
          </a:xfrm>
          <a:prstGeom prst="roundRect">
            <a:avLst>
              <a:gd name="adj" fmla="val 11791"/>
            </a:avLst>
          </a:prstGeom>
          <a:solidFill>
            <a:srgbClr val="FBEDE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78" name="Shape 3"/>
          <p:cNvSpPr/>
          <p:nvPr/>
        </p:nvSpPr>
        <p:spPr>
          <a:xfrm>
            <a:off x="812799" y="3661940"/>
            <a:ext cx="50801" cy="4308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9671" y="21600"/>
                  <a:pt x="0" y="20460"/>
                  <a:pt x="0" y="19053"/>
                </a:cubicBezTo>
                <a:lnTo>
                  <a:pt x="0" y="2547"/>
                </a:lnTo>
                <a:cubicBezTo>
                  <a:pt x="0" y="1140"/>
                  <a:pt x="9671" y="0"/>
                  <a:pt x="21600" y="0"/>
                </a:cubicBezTo>
                <a:cubicBezTo>
                  <a:pt x="18618" y="0"/>
                  <a:pt x="16200" y="1140"/>
                  <a:pt x="16200" y="2547"/>
                </a:cubicBezTo>
                <a:lnTo>
                  <a:pt x="16200" y="19053"/>
                </a:lnTo>
                <a:cubicBezTo>
                  <a:pt x="16200" y="20460"/>
                  <a:pt x="18618" y="21600"/>
                  <a:pt x="216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79" name="Text 4"/>
          <p:cNvSpPr txBox="1"/>
          <p:nvPr/>
        </p:nvSpPr>
        <p:spPr>
          <a:xfrm>
            <a:off x="1003300" y="3750840"/>
            <a:ext cx="8596615" cy="278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000"/>
              </a:lnSpc>
              <a:defRPr sz="15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Arithmetic and Callback are different workloads! Compare speedups within the same row only.</a:t>
            </a:r>
          </a:p>
        </p:txBody>
      </p:sp>
      <p:graphicFrame>
        <p:nvGraphicFramePr>
          <p:cNvPr id="1280" name="Table 1"/>
          <p:cNvGraphicFramePr/>
          <p:nvPr/>
        </p:nvGraphicFramePr>
        <p:xfrm>
          <a:off x="825500" y="4257897"/>
          <a:ext cx="10553700" cy="81555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854702"/>
                <a:gridCol w="1794129"/>
                <a:gridCol w="1794129"/>
                <a:gridCol w="2110740"/>
              </a:tblGrid>
              <a:tr h="40777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Workload</a:t>
                      </a:r>
                    </a:p>
                  </a:txBody>
                  <a:tcPr marL="65842" marR="65842" marT="65842" marB="65842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56627A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GIL on</a:t>
                      </a:r>
                    </a:p>
                  </a:txBody>
                  <a:tcPr marL="65842" marR="65842" marT="65842" marB="65842" anchor="t" anchorCtr="0" horzOverflow="overflow">
                    <a:lnL w="12700">
                      <a:solidFill>
                        <a:srgbClr val="BAB8B0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4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GIL off</a:t>
                      </a:r>
                    </a:p>
                  </a:txBody>
                  <a:tcPr marL="65842" marR="65842" marT="65842" marB="65842" anchor="t" anchorCtr="0" horzOverflow="overflow">
                    <a:lnL w="12700">
                      <a:solidFill>
                        <a:srgbClr val="BAB8B0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Speedup</a:t>
                      </a:r>
                    </a:p>
                  </a:txBody>
                  <a:tcPr marL="65842" marR="65842" marT="65842" marB="65842" anchor="t" anchorCtr="0" horzOverflow="overflow">
                    <a:lnL w="12700">
                      <a:solidFill>
                        <a:srgbClr val="BAB8B0"/>
                      </a:solidFill>
                    </a:lnL>
                    <a:lnR w="12700">
                      <a:solidFill>
                        <a:srgbClr val="BAB8B0"/>
                      </a:solidFill>
                    </a:lnR>
                    <a:lnT w="12700">
                      <a:solidFill>
                        <a:srgbClr val="C4C4BF"/>
                      </a:solidFill>
                    </a:lnT>
                    <a:lnB w="12700">
                      <a:solidFill>
                        <a:srgbClr val="BAB8B0"/>
                      </a:solidFill>
                    </a:lnB>
                    <a:solidFill>
                      <a:srgbClr val="E9E6DC"/>
                    </a:solidFill>
                  </a:tcPr>
                </a:tc>
              </a:tr>
              <a:tr h="40777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1B1F27"/>
                          </a:solidFill>
                        </a:rPr>
                        <a:t>Callback · Rust calling Python (8 workers)</a:t>
                      </a:r>
                    </a:p>
                  </a:txBody>
                  <a:tcPr marL="65842" marR="65842" marT="65842" marB="65842" anchor="t" anchorCtr="0" horzOverflow="overflow">
                    <a:lnL w="12700">
                      <a:solidFill>
                        <a:srgbClr val="C4C4BF"/>
                      </a:solidFill>
                    </a:lnL>
                    <a:lnR w="12700">
                      <a:solidFill>
                        <a:srgbClr val="C8C2A8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8C2A8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56627A"/>
                          </a:solidFill>
                        </a:rPr>
                        <a:t>2.096 s</a:t>
                      </a:r>
                    </a:p>
                  </a:txBody>
                  <a:tcPr marL="65842" marR="65842" marT="65842" marB="65842" anchor="t" anchorCtr="0" horzOverflow="overflow">
                    <a:lnL w="12700">
                      <a:solidFill>
                        <a:srgbClr val="C8C2A8"/>
                      </a:solidFill>
                    </a:lnL>
                    <a:lnR w="12700">
                      <a:solidFill>
                        <a:srgbClr val="C8C2A8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8C2A8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4"/>
                          </a:solidFill>
                        </a:rPr>
                        <a:t>0.349 s</a:t>
                      </a:r>
                    </a:p>
                  </a:txBody>
                  <a:tcPr marL="65842" marR="65842" marT="65842" marB="65842" anchor="t" anchorCtr="0" horzOverflow="overflow">
                    <a:lnL w="12700">
                      <a:solidFill>
                        <a:srgbClr val="C8C2A8"/>
                      </a:solidFill>
                    </a:lnL>
                    <a:lnR w="12700">
                      <a:solidFill>
                        <a:srgbClr val="C8C2A8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8C2A8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chemeClr val="accent4"/>
                          </a:solidFill>
                        </a:rPr>
                        <a:t>≈ 6.0x</a:t>
                      </a:r>
                    </a:p>
                  </a:txBody>
                  <a:tcPr marL="65842" marR="65842" marT="65842" marB="65842" anchor="t" anchorCtr="0" horzOverflow="overflow">
                    <a:lnL w="12700">
                      <a:solidFill>
                        <a:srgbClr val="C8C2A8"/>
                      </a:solidFill>
                    </a:lnL>
                    <a:lnR w="12700">
                      <a:solidFill>
                        <a:srgbClr val="C8C2A8"/>
                      </a:solidFill>
                    </a:lnR>
                    <a:lnT w="12700">
                      <a:solidFill>
                        <a:srgbClr val="BAB8B0"/>
                      </a:solidFill>
                    </a:lnT>
                    <a:lnB w="12700">
                      <a:solidFill>
                        <a:srgbClr val="C8C2A8"/>
                      </a:solidFill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281" name="Text 5"/>
          <p:cNvSpPr txBox="1"/>
          <p:nvPr/>
        </p:nvSpPr>
        <p:spPr>
          <a:xfrm>
            <a:off x="812800" y="5222552"/>
            <a:ext cx="47349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Same </a:t>
            </a:r>
          </a:p>
        </p:txBody>
      </p:sp>
      <p:sp>
        <p:nvSpPr>
          <p:cNvPr id="1282" name="Text 6"/>
          <p:cNvSpPr txBox="1"/>
          <p:nvPr/>
        </p:nvSpPr>
        <p:spPr>
          <a:xfrm>
            <a:off x="1235498" y="5222552"/>
            <a:ext cx="104182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free-threaded </a:t>
            </a:r>
          </a:p>
        </p:txBody>
      </p:sp>
      <p:sp>
        <p:nvSpPr>
          <p:cNvPr id="1283" name="Text 7"/>
          <p:cNvSpPr txBox="1"/>
          <p:nvPr/>
        </p:nvSpPr>
        <p:spPr>
          <a:xfrm>
            <a:off x="2226522" y="5222552"/>
            <a:ext cx="42968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build </a:t>
            </a:r>
          </a:p>
        </p:txBody>
      </p:sp>
      <p:sp>
        <p:nvSpPr>
          <p:cNvPr id="1284" name="Text 8"/>
          <p:cNvSpPr txBox="1"/>
          <p:nvPr/>
        </p:nvSpPr>
        <p:spPr>
          <a:xfrm>
            <a:off x="2605404" y="5222552"/>
            <a:ext cx="73247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(3.14.6t), </a:t>
            </a:r>
          </a:p>
        </p:txBody>
      </p:sp>
      <p:sp>
        <p:nvSpPr>
          <p:cNvPr id="1285" name="Text 9"/>
          <p:cNvSpPr txBox="1"/>
          <p:nvPr/>
        </p:nvSpPr>
        <p:spPr>
          <a:xfrm>
            <a:off x="3287078" y="5222552"/>
            <a:ext cx="599759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toggled </a:t>
            </a:r>
          </a:p>
        </p:txBody>
      </p:sp>
      <p:sp>
        <p:nvSpPr>
          <p:cNvPr id="1286" name="Text 10"/>
          <p:cNvSpPr txBox="1"/>
          <p:nvPr/>
        </p:nvSpPr>
        <p:spPr>
          <a:xfrm>
            <a:off x="3836034" y="5222552"/>
            <a:ext cx="28120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via </a:t>
            </a:r>
          </a:p>
        </p:txBody>
      </p:sp>
      <p:sp>
        <p:nvSpPr>
          <p:cNvPr id="1287" name="Text 11"/>
          <p:cNvSpPr txBox="1"/>
          <p:nvPr/>
        </p:nvSpPr>
        <p:spPr>
          <a:xfrm>
            <a:off x="4066433" y="5225727"/>
            <a:ext cx="96520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-X gil=1/0</a:t>
            </a:r>
          </a:p>
        </p:txBody>
      </p:sp>
      <p:sp>
        <p:nvSpPr>
          <p:cNvPr id="1288" name="Text 12"/>
          <p:cNvSpPr txBox="1"/>
          <p:nvPr/>
        </p:nvSpPr>
        <p:spPr>
          <a:xfrm>
            <a:off x="4980833" y="5222552"/>
            <a:ext cx="13123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; </a:t>
            </a:r>
          </a:p>
        </p:txBody>
      </p:sp>
      <p:sp>
        <p:nvSpPr>
          <p:cNvPr id="1289" name="Text 13"/>
          <p:cNvSpPr txBox="1"/>
          <p:nvPr/>
        </p:nvSpPr>
        <p:spPr>
          <a:xfrm>
            <a:off x="5061267" y="5222552"/>
            <a:ext cx="59795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median </a:t>
            </a:r>
          </a:p>
        </p:txBody>
      </p:sp>
      <p:sp>
        <p:nvSpPr>
          <p:cNvPr id="1290" name="Text 14"/>
          <p:cNvSpPr txBox="1"/>
          <p:nvPr/>
        </p:nvSpPr>
        <p:spPr>
          <a:xfrm>
            <a:off x="5608425" y="5222552"/>
            <a:ext cx="22066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of </a:t>
            </a:r>
          </a:p>
        </p:txBody>
      </p:sp>
      <p:sp>
        <p:nvSpPr>
          <p:cNvPr id="1291" name="Text 15"/>
          <p:cNvSpPr txBox="1"/>
          <p:nvPr/>
        </p:nvSpPr>
        <p:spPr>
          <a:xfrm>
            <a:off x="5778287" y="5222552"/>
            <a:ext cx="17822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5 </a:t>
            </a:r>
          </a:p>
        </p:txBody>
      </p:sp>
      <p:sp>
        <p:nvSpPr>
          <p:cNvPr id="1292" name="Text 16"/>
          <p:cNvSpPr txBox="1"/>
          <p:nvPr/>
        </p:nvSpPr>
        <p:spPr>
          <a:xfrm>
            <a:off x="5905712" y="5222552"/>
            <a:ext cx="38999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runs </a:t>
            </a:r>
          </a:p>
        </p:txBody>
      </p:sp>
      <p:sp>
        <p:nvSpPr>
          <p:cNvPr id="1293" name="Text 17"/>
          <p:cNvSpPr txBox="1"/>
          <p:nvPr/>
        </p:nvSpPr>
        <p:spPr>
          <a:xfrm>
            <a:off x="6244907" y="5222552"/>
            <a:ext cx="25865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on </a:t>
            </a:r>
          </a:p>
        </p:txBody>
      </p:sp>
      <p:sp>
        <p:nvSpPr>
          <p:cNvPr id="1294" name="Text 18"/>
          <p:cNvSpPr txBox="1"/>
          <p:nvPr/>
        </p:nvSpPr>
        <p:spPr>
          <a:xfrm>
            <a:off x="6452763" y="5222552"/>
            <a:ext cx="48641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Apple </a:t>
            </a:r>
          </a:p>
        </p:txBody>
      </p:sp>
      <p:sp>
        <p:nvSpPr>
          <p:cNvPr id="1295" name="Text 19"/>
          <p:cNvSpPr txBox="1"/>
          <p:nvPr/>
        </p:nvSpPr>
        <p:spPr>
          <a:xfrm>
            <a:off x="6888374" y="5222552"/>
            <a:ext cx="30194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M1 </a:t>
            </a:r>
          </a:p>
        </p:txBody>
      </p:sp>
      <p:sp>
        <p:nvSpPr>
          <p:cNvPr id="1296" name="Text 20"/>
          <p:cNvSpPr txBox="1"/>
          <p:nvPr/>
        </p:nvSpPr>
        <p:spPr>
          <a:xfrm>
            <a:off x="7139516" y="5222552"/>
            <a:ext cx="32372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8A9099"/>
                </a:solidFill>
              </a:defRPr>
            </a:lvl1pPr>
          </a:lstStyle>
          <a:p>
            <a:pPr/>
            <a:r>
              <a:t>Pro.</a:t>
            </a:r>
          </a:p>
        </p:txBody>
      </p:sp>
      <p:sp>
        <p:nvSpPr>
          <p:cNvPr id="1297" name="Shape 21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8" name="Text 22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Free-threading speeds up work that must stay attached. Detached native work was already fast.</a:t>
            </a:r>
          </a:p>
        </p:txBody>
      </p:sp>
      <p:sp>
        <p:nvSpPr>
          <p:cNvPr id="1299" name="Text 23"/>
          <p:cNvSpPr txBox="1"/>
          <p:nvPr/>
        </p:nvSpPr>
        <p:spPr>
          <a:xfrm>
            <a:off x="812799" y="6238230"/>
            <a:ext cx="1088339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Source: results/compare_2026-10-11.txt</a:t>
            </a:r>
          </a:p>
        </p:txBody>
      </p:sp>
      <p:pic>
        <p:nvPicPr>
          <p:cNvPr id="1301" name="連接線" descr="連接線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77930" y="2386788"/>
            <a:ext cx="419101" cy="2629333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Two checks before you expect a speedup</a:t>
            </a:r>
          </a:p>
        </p:txBody>
      </p:sp>
      <p:sp>
        <p:nvSpPr>
          <p:cNvPr id="1305" name="Shape 1"/>
          <p:cNvSpPr/>
          <p:nvPr/>
        </p:nvSpPr>
        <p:spPr>
          <a:xfrm>
            <a:off x="815975" y="2169467"/>
            <a:ext cx="5175250" cy="2628266"/>
          </a:xfrm>
          <a:prstGeom prst="roundRect">
            <a:avLst>
              <a:gd name="adj" fmla="val 3745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6" name="Text 2"/>
          <p:cNvSpPr txBox="1"/>
          <p:nvPr/>
        </p:nvSpPr>
        <p:spPr>
          <a:xfrm>
            <a:off x="1022350" y="2375842"/>
            <a:ext cx="4905375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Check 1 · Can it even run free-threaded?</a:t>
            </a:r>
          </a:p>
        </p:txBody>
      </p:sp>
      <p:sp>
        <p:nvSpPr>
          <p:cNvPr id="1307" name="Text 3"/>
          <p:cNvSpPr txBox="1"/>
          <p:nvPr/>
        </p:nvSpPr>
        <p:spPr>
          <a:xfrm>
            <a:off x="1022350" y="2739082"/>
            <a:ext cx="4905375" cy="487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• Must ship a free-threaded wheel and declare support (check py-free-threading.github.io).</a:t>
            </a:r>
          </a:p>
        </p:txBody>
      </p:sp>
      <p:sp>
        <p:nvSpPr>
          <p:cNvPr id="1308" name="Text 4"/>
          <p:cNvSpPr txBox="1"/>
          <p:nvPr/>
        </p:nvSpPr>
        <p:spPr>
          <a:xfrm>
            <a:off x="1022350" y="3290242"/>
            <a:ext cx="193718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• Python 3.14t requires a </a:t>
            </a:r>
          </a:p>
        </p:txBody>
      </p:sp>
      <p:sp>
        <p:nvSpPr>
          <p:cNvPr id="1309" name="Text 5"/>
          <p:cNvSpPr txBox="1"/>
          <p:nvPr/>
        </p:nvSpPr>
        <p:spPr>
          <a:xfrm>
            <a:off x="2903114" y="3290242"/>
            <a:ext cx="74422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cp314t </a:t>
            </a:r>
          </a:p>
        </p:txBody>
      </p:sp>
      <p:sp>
        <p:nvSpPr>
          <p:cNvPr id="1310" name="Text 6"/>
          <p:cNvSpPr txBox="1"/>
          <p:nvPr/>
        </p:nvSpPr>
        <p:spPr>
          <a:xfrm>
            <a:off x="3596533" y="3290242"/>
            <a:ext cx="59182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wheel.</a:t>
            </a:r>
          </a:p>
        </p:txBody>
      </p:sp>
      <p:sp>
        <p:nvSpPr>
          <p:cNvPr id="1311" name="Text 7"/>
          <p:cNvSpPr txBox="1"/>
          <p:nvPr/>
        </p:nvSpPr>
        <p:spPr>
          <a:xfrm>
            <a:off x="1022350" y="3610297"/>
            <a:ext cx="155153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• </a:t>
            </a:r>
          </a:p>
        </p:txBody>
      </p:sp>
      <p:sp>
        <p:nvSpPr>
          <p:cNvPr id="1312" name="Text 8"/>
          <p:cNvSpPr txBox="1"/>
          <p:nvPr/>
        </p:nvSpPr>
        <p:spPr>
          <a:xfrm>
            <a:off x="1126701" y="3610297"/>
            <a:ext cx="61013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Python </a:t>
            </a:r>
          </a:p>
        </p:txBody>
      </p:sp>
      <p:sp>
        <p:nvSpPr>
          <p:cNvPr id="1313" name="Text 9"/>
          <p:cNvSpPr txBox="1"/>
          <p:nvPr/>
        </p:nvSpPr>
        <p:spPr>
          <a:xfrm>
            <a:off x="1686031" y="3610297"/>
            <a:ext cx="53086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3.15+ </a:t>
            </a:r>
          </a:p>
        </p:txBody>
      </p:sp>
      <p:sp>
        <p:nvSpPr>
          <p:cNvPr id="1314" name="Text 10"/>
          <p:cNvSpPr txBox="1"/>
          <p:nvPr/>
        </p:nvSpPr>
        <p:spPr>
          <a:xfrm>
            <a:off x="2166091" y="3610297"/>
            <a:ext cx="87767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introduces </a:t>
            </a:r>
          </a:p>
        </p:txBody>
      </p:sp>
      <p:sp>
        <p:nvSpPr>
          <p:cNvPr id="1315" name="Text 11"/>
          <p:cNvSpPr txBox="1"/>
          <p:nvPr/>
        </p:nvSpPr>
        <p:spPr>
          <a:xfrm>
            <a:off x="2992966" y="3610297"/>
            <a:ext cx="6451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abi3t </a:t>
            </a:r>
          </a:p>
        </p:txBody>
      </p:sp>
      <p:sp>
        <p:nvSpPr>
          <p:cNvPr id="1316" name="Text 12"/>
          <p:cNvSpPr txBox="1"/>
          <p:nvPr/>
        </p:nvSpPr>
        <p:spPr>
          <a:xfrm>
            <a:off x="3587327" y="3610297"/>
            <a:ext cx="6017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(stable </a:t>
            </a:r>
          </a:p>
        </p:txBody>
      </p:sp>
      <p:sp>
        <p:nvSpPr>
          <p:cNvPr id="1317" name="Text 13"/>
          <p:cNvSpPr txBox="1"/>
          <p:nvPr/>
        </p:nvSpPr>
        <p:spPr>
          <a:xfrm>
            <a:off x="4138295" y="3610297"/>
            <a:ext cx="47307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ABI): </a:t>
            </a:r>
          </a:p>
        </p:txBody>
      </p:sp>
      <p:sp>
        <p:nvSpPr>
          <p:cNvPr id="1318" name="Text 14"/>
          <p:cNvSpPr txBox="1"/>
          <p:nvPr/>
        </p:nvSpPr>
        <p:spPr>
          <a:xfrm>
            <a:off x="4560570" y="3610297"/>
            <a:ext cx="36660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one </a:t>
            </a:r>
          </a:p>
        </p:txBody>
      </p:sp>
      <p:sp>
        <p:nvSpPr>
          <p:cNvPr id="1319" name="Text 15"/>
          <p:cNvSpPr txBox="1"/>
          <p:nvPr/>
        </p:nvSpPr>
        <p:spPr>
          <a:xfrm>
            <a:off x="4876377" y="3610297"/>
            <a:ext cx="58267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wheel </a:t>
            </a:r>
          </a:p>
        </p:txBody>
      </p:sp>
      <p:sp>
        <p:nvSpPr>
          <p:cNvPr id="1320" name="Text 16"/>
          <p:cNvSpPr txBox="1"/>
          <p:nvPr/>
        </p:nvSpPr>
        <p:spPr>
          <a:xfrm>
            <a:off x="1022350" y="3841427"/>
            <a:ext cx="574463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covers </a:t>
            </a:r>
          </a:p>
        </p:txBody>
      </p:sp>
      <p:sp>
        <p:nvSpPr>
          <p:cNvPr id="1321" name="Text 17"/>
          <p:cNvSpPr txBox="1"/>
          <p:nvPr/>
        </p:nvSpPr>
        <p:spPr>
          <a:xfrm>
            <a:off x="1546012" y="3841427"/>
            <a:ext cx="5308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3.15+ </a:t>
            </a:r>
          </a:p>
        </p:txBody>
      </p:sp>
      <p:sp>
        <p:nvSpPr>
          <p:cNvPr id="1322" name="Text 18"/>
          <p:cNvSpPr txBox="1"/>
          <p:nvPr/>
        </p:nvSpPr>
        <p:spPr>
          <a:xfrm>
            <a:off x="2026073" y="3841427"/>
            <a:ext cx="4851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(both </a:t>
            </a:r>
          </a:p>
        </p:txBody>
      </p:sp>
      <p:sp>
        <p:nvSpPr>
          <p:cNvPr id="1323" name="Text 19"/>
          <p:cNvSpPr txBox="1"/>
          <p:nvPr/>
        </p:nvSpPr>
        <p:spPr>
          <a:xfrm>
            <a:off x="2460412" y="3841427"/>
            <a:ext cx="35327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GIL </a:t>
            </a:r>
          </a:p>
        </p:txBody>
      </p:sp>
      <p:sp>
        <p:nvSpPr>
          <p:cNvPr id="1324" name="Text 20"/>
          <p:cNvSpPr txBox="1"/>
          <p:nvPr/>
        </p:nvSpPr>
        <p:spPr>
          <a:xfrm>
            <a:off x="2762885" y="3841427"/>
            <a:ext cx="36745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and </a:t>
            </a:r>
          </a:p>
        </p:txBody>
      </p:sp>
      <p:sp>
        <p:nvSpPr>
          <p:cNvPr id="1325" name="Text 21"/>
          <p:cNvSpPr txBox="1"/>
          <p:nvPr/>
        </p:nvSpPr>
        <p:spPr>
          <a:xfrm>
            <a:off x="3079537" y="3841427"/>
            <a:ext cx="136156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free-threaded).</a:t>
            </a:r>
          </a:p>
        </p:txBody>
      </p:sp>
      <p:sp>
        <p:nvSpPr>
          <p:cNvPr id="1326" name="Text 22"/>
          <p:cNvSpPr txBox="1"/>
          <p:nvPr/>
        </p:nvSpPr>
        <p:spPr>
          <a:xfrm>
            <a:off x="1022350" y="4161482"/>
            <a:ext cx="46090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Note: </a:t>
            </a:r>
          </a:p>
        </p:txBody>
      </p:sp>
      <p:sp>
        <p:nvSpPr>
          <p:cNvPr id="1327" name="Text 23"/>
          <p:cNvSpPr txBox="1"/>
          <p:nvPr/>
        </p:nvSpPr>
        <p:spPr>
          <a:xfrm>
            <a:off x="1432454" y="4161482"/>
            <a:ext cx="51435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Polars </a:t>
            </a:r>
          </a:p>
        </p:txBody>
      </p:sp>
      <p:sp>
        <p:nvSpPr>
          <p:cNvPr id="1328" name="Text 24"/>
          <p:cNvSpPr txBox="1"/>
          <p:nvPr/>
        </p:nvSpPr>
        <p:spPr>
          <a:xfrm>
            <a:off x="1896004" y="4161482"/>
            <a:ext cx="32893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has </a:t>
            </a:r>
          </a:p>
        </p:txBody>
      </p:sp>
      <p:sp>
        <p:nvSpPr>
          <p:cNvPr id="1329" name="Text 25"/>
          <p:cNvSpPr txBox="1"/>
          <p:nvPr/>
        </p:nvSpPr>
        <p:spPr>
          <a:xfrm>
            <a:off x="2174133" y="4161482"/>
            <a:ext cx="63447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shipped </a:t>
            </a:r>
          </a:p>
        </p:txBody>
      </p:sp>
      <p:sp>
        <p:nvSpPr>
          <p:cNvPr id="1330" name="Text 26"/>
          <p:cNvSpPr txBox="1"/>
          <p:nvPr/>
        </p:nvSpPr>
        <p:spPr>
          <a:xfrm>
            <a:off x="2757804" y="4161482"/>
            <a:ext cx="57478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neither </a:t>
            </a:r>
          </a:p>
        </p:txBody>
      </p:sp>
      <p:sp>
        <p:nvSpPr>
          <p:cNvPr id="1331" name="Text 27"/>
          <p:cNvSpPr txBox="1"/>
          <p:nvPr/>
        </p:nvSpPr>
        <p:spPr>
          <a:xfrm>
            <a:off x="3281786" y="4161482"/>
            <a:ext cx="29919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yet </a:t>
            </a:r>
          </a:p>
        </p:txBody>
      </p:sp>
      <p:sp>
        <p:nvSpPr>
          <p:cNvPr id="1332" name="Text 28"/>
          <p:cNvSpPr txBox="1"/>
          <p:nvPr/>
        </p:nvSpPr>
        <p:spPr>
          <a:xfrm>
            <a:off x="3530177" y="4161482"/>
            <a:ext cx="69003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(tracking </a:t>
            </a:r>
          </a:p>
        </p:txBody>
      </p:sp>
      <p:sp>
        <p:nvSpPr>
          <p:cNvPr id="1333" name="Text 29"/>
          <p:cNvSpPr txBox="1"/>
          <p:nvPr/>
        </p:nvSpPr>
        <p:spPr>
          <a:xfrm>
            <a:off x="4169409" y="4164657"/>
            <a:ext cx="59944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abi3t </a:t>
            </a:r>
          </a:p>
        </p:txBody>
      </p:sp>
      <p:sp>
        <p:nvSpPr>
          <p:cNvPr id="1334" name="Text 30"/>
          <p:cNvSpPr txBox="1"/>
          <p:nvPr/>
        </p:nvSpPr>
        <p:spPr>
          <a:xfrm>
            <a:off x="4718050" y="4161482"/>
            <a:ext cx="211455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in </a:t>
            </a:r>
          </a:p>
        </p:txBody>
      </p:sp>
      <p:sp>
        <p:nvSpPr>
          <p:cNvPr id="1335" name="Text 31"/>
          <p:cNvSpPr txBox="1"/>
          <p:nvPr/>
        </p:nvSpPr>
        <p:spPr>
          <a:xfrm>
            <a:off x="4878704" y="4161482"/>
            <a:ext cx="47028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issue </a:t>
            </a:r>
          </a:p>
        </p:txBody>
      </p:sp>
      <p:sp>
        <p:nvSpPr>
          <p:cNvPr id="1336" name="Text 32"/>
          <p:cNvSpPr txBox="1"/>
          <p:nvPr/>
        </p:nvSpPr>
        <p:spPr>
          <a:xfrm>
            <a:off x="1022350" y="4378002"/>
            <a:ext cx="79006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#27955).</a:t>
            </a:r>
          </a:p>
        </p:txBody>
      </p:sp>
      <p:sp>
        <p:nvSpPr>
          <p:cNvPr id="1337" name="Shape 33"/>
          <p:cNvSpPr/>
          <p:nvPr/>
        </p:nvSpPr>
        <p:spPr>
          <a:xfrm>
            <a:off x="6200775" y="2169467"/>
            <a:ext cx="5175250" cy="2628266"/>
          </a:xfrm>
          <a:prstGeom prst="roundRect">
            <a:avLst>
              <a:gd name="adj" fmla="val 3745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8" name="Text 34"/>
          <p:cNvSpPr txBox="1"/>
          <p:nvPr/>
        </p:nvSpPr>
        <p:spPr>
          <a:xfrm>
            <a:off x="6407150" y="2375842"/>
            <a:ext cx="4905375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100"/>
              </a:lnSpc>
              <a:defRPr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Check 2 · Which parts stay attached</a:t>
            </a:r>
          </a:p>
          <a:p>
            <a:pPr>
              <a:lnSpc>
                <a:spcPts val="2100"/>
              </a:lnSpc>
              <a:defRPr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to the interpreter?</a:t>
            </a:r>
          </a:p>
        </p:txBody>
      </p:sp>
      <p:sp>
        <p:nvSpPr>
          <p:cNvPr id="1339" name="Text 35"/>
          <p:cNvSpPr txBox="1"/>
          <p:nvPr/>
        </p:nvSpPr>
        <p:spPr>
          <a:xfrm>
            <a:off x="6407150" y="3013397"/>
            <a:ext cx="4905375" cy="718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solidFill>
                  <a:schemeClr val="accent4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Speeds up (Attached):</a:t>
            </a:r>
            <a:r>
              <a:rPr>
                <a:solidFill>
                  <a:srgbClr val="1B1F27"/>
                </a:solidFill>
                <a:latin typeface="+mj-lt"/>
                <a:ea typeface="+mj-ea"/>
                <a:cs typeface="+mj-cs"/>
                <a:sym typeface="IBM Plex Sans Regular"/>
              </a:rPr>
              <a:t> threaded pure-Python loops, Python-level validation (Pydantic 2.11+), native libraries calling Python UDFs / callbacks / hooks.</a:t>
            </a:r>
          </a:p>
        </p:txBody>
      </p:sp>
      <p:sp>
        <p:nvSpPr>
          <p:cNvPr id="1340" name="Text 36"/>
          <p:cNvSpPr txBox="1"/>
          <p:nvPr/>
        </p:nvSpPr>
        <p:spPr>
          <a:xfrm>
            <a:off x="6407150" y="3795712"/>
            <a:ext cx="4905375" cy="487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solidFill>
                  <a:srgbClr val="56627A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Already fast (Detached):</a:t>
            </a:r>
            <a:r>
              <a:rPr>
                <a:solidFill>
                  <a:srgbClr val="1B1F27"/>
                </a:solidFill>
                <a:latin typeface="+mj-lt"/>
                <a:ea typeface="+mj-ea"/>
                <a:cs typeface="+mj-cs"/>
                <a:sym typeface="IBM Plex Sans Regular"/>
              </a:rPr>
              <a:t> C/Rust number crunching that releases the GIL (NumPy-style).</a:t>
            </a:r>
          </a:p>
        </p:txBody>
      </p:sp>
      <p:sp>
        <p:nvSpPr>
          <p:cNvPr id="1341" name="Shape 37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2" name="Text 38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 package only speeds up on its attached work, and only after it ships a compatible wheel.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The speedup lives right where the danger is</a:t>
            </a:r>
          </a:p>
        </p:txBody>
      </p:sp>
      <p:sp>
        <p:nvSpPr>
          <p:cNvPr id="1345" name="Text 1"/>
          <p:cNvSpPr txBox="1"/>
          <p:nvPr/>
        </p:nvSpPr>
        <p:spPr>
          <a:xfrm>
            <a:off x="812800" y="1328415"/>
            <a:ext cx="565099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/>
            </a:lvl1pPr>
          </a:lstStyle>
          <a:p>
            <a:pPr/>
            <a:r>
              <a:t>Attached parallelism means a package can now call your Python function from multiple threads at the exact same time.</a:t>
            </a:r>
          </a:p>
        </p:txBody>
      </p:sp>
      <p:sp>
        <p:nvSpPr>
          <p:cNvPr id="1346" name="Shape 2"/>
          <p:cNvSpPr/>
          <p:nvPr/>
        </p:nvSpPr>
        <p:spPr>
          <a:xfrm>
            <a:off x="812800" y="1953269"/>
            <a:ext cx="3911495" cy="553721"/>
          </a:xfrm>
          <a:prstGeom prst="roundRect">
            <a:avLst>
              <a:gd name="adj" fmla="val 6881"/>
            </a:avLst>
          </a:prstGeom>
          <a:solidFill>
            <a:srgbClr val="EEF2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7" name="Shape 3"/>
          <p:cNvSpPr/>
          <p:nvPr/>
        </p:nvSpPr>
        <p:spPr>
          <a:xfrm>
            <a:off x="812799" y="1953269"/>
            <a:ext cx="38101" cy="553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9671" y="21600"/>
                  <a:pt x="0" y="20935"/>
                  <a:pt x="0" y="20114"/>
                </a:cubicBezTo>
                <a:lnTo>
                  <a:pt x="0" y="1486"/>
                </a:lnTo>
                <a:cubicBezTo>
                  <a:pt x="0" y="665"/>
                  <a:pt x="9671" y="0"/>
                  <a:pt x="21600" y="0"/>
                </a:cubicBezTo>
                <a:cubicBezTo>
                  <a:pt x="17624" y="0"/>
                  <a:pt x="14400" y="665"/>
                  <a:pt x="14400" y="1486"/>
                </a:cubicBezTo>
                <a:lnTo>
                  <a:pt x="14400" y="20114"/>
                </a:lnTo>
                <a:cubicBezTo>
                  <a:pt x="14400" y="20935"/>
                  <a:pt x="17624" y="21600"/>
                  <a:pt x="2160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8" name="Text 4"/>
          <p:cNvSpPr txBox="1"/>
          <p:nvPr/>
        </p:nvSpPr>
        <p:spPr>
          <a:xfrm>
            <a:off x="965200" y="2019944"/>
            <a:ext cx="101600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from Act I</a:t>
            </a:r>
          </a:p>
        </p:txBody>
      </p:sp>
      <p:sp>
        <p:nvSpPr>
          <p:cNvPr id="1349" name="Text 5"/>
          <p:cNvSpPr txBox="1"/>
          <p:nvPr/>
        </p:nvSpPr>
        <p:spPr>
          <a:xfrm>
            <a:off x="1981200" y="2016769"/>
            <a:ext cx="2694577" cy="452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pPr>
            <a:r>
              <a:t>“Same code, same traps.</a:t>
            </a:r>
          </a:p>
          <a:p>
            <a: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pPr>
            <a:r>
              <a:t>Rare bugs just became everyday bugs.”</a:t>
            </a:r>
          </a:p>
        </p:txBody>
      </p:sp>
      <p:sp>
        <p:nvSpPr>
          <p:cNvPr id="1350" name="Shape 6"/>
          <p:cNvSpPr/>
          <p:nvPr/>
        </p:nvSpPr>
        <p:spPr>
          <a:xfrm>
            <a:off x="815975" y="2637159"/>
            <a:ext cx="1763184" cy="2089151"/>
          </a:xfrm>
          <a:prstGeom prst="roundRect">
            <a:avLst>
              <a:gd name="adj" fmla="val 4142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1" name="Text 7"/>
          <p:cNvSpPr txBox="1"/>
          <p:nvPr/>
        </p:nvSpPr>
        <p:spPr>
          <a:xfrm>
            <a:off x="946150" y="2792734"/>
            <a:ext cx="1553633" cy="454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6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Side 1</a:t>
            </a:r>
          </a:p>
          <a:p>
            <a:pPr>
              <a:lnSpc>
                <a:spcPts val="16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Rust's internal data</a:t>
            </a:r>
          </a:p>
        </p:txBody>
      </p:sp>
      <p:sp>
        <p:nvSpPr>
          <p:cNvPr id="1352" name="Text 8"/>
          <p:cNvSpPr txBox="1"/>
          <p:nvPr/>
        </p:nvSpPr>
        <p:spPr>
          <a:xfrm>
            <a:off x="946150" y="3298180"/>
            <a:ext cx="1553633" cy="47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300">
                <a:solidFill>
                  <a:srgbClr val="3A404B"/>
                </a:solidFill>
              </a:defRPr>
            </a:pPr>
            <a:r>
              <a:t>Memory:</a:t>
            </a:r>
          </a:p>
          <a:p>
            <a:pPr>
              <a:lnSpc>
                <a:spcPts val="1700"/>
              </a:lnSpc>
              <a:defRPr sz="1300">
                <a:solidFill>
                  <a:srgbClr val="3A404B"/>
                </a:solidFill>
              </a:defRPr>
            </a:pPr>
            <a:r>
              <a:t>guarded by rustc</a:t>
            </a:r>
          </a:p>
        </p:txBody>
      </p:sp>
      <p:grpSp>
        <p:nvGrpSpPr>
          <p:cNvPr id="1355" name="Text 9"/>
          <p:cNvGrpSpPr/>
          <p:nvPr/>
        </p:nvGrpSpPr>
        <p:grpSpPr>
          <a:xfrm>
            <a:off x="946150" y="4271640"/>
            <a:ext cx="1502833" cy="299086"/>
            <a:chOff x="0" y="0"/>
            <a:chExt cx="1502832" cy="299084"/>
          </a:xfrm>
        </p:grpSpPr>
        <p:sp>
          <p:nvSpPr>
            <p:cNvPr id="1353" name="圓角矩形"/>
            <p:cNvSpPr/>
            <p:nvPr/>
          </p:nvSpPr>
          <p:spPr>
            <a:xfrm>
              <a:off x="0" y="0"/>
              <a:ext cx="1502833" cy="299085"/>
            </a:xfrm>
            <a:prstGeom prst="roundRect">
              <a:avLst>
                <a:gd name="adj" fmla="val 12739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700"/>
                </a:lnSpc>
                <a:defRPr sz="1300"/>
              </a:pPr>
            </a:p>
          </p:txBody>
        </p:sp>
        <p:sp>
          <p:nvSpPr>
            <p:cNvPr id="1354" name="Logic: on you"/>
            <p:cNvSpPr txBox="1"/>
            <p:nvPr/>
          </p:nvSpPr>
          <p:spPr>
            <a:xfrm>
              <a:off x="74658" y="36559"/>
              <a:ext cx="1404317" cy="25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541" tIns="1541" rIns="1541" bIns="1541" numCol="1" anchor="t">
              <a:normAutofit fontScale="100000" lnSpcReduction="0"/>
            </a:bodyPr>
            <a:lstStyle>
              <a:lvl1pPr>
                <a:lnSpc>
                  <a:spcPts val="1700"/>
                </a:lnSpc>
                <a:defRPr sz="1300"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Logic: on you</a:t>
              </a:r>
            </a:p>
          </p:txBody>
        </p:sp>
      </p:grpSp>
      <p:sp>
        <p:nvSpPr>
          <p:cNvPr id="1356" name="Shape 10"/>
          <p:cNvSpPr/>
          <p:nvPr/>
        </p:nvSpPr>
        <p:spPr>
          <a:xfrm>
            <a:off x="2674408" y="2637159"/>
            <a:ext cx="1763184" cy="2089151"/>
          </a:xfrm>
          <a:prstGeom prst="roundRect">
            <a:avLst>
              <a:gd name="adj" fmla="val 4142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7" name="Text 11"/>
          <p:cNvSpPr txBox="1"/>
          <p:nvPr/>
        </p:nvSpPr>
        <p:spPr>
          <a:xfrm>
            <a:off x="2804583" y="2792734"/>
            <a:ext cx="1553634" cy="669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6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Side 2</a:t>
            </a:r>
          </a:p>
          <a:p>
            <a:pPr>
              <a:lnSpc>
                <a:spcPts val="16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Rust objects exposed to Python</a:t>
            </a:r>
          </a:p>
        </p:txBody>
      </p:sp>
      <p:sp>
        <p:nvSpPr>
          <p:cNvPr id="1358" name="Text 12"/>
          <p:cNvSpPr txBox="1"/>
          <p:nvPr/>
        </p:nvSpPr>
        <p:spPr>
          <a:xfrm>
            <a:off x="2804583" y="3512815"/>
            <a:ext cx="1553634" cy="47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300">
                <a:solidFill>
                  <a:srgbClr val="3A404B"/>
                </a:solidFill>
              </a:defRPr>
            </a:pPr>
            <a:r>
              <a:t>Memory:</a:t>
            </a:r>
          </a:p>
          <a:p>
            <a:pPr>
              <a:lnSpc>
                <a:spcPts val="1700"/>
              </a:lnSpc>
              <a:defRPr sz="1300">
                <a:solidFill>
                  <a:srgbClr val="3A404B"/>
                </a:solidFill>
              </a:defRPr>
            </a:pPr>
            <a:r>
              <a:t>guarded by PyO3</a:t>
            </a:r>
          </a:p>
        </p:txBody>
      </p:sp>
      <p:grpSp>
        <p:nvGrpSpPr>
          <p:cNvPr id="1361" name="Text 13"/>
          <p:cNvGrpSpPr/>
          <p:nvPr/>
        </p:nvGrpSpPr>
        <p:grpSpPr>
          <a:xfrm>
            <a:off x="2804583" y="4271640"/>
            <a:ext cx="1502834" cy="299086"/>
            <a:chOff x="0" y="0"/>
            <a:chExt cx="1502832" cy="299084"/>
          </a:xfrm>
        </p:grpSpPr>
        <p:sp>
          <p:nvSpPr>
            <p:cNvPr id="1359" name="圓角矩形"/>
            <p:cNvSpPr/>
            <p:nvPr/>
          </p:nvSpPr>
          <p:spPr>
            <a:xfrm>
              <a:off x="0" y="0"/>
              <a:ext cx="1502833" cy="299085"/>
            </a:xfrm>
            <a:prstGeom prst="roundRect">
              <a:avLst>
                <a:gd name="adj" fmla="val 12739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700"/>
                </a:lnSpc>
                <a:defRPr sz="1300"/>
              </a:pPr>
            </a:p>
          </p:txBody>
        </p:sp>
        <p:sp>
          <p:nvSpPr>
            <p:cNvPr id="1360" name="Logic: on you"/>
            <p:cNvSpPr txBox="1"/>
            <p:nvPr/>
          </p:nvSpPr>
          <p:spPr>
            <a:xfrm>
              <a:off x="74658" y="36559"/>
              <a:ext cx="1404317" cy="25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541" tIns="1541" rIns="1541" bIns="1541" numCol="1" anchor="t">
              <a:normAutofit fontScale="100000" lnSpcReduction="0"/>
            </a:bodyPr>
            <a:lstStyle>
              <a:lvl1pPr>
                <a:lnSpc>
                  <a:spcPts val="1700"/>
                </a:lnSpc>
                <a:defRPr sz="1300"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Logic: on you</a:t>
              </a:r>
            </a:p>
          </p:txBody>
        </p:sp>
      </p:grpSp>
      <p:sp>
        <p:nvSpPr>
          <p:cNvPr id="1362" name="Shape 14"/>
          <p:cNvSpPr/>
          <p:nvPr/>
        </p:nvSpPr>
        <p:spPr>
          <a:xfrm>
            <a:off x="4532841" y="2637159"/>
            <a:ext cx="1763184" cy="2089151"/>
          </a:xfrm>
          <a:prstGeom prst="roundRect">
            <a:avLst>
              <a:gd name="adj" fmla="val 4142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3" name="Text 15"/>
          <p:cNvSpPr txBox="1"/>
          <p:nvPr/>
        </p:nvSpPr>
        <p:spPr>
          <a:xfrm>
            <a:off x="4663016" y="2792734"/>
            <a:ext cx="1553634" cy="669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6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Side 3</a:t>
            </a:r>
          </a:p>
          <a:p>
            <a:pPr>
              <a:lnSpc>
                <a:spcPts val="16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Your Python callback</a:t>
            </a:r>
          </a:p>
        </p:txBody>
      </p:sp>
      <p:sp>
        <p:nvSpPr>
          <p:cNvPr id="1364" name="Text 16"/>
          <p:cNvSpPr txBox="1"/>
          <p:nvPr/>
        </p:nvSpPr>
        <p:spPr>
          <a:xfrm>
            <a:off x="4663016" y="3512815"/>
            <a:ext cx="1553634" cy="47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700"/>
              </a:lnSpc>
              <a:defRPr sz="1300">
                <a:solidFill>
                  <a:srgbClr val="3A404B"/>
                </a:solidFill>
              </a:defRPr>
            </a:pPr>
            <a:r>
              <a:t>Memory:</a:t>
            </a:r>
          </a:p>
          <a:p>
            <a:pPr>
              <a:lnSpc>
                <a:spcPts val="1700"/>
              </a:lnSpc>
              <a:defRPr sz="1300">
                <a:solidFill>
                  <a:srgbClr val="3A404B"/>
                </a:solidFill>
              </a:defRPr>
            </a:pPr>
            <a:r>
              <a:t>guarded by CPython</a:t>
            </a:r>
          </a:p>
        </p:txBody>
      </p:sp>
      <p:grpSp>
        <p:nvGrpSpPr>
          <p:cNvPr id="1367" name="Text 17"/>
          <p:cNvGrpSpPr/>
          <p:nvPr/>
        </p:nvGrpSpPr>
        <p:grpSpPr>
          <a:xfrm>
            <a:off x="4663016" y="4271640"/>
            <a:ext cx="1502834" cy="299086"/>
            <a:chOff x="0" y="0"/>
            <a:chExt cx="1502832" cy="299084"/>
          </a:xfrm>
        </p:grpSpPr>
        <p:sp>
          <p:nvSpPr>
            <p:cNvPr id="1365" name="圓角矩形"/>
            <p:cNvSpPr/>
            <p:nvPr/>
          </p:nvSpPr>
          <p:spPr>
            <a:xfrm>
              <a:off x="0" y="0"/>
              <a:ext cx="1502833" cy="299085"/>
            </a:xfrm>
            <a:prstGeom prst="roundRect">
              <a:avLst>
                <a:gd name="adj" fmla="val 12739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700"/>
                </a:lnSpc>
                <a:defRPr sz="1300"/>
              </a:pPr>
            </a:p>
          </p:txBody>
        </p:sp>
        <p:sp>
          <p:nvSpPr>
            <p:cNvPr id="1366" name="Logic: on you"/>
            <p:cNvSpPr txBox="1"/>
            <p:nvPr/>
          </p:nvSpPr>
          <p:spPr>
            <a:xfrm>
              <a:off x="74658" y="36559"/>
              <a:ext cx="1404317" cy="25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541" tIns="1541" rIns="1541" bIns="1541" numCol="1" anchor="t">
              <a:normAutofit fontScale="100000" lnSpcReduction="0"/>
            </a:bodyPr>
            <a:lstStyle>
              <a:lvl1pPr>
                <a:lnSpc>
                  <a:spcPts val="1700"/>
                </a:lnSpc>
                <a:defRPr sz="1300"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Logic: on you</a:t>
              </a:r>
            </a:p>
          </p:txBody>
        </p:sp>
      </p:grpSp>
      <p:sp>
        <p:nvSpPr>
          <p:cNvPr id="1368" name="Shape 18"/>
          <p:cNvSpPr/>
          <p:nvPr/>
        </p:nvSpPr>
        <p:spPr>
          <a:xfrm>
            <a:off x="6553200" y="3495030"/>
            <a:ext cx="4826000" cy="2092961"/>
          </a:xfrm>
          <a:prstGeom prst="rect">
            <a:avLst/>
          </a:prstGeom>
          <a:solidFill>
            <a:srgbClr val="F6F5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9" name="Text 19"/>
          <p:cNvSpPr txBox="1"/>
          <p:nvPr/>
        </p:nvSpPr>
        <p:spPr>
          <a:xfrm>
            <a:off x="7874000" y="3495030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Rust</a:t>
            </a:r>
          </a:p>
        </p:txBody>
      </p:sp>
      <p:sp>
        <p:nvSpPr>
          <p:cNvPr id="1370" name="Text 20"/>
          <p:cNvSpPr txBox="1"/>
          <p:nvPr/>
        </p:nvSpPr>
        <p:spPr>
          <a:xfrm>
            <a:off x="9683750" y="3495030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1371" name="Text 21"/>
          <p:cNvSpPr txBox="1"/>
          <p:nvPr/>
        </p:nvSpPr>
        <p:spPr>
          <a:xfrm>
            <a:off x="6553200" y="37973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Who holds it?</a:t>
            </a:r>
          </a:p>
        </p:txBody>
      </p:sp>
      <p:grpSp>
        <p:nvGrpSpPr>
          <p:cNvPr id="1374" name="Text 22"/>
          <p:cNvGrpSpPr/>
          <p:nvPr/>
        </p:nvGrpSpPr>
        <p:grpSpPr>
          <a:xfrm>
            <a:off x="7804150" y="3752850"/>
            <a:ext cx="1758950" cy="317500"/>
            <a:chOff x="0" y="0"/>
            <a:chExt cx="1758950" cy="317500"/>
          </a:xfrm>
        </p:grpSpPr>
        <p:sp>
          <p:nvSpPr>
            <p:cNvPr id="1372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373" name="owner · &amp; · &amp;mut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owner · &amp; · &amp;mut</a:t>
              </a:r>
            </a:p>
          </p:txBody>
        </p:sp>
      </p:grpSp>
      <p:grpSp>
        <p:nvGrpSpPr>
          <p:cNvPr id="1377" name="Text 23"/>
          <p:cNvGrpSpPr/>
          <p:nvPr/>
        </p:nvGrpSpPr>
        <p:grpSpPr>
          <a:xfrm>
            <a:off x="9613900" y="3752850"/>
            <a:ext cx="1758950" cy="317500"/>
            <a:chOff x="0" y="0"/>
            <a:chExt cx="1758950" cy="317500"/>
          </a:xfrm>
        </p:grpSpPr>
        <p:sp>
          <p:nvSpPr>
            <p:cNvPr id="1375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E8EEF8"/>
            </a:solidFill>
            <a:ln w="127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376" name="a mental reflex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/>
              </a:lvl1pPr>
            </a:lstStyle>
            <a:p>
              <a:pPr/>
              <a:r>
                <a:t>a mental reflex</a:t>
              </a:r>
            </a:p>
          </p:txBody>
        </p:sp>
      </p:grpSp>
      <p:sp>
        <p:nvSpPr>
          <p:cNvPr id="1378" name="Text 24"/>
          <p:cNvSpPr txBox="1"/>
          <p:nvPr/>
        </p:nvSpPr>
        <p:spPr>
          <a:xfrm>
            <a:off x="6553200" y="4165600"/>
            <a:ext cx="12573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Is it mutated?</a:t>
            </a:r>
          </a:p>
        </p:txBody>
      </p:sp>
      <p:grpSp>
        <p:nvGrpSpPr>
          <p:cNvPr id="1381" name="Text 25"/>
          <p:cNvGrpSpPr/>
          <p:nvPr/>
        </p:nvGrpSpPr>
        <p:grpSpPr>
          <a:xfrm>
            <a:off x="7804150" y="4121150"/>
            <a:ext cx="1758950" cy="520700"/>
            <a:chOff x="0" y="0"/>
            <a:chExt cx="1758950" cy="520700"/>
          </a:xfrm>
        </p:grpSpPr>
        <p:sp>
          <p:nvSpPr>
            <p:cNvPr id="1379" name="圓角矩形"/>
            <p:cNvSpPr/>
            <p:nvPr/>
          </p:nvSpPr>
          <p:spPr>
            <a:xfrm>
              <a:off x="0" y="0"/>
              <a:ext cx="1758950" cy="520700"/>
            </a:xfrm>
            <a:prstGeom prst="roundRect">
              <a:avLst>
                <a:gd name="adj" fmla="val 6098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380" name="mut · &amp;mut ·…"/>
            <p:cNvSpPr txBox="1"/>
            <p:nvPr/>
          </p:nvSpPr>
          <p:spPr>
            <a:xfrm>
              <a:off x="66450" y="41049"/>
              <a:ext cx="1676850" cy="453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/>
            <a:p>
              <a: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pPr>
              <a:r>
                <a:t>mut · &amp;mut ·</a:t>
              </a:r>
            </a:p>
            <a:p>
              <a: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pPr>
              <a:r>
                <a:t>Mutex / Atomic</a:t>
              </a:r>
            </a:p>
          </p:txBody>
        </p:sp>
      </p:grpSp>
      <p:grpSp>
        <p:nvGrpSpPr>
          <p:cNvPr id="1384" name="Text 26"/>
          <p:cNvGrpSpPr/>
          <p:nvPr/>
        </p:nvGrpSpPr>
        <p:grpSpPr>
          <a:xfrm>
            <a:off x="9613900" y="4121150"/>
            <a:ext cx="1758950" cy="520700"/>
            <a:chOff x="0" y="0"/>
            <a:chExt cx="1758950" cy="520700"/>
          </a:xfrm>
        </p:grpSpPr>
        <p:sp>
          <p:nvSpPr>
            <p:cNvPr id="1382" name="圓角矩形"/>
            <p:cNvSpPr/>
            <p:nvPr/>
          </p:nvSpPr>
          <p:spPr>
            <a:xfrm>
              <a:off x="0" y="0"/>
              <a:ext cx="1758950" cy="520700"/>
            </a:xfrm>
            <a:prstGeom prst="roundRect">
              <a:avLst>
                <a:gd name="adj" fmla="val 6098"/>
              </a:avLst>
            </a:prstGeom>
            <a:solidFill>
              <a:srgbClr val="E8EEF8"/>
            </a:solidFill>
            <a:ln w="127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383" name="API encapsulation"/>
            <p:cNvSpPr txBox="1"/>
            <p:nvPr/>
          </p:nvSpPr>
          <p:spPr>
            <a:xfrm>
              <a:off x="66450" y="41049"/>
              <a:ext cx="1676850" cy="4386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/>
              </a:lvl1pPr>
            </a:lstStyle>
            <a:p>
              <a:pPr/>
              <a:r>
                <a:t>API encapsulation</a:t>
              </a:r>
            </a:p>
          </p:txBody>
        </p:sp>
      </p:grpSp>
      <p:sp>
        <p:nvSpPr>
          <p:cNvPr id="1385" name="Text 27"/>
          <p:cNvSpPr txBox="1"/>
          <p:nvPr/>
        </p:nvSpPr>
        <p:spPr>
          <a:xfrm>
            <a:off x="6553200" y="47371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Across threads</a:t>
            </a:r>
          </a:p>
        </p:txBody>
      </p:sp>
      <p:grpSp>
        <p:nvGrpSpPr>
          <p:cNvPr id="1388" name="Text 28"/>
          <p:cNvGrpSpPr/>
          <p:nvPr/>
        </p:nvGrpSpPr>
        <p:grpSpPr>
          <a:xfrm>
            <a:off x="7804150" y="4692650"/>
            <a:ext cx="1758950" cy="317500"/>
            <a:chOff x="0" y="0"/>
            <a:chExt cx="1758950" cy="317500"/>
          </a:xfrm>
        </p:grpSpPr>
        <p:sp>
          <p:nvSpPr>
            <p:cNvPr id="1386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387" name="Send · Sync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Send · Sync</a:t>
              </a:r>
            </a:p>
          </p:txBody>
        </p:sp>
      </p:grpSp>
      <p:grpSp>
        <p:nvGrpSpPr>
          <p:cNvPr id="1391" name="Text 29"/>
          <p:cNvGrpSpPr/>
          <p:nvPr/>
        </p:nvGrpSpPr>
        <p:grpSpPr>
          <a:xfrm>
            <a:off x="9613900" y="4692650"/>
            <a:ext cx="1758950" cy="317500"/>
            <a:chOff x="0" y="0"/>
            <a:chExt cx="1758950" cy="317500"/>
          </a:xfrm>
        </p:grpSpPr>
        <p:sp>
          <p:nvSpPr>
            <p:cNvPr id="1389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E8EEF8"/>
            </a:solidFill>
            <a:ln w="127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390" name="a shared vocabulary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/>
              </a:lvl1pPr>
            </a:lstStyle>
            <a:p>
              <a:pPr/>
              <a:r>
                <a:t>a shared vocabulary</a:t>
              </a:r>
            </a:p>
          </p:txBody>
        </p:sp>
      </p:grpSp>
      <p:sp>
        <p:nvSpPr>
          <p:cNvPr id="1392" name="Text 30"/>
          <p:cNvSpPr txBox="1"/>
          <p:nvPr/>
        </p:nvSpPr>
        <p:spPr>
          <a:xfrm>
            <a:off x="6553200" y="5105400"/>
            <a:ext cx="12573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At the Python boundary</a:t>
            </a:r>
          </a:p>
        </p:txBody>
      </p:sp>
      <p:sp>
        <p:nvSpPr>
          <p:cNvPr id="1393" name="Shape 31"/>
          <p:cNvSpPr/>
          <p:nvPr/>
        </p:nvSpPr>
        <p:spPr>
          <a:xfrm>
            <a:off x="7804150" y="5060950"/>
            <a:ext cx="3568700" cy="520700"/>
          </a:xfrm>
          <a:prstGeom prst="roundRect">
            <a:avLst>
              <a:gd name="adj" fmla="val 6098"/>
            </a:avLst>
          </a:prstGeom>
          <a:ln w="12700">
            <a:solidFill>
              <a:srgbClr val="C9C4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4" name="Shape 32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5" name="Text 33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The door that speeds up your callbacks also runs them in parallel. Act I's traps walk right back in.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Side 1: the compiler refuses what Python ran silently</a:t>
            </a:r>
          </a:p>
        </p:txBody>
      </p:sp>
      <p:sp>
        <p:nvSpPr>
          <p:cNvPr id="1398" name="Shape 1"/>
          <p:cNvSpPr/>
          <p:nvPr/>
        </p:nvSpPr>
        <p:spPr>
          <a:xfrm>
            <a:off x="815975" y="1280790"/>
            <a:ext cx="4819650" cy="1637030"/>
          </a:xfrm>
          <a:prstGeom prst="roundRect">
            <a:avLst>
              <a:gd name="adj" fmla="val 4461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401" name="Text 2"/>
          <p:cNvGrpSpPr/>
          <p:nvPr/>
        </p:nvGrpSpPr>
        <p:grpSpPr>
          <a:xfrm>
            <a:off x="819150" y="1283965"/>
            <a:ext cx="4813300" cy="289561"/>
            <a:chOff x="0" y="0"/>
            <a:chExt cx="4813300" cy="289559"/>
          </a:xfrm>
        </p:grpSpPr>
        <p:sp>
          <p:nvSpPr>
            <p:cNvPr id="1399" name="形狀"/>
            <p:cNvSpPr/>
            <p:nvPr/>
          </p:nvSpPr>
          <p:spPr>
            <a:xfrm>
              <a:off x="0" y="0"/>
              <a:ext cx="4813300" cy="2895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11"/>
                  </a:moveTo>
                  <a:cubicBezTo>
                    <a:pt x="0" y="2333"/>
                    <a:pt x="140" y="0"/>
                    <a:pt x="313" y="0"/>
                  </a:cubicBezTo>
                  <a:lnTo>
                    <a:pt x="21287" y="0"/>
                  </a:lnTo>
                  <a:cubicBezTo>
                    <a:pt x="21460" y="0"/>
                    <a:pt x="21600" y="2333"/>
                    <a:pt x="21600" y="5211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600"/>
                </a:lnSpc>
                <a:defRPr sz="1200"/>
              </a:pPr>
            </a:p>
          </p:txBody>
        </p:sp>
        <p:sp>
          <p:nvSpPr>
            <p:cNvPr id="1400" name="Rust · src/main.rs, lines 7–12"/>
            <p:cNvSpPr txBox="1"/>
            <p:nvPr/>
          </p:nvSpPr>
          <p:spPr>
            <a:xfrm>
              <a:off x="139700" y="25400"/>
              <a:ext cx="4533900" cy="2641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2700" tIns="12700" rIns="12700" bIns="12700" numCol="1" anchor="t">
              <a:normAutofit fontScale="100000" lnSpcReduction="0"/>
            </a:bodyPr>
            <a:lstStyle>
              <a:lvl1pPr>
                <a:lnSpc>
                  <a:spcPts val="1600"/>
                </a:lnSpc>
                <a:defRPr sz="1200">
                  <a:solidFill>
                    <a:srgbClr val="FBF4EE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Rust · src/main.rs, lines 7–12</a:t>
              </a:r>
            </a:p>
          </p:txBody>
        </p:sp>
      </p:grpSp>
      <p:sp>
        <p:nvSpPr>
          <p:cNvPr id="1402" name="Text 3"/>
          <p:cNvSpPr txBox="1"/>
          <p:nvPr/>
        </p:nvSpPr>
        <p:spPr>
          <a:xfrm>
            <a:off x="971550" y="1649734"/>
            <a:ext cx="2664460" cy="223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let mut valid_count: u64 = 0;</a:t>
            </a:r>
          </a:p>
        </p:txBody>
      </p:sp>
      <p:sp>
        <p:nvSpPr>
          <p:cNvPr id="1403" name="Text 4"/>
          <p:cNvSpPr txBox="1"/>
          <p:nvPr/>
        </p:nvSpPr>
        <p:spPr>
          <a:xfrm>
            <a:off x="971550" y="1847850"/>
            <a:ext cx="3578860" cy="223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amounts.par_iter().for_each(|&amp;amount| {</a:t>
            </a:r>
          </a:p>
        </p:txBody>
      </p:sp>
      <p:sp>
        <p:nvSpPr>
          <p:cNvPr id="1404" name="Text 5"/>
          <p:cNvSpPr txBox="1"/>
          <p:nvPr/>
        </p:nvSpPr>
        <p:spPr>
          <a:xfrm>
            <a:off x="971550" y="2045965"/>
            <a:ext cx="2207260" cy="223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if amount % 2 == 0 {</a:t>
            </a:r>
          </a:p>
        </p:txBody>
      </p:sp>
      <p:grpSp>
        <p:nvGrpSpPr>
          <p:cNvPr id="1407" name="Text 6"/>
          <p:cNvGrpSpPr/>
          <p:nvPr/>
        </p:nvGrpSpPr>
        <p:grpSpPr>
          <a:xfrm>
            <a:off x="920750" y="2244080"/>
            <a:ext cx="4610100" cy="198121"/>
            <a:chOff x="0" y="0"/>
            <a:chExt cx="4610100" cy="198120"/>
          </a:xfrm>
        </p:grpSpPr>
        <p:sp>
          <p:nvSpPr>
            <p:cNvPr id="1405" name="矩形"/>
            <p:cNvSpPr/>
            <p:nvPr/>
          </p:nvSpPr>
          <p:spPr>
            <a:xfrm>
              <a:off x="0" y="-1"/>
              <a:ext cx="4610100" cy="198122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406" name="valid_count += 1;"/>
            <p:cNvSpPr txBox="1"/>
            <p:nvPr/>
          </p:nvSpPr>
          <p:spPr>
            <a:xfrm>
              <a:off x="50800" y="-1"/>
              <a:ext cx="2298700" cy="1981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        valid_count += 1;</a:t>
              </a:r>
            </a:p>
          </p:txBody>
        </p:sp>
      </p:grpSp>
      <p:sp>
        <p:nvSpPr>
          <p:cNvPr id="1408" name="Text 7"/>
          <p:cNvSpPr txBox="1"/>
          <p:nvPr/>
        </p:nvSpPr>
        <p:spPr>
          <a:xfrm>
            <a:off x="971550" y="2442219"/>
            <a:ext cx="469900" cy="223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}</a:t>
            </a:r>
          </a:p>
        </p:txBody>
      </p:sp>
      <p:sp>
        <p:nvSpPr>
          <p:cNvPr id="1409" name="Text 8"/>
          <p:cNvSpPr txBox="1"/>
          <p:nvPr/>
        </p:nvSpPr>
        <p:spPr>
          <a:xfrm>
            <a:off x="971550" y="2640334"/>
            <a:ext cx="287020" cy="223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});</a:t>
            </a:r>
          </a:p>
        </p:txBody>
      </p:sp>
      <p:sp>
        <p:nvSpPr>
          <p:cNvPr id="1410" name="Shape 9"/>
          <p:cNvSpPr/>
          <p:nvPr/>
        </p:nvSpPr>
        <p:spPr>
          <a:xfrm>
            <a:off x="5791200" y="1277615"/>
            <a:ext cx="3995950" cy="556896"/>
          </a:xfrm>
          <a:prstGeom prst="roundRect">
            <a:avLst>
              <a:gd name="adj" fmla="val 6842"/>
            </a:avLst>
          </a:prstGeom>
          <a:solidFill>
            <a:srgbClr val="EEF2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11" name="Shape 10"/>
          <p:cNvSpPr/>
          <p:nvPr/>
        </p:nvSpPr>
        <p:spPr>
          <a:xfrm>
            <a:off x="5791200" y="1277615"/>
            <a:ext cx="38100" cy="5568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9671" y="21600"/>
                  <a:pt x="0" y="20938"/>
                  <a:pt x="0" y="20122"/>
                </a:cubicBezTo>
                <a:lnTo>
                  <a:pt x="0" y="1478"/>
                </a:lnTo>
                <a:cubicBezTo>
                  <a:pt x="0" y="662"/>
                  <a:pt x="9671" y="0"/>
                  <a:pt x="21600" y="0"/>
                </a:cubicBezTo>
                <a:cubicBezTo>
                  <a:pt x="17624" y="0"/>
                  <a:pt x="14400" y="662"/>
                  <a:pt x="14400" y="1478"/>
                </a:cubicBezTo>
                <a:lnTo>
                  <a:pt x="14400" y="20122"/>
                </a:lnTo>
                <a:cubicBezTo>
                  <a:pt x="14400" y="20938"/>
                  <a:pt x="17624" y="21600"/>
                  <a:pt x="2160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12" name="Text 11"/>
          <p:cNvSpPr txBox="1"/>
          <p:nvPr/>
        </p:nvSpPr>
        <p:spPr>
          <a:xfrm>
            <a:off x="5943600" y="1344290"/>
            <a:ext cx="101600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from Act I</a:t>
            </a:r>
          </a:p>
        </p:txBody>
      </p:sp>
      <p:sp>
        <p:nvSpPr>
          <p:cNvPr id="1413" name="Text 12"/>
          <p:cNvSpPr txBox="1"/>
          <p:nvPr/>
        </p:nvSpPr>
        <p:spPr>
          <a:xfrm>
            <a:off x="6959600" y="1341115"/>
            <a:ext cx="1224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1414" name="Text 13"/>
          <p:cNvSpPr txBox="1"/>
          <p:nvPr/>
        </p:nvSpPr>
        <p:spPr>
          <a:xfrm>
            <a:off x="7031249" y="1344290"/>
            <a:ext cx="151384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self.value += 1 </a:t>
            </a:r>
          </a:p>
        </p:txBody>
      </p:sp>
      <p:sp>
        <p:nvSpPr>
          <p:cNvPr id="1415" name="Text 14"/>
          <p:cNvSpPr txBox="1"/>
          <p:nvPr/>
        </p:nvSpPr>
        <p:spPr>
          <a:xfrm>
            <a:off x="8494289" y="1341115"/>
            <a:ext cx="53128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across </a:t>
            </a:r>
          </a:p>
        </p:txBody>
      </p:sp>
      <p:sp>
        <p:nvSpPr>
          <p:cNvPr id="1416" name="Text 15"/>
          <p:cNvSpPr txBox="1"/>
          <p:nvPr/>
        </p:nvSpPr>
        <p:spPr>
          <a:xfrm>
            <a:off x="8974772" y="1341115"/>
            <a:ext cx="17822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8 </a:t>
            </a:r>
          </a:p>
        </p:txBody>
      </p:sp>
      <p:sp>
        <p:nvSpPr>
          <p:cNvPr id="1417" name="Text 16"/>
          <p:cNvSpPr txBox="1"/>
          <p:nvPr/>
        </p:nvSpPr>
        <p:spPr>
          <a:xfrm>
            <a:off x="9102196" y="1341115"/>
            <a:ext cx="669545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threads,</a:t>
            </a:r>
          </a:p>
        </p:txBody>
      </p:sp>
      <p:sp>
        <p:nvSpPr>
          <p:cNvPr id="1418" name="Text 17"/>
          <p:cNvSpPr txBox="1"/>
          <p:nvPr/>
        </p:nvSpPr>
        <p:spPr>
          <a:xfrm>
            <a:off x="6959600" y="1557659"/>
            <a:ext cx="32099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GIL </a:t>
            </a:r>
          </a:p>
        </p:txBody>
      </p:sp>
      <p:sp>
        <p:nvSpPr>
          <p:cNvPr id="1419" name="Text 18"/>
          <p:cNvSpPr txBox="1"/>
          <p:nvPr/>
        </p:nvSpPr>
        <p:spPr>
          <a:xfrm>
            <a:off x="7229792" y="1557659"/>
            <a:ext cx="30776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off: </a:t>
            </a:r>
          </a:p>
        </p:txBody>
      </p:sp>
      <p:sp>
        <p:nvSpPr>
          <p:cNvPr id="1420" name="Text 19"/>
          <p:cNvSpPr txBox="1"/>
          <p:nvPr/>
        </p:nvSpPr>
        <p:spPr>
          <a:xfrm>
            <a:off x="7486754" y="1557659"/>
            <a:ext cx="67585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78–83% </a:t>
            </a:r>
          </a:p>
        </p:txBody>
      </p:sp>
      <p:sp>
        <p:nvSpPr>
          <p:cNvPr id="1421" name="Text 20"/>
          <p:cNvSpPr txBox="1"/>
          <p:nvPr/>
        </p:nvSpPr>
        <p:spPr>
          <a:xfrm>
            <a:off x="8111807" y="1557659"/>
            <a:ext cx="21632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of </a:t>
            </a:r>
          </a:p>
        </p:txBody>
      </p:sp>
      <p:sp>
        <p:nvSpPr>
          <p:cNvPr id="1422" name="Text 21"/>
          <p:cNvSpPr txBox="1"/>
          <p:nvPr/>
        </p:nvSpPr>
        <p:spPr>
          <a:xfrm>
            <a:off x="8277329" y="1557659"/>
            <a:ext cx="63510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updates </a:t>
            </a:r>
          </a:p>
        </p:txBody>
      </p:sp>
      <p:sp>
        <p:nvSpPr>
          <p:cNvPr id="1423" name="Text 22"/>
          <p:cNvSpPr txBox="1"/>
          <p:nvPr/>
        </p:nvSpPr>
        <p:spPr>
          <a:xfrm>
            <a:off x="8861636" y="1557659"/>
            <a:ext cx="38011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lost”</a:t>
            </a:r>
          </a:p>
        </p:txBody>
      </p:sp>
      <p:sp>
        <p:nvSpPr>
          <p:cNvPr id="1424" name="Text 23"/>
          <p:cNvSpPr txBox="1"/>
          <p:nvPr/>
        </p:nvSpPr>
        <p:spPr>
          <a:xfrm>
            <a:off x="5791200" y="1936105"/>
            <a:ext cx="54895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Rayon </a:t>
            </a:r>
          </a:p>
        </p:txBody>
      </p:sp>
      <p:sp>
        <p:nvSpPr>
          <p:cNvPr id="1425" name="Text 24"/>
          <p:cNvSpPr txBox="1"/>
          <p:nvPr/>
        </p:nvSpPr>
        <p:spPr>
          <a:xfrm>
            <a:off x="6289357" y="1936105"/>
            <a:ext cx="41836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runs </a:t>
            </a:r>
          </a:p>
        </p:txBody>
      </p:sp>
      <p:sp>
        <p:nvSpPr>
          <p:cNvPr id="1426" name="Text 25"/>
          <p:cNvSpPr txBox="1"/>
          <p:nvPr/>
        </p:nvSpPr>
        <p:spPr>
          <a:xfrm>
            <a:off x="6656916" y="1936105"/>
            <a:ext cx="36322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this </a:t>
            </a:r>
          </a:p>
        </p:txBody>
      </p:sp>
      <p:sp>
        <p:nvSpPr>
          <p:cNvPr id="1427" name="Text 26"/>
          <p:cNvSpPr txBox="1"/>
          <p:nvPr/>
        </p:nvSpPr>
        <p:spPr>
          <a:xfrm>
            <a:off x="6969336" y="1936105"/>
            <a:ext cx="63478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closure </a:t>
            </a:r>
          </a:p>
        </p:txBody>
      </p:sp>
      <p:sp>
        <p:nvSpPr>
          <p:cNvPr id="1428" name="Text 27"/>
          <p:cNvSpPr txBox="1"/>
          <p:nvPr/>
        </p:nvSpPr>
        <p:spPr>
          <a:xfrm>
            <a:off x="7553325" y="1936105"/>
            <a:ext cx="57308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across </a:t>
            </a:r>
          </a:p>
        </p:txBody>
      </p:sp>
      <p:sp>
        <p:nvSpPr>
          <p:cNvPr id="1429" name="Text 28"/>
          <p:cNvSpPr txBox="1"/>
          <p:nvPr/>
        </p:nvSpPr>
        <p:spPr>
          <a:xfrm>
            <a:off x="8075611" y="1936105"/>
            <a:ext cx="70231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multiple </a:t>
            </a:r>
          </a:p>
        </p:txBody>
      </p:sp>
      <p:sp>
        <p:nvSpPr>
          <p:cNvPr id="1430" name="Text 29"/>
          <p:cNvSpPr txBox="1"/>
          <p:nvPr/>
        </p:nvSpPr>
        <p:spPr>
          <a:xfrm>
            <a:off x="8727122" y="1936105"/>
            <a:ext cx="656273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threads </a:t>
            </a:r>
          </a:p>
        </p:txBody>
      </p:sp>
      <p:sp>
        <p:nvSpPr>
          <p:cNvPr id="1431" name="Text 30"/>
          <p:cNvSpPr txBox="1"/>
          <p:nvPr/>
        </p:nvSpPr>
        <p:spPr>
          <a:xfrm>
            <a:off x="9332594" y="1936105"/>
            <a:ext cx="23590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at </a:t>
            </a:r>
          </a:p>
        </p:txBody>
      </p:sp>
      <p:sp>
        <p:nvSpPr>
          <p:cNvPr id="1432" name="Text 31"/>
          <p:cNvSpPr txBox="1"/>
          <p:nvPr/>
        </p:nvSpPr>
        <p:spPr>
          <a:xfrm>
            <a:off x="9517697" y="1936105"/>
            <a:ext cx="49022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once, </a:t>
            </a:r>
          </a:p>
        </p:txBody>
      </p:sp>
      <p:sp>
        <p:nvSpPr>
          <p:cNvPr id="1433" name="Text 32"/>
          <p:cNvSpPr txBox="1"/>
          <p:nvPr/>
        </p:nvSpPr>
        <p:spPr>
          <a:xfrm>
            <a:off x="9957117" y="1936105"/>
            <a:ext cx="26267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so </a:t>
            </a:r>
          </a:p>
        </p:txBody>
      </p:sp>
      <p:sp>
        <p:nvSpPr>
          <p:cNvPr id="1434" name="Text 33"/>
          <p:cNvSpPr txBox="1"/>
          <p:nvPr/>
        </p:nvSpPr>
        <p:spPr>
          <a:xfrm>
            <a:off x="10168996" y="1936105"/>
            <a:ext cx="18901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it </a:t>
            </a:r>
          </a:p>
        </p:txBody>
      </p:sp>
      <p:sp>
        <p:nvSpPr>
          <p:cNvPr id="1435" name="Text 34"/>
          <p:cNvSpPr txBox="1"/>
          <p:nvPr/>
        </p:nvSpPr>
        <p:spPr>
          <a:xfrm>
            <a:off x="10307214" y="1936105"/>
            <a:ext cx="40163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only </a:t>
            </a:r>
          </a:p>
        </p:txBody>
      </p:sp>
      <p:sp>
        <p:nvSpPr>
          <p:cNvPr id="1436" name="Text 35"/>
          <p:cNvSpPr txBox="1"/>
          <p:nvPr/>
        </p:nvSpPr>
        <p:spPr>
          <a:xfrm>
            <a:off x="10658051" y="1936105"/>
            <a:ext cx="61760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allows </a:t>
            </a:r>
          </a:p>
        </p:txBody>
      </p:sp>
      <p:sp>
        <p:nvSpPr>
          <p:cNvPr id="1437" name="Text 36"/>
          <p:cNvSpPr txBox="1"/>
          <p:nvPr/>
        </p:nvSpPr>
        <p:spPr>
          <a:xfrm>
            <a:off x="5791200" y="2167259"/>
            <a:ext cx="59827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shared </a:t>
            </a:r>
          </a:p>
        </p:txBody>
      </p:sp>
      <p:sp>
        <p:nvSpPr>
          <p:cNvPr id="1438" name="Text 37"/>
          <p:cNvSpPr txBox="1"/>
          <p:nvPr/>
        </p:nvSpPr>
        <p:spPr>
          <a:xfrm>
            <a:off x="6338675" y="2167259"/>
            <a:ext cx="69701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borrows </a:t>
            </a:r>
          </a:p>
        </p:txBody>
      </p:sp>
      <p:sp>
        <p:nvSpPr>
          <p:cNvPr id="1439" name="Text 38"/>
          <p:cNvSpPr txBox="1"/>
          <p:nvPr/>
        </p:nvSpPr>
        <p:spPr>
          <a:xfrm>
            <a:off x="6984895" y="2167259"/>
            <a:ext cx="10615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(</a:t>
            </a:r>
          </a:p>
        </p:txBody>
      </p:sp>
      <p:sp>
        <p:nvSpPr>
          <p:cNvPr id="1440" name="Text 39"/>
          <p:cNvSpPr txBox="1"/>
          <p:nvPr/>
        </p:nvSpPr>
        <p:spPr>
          <a:xfrm>
            <a:off x="7040244" y="2167259"/>
            <a:ext cx="1498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&amp;</a:t>
            </a:r>
          </a:p>
        </p:txBody>
      </p:sp>
      <p:sp>
        <p:nvSpPr>
          <p:cNvPr id="1441" name="Text 40"/>
          <p:cNvSpPr txBox="1"/>
          <p:nvPr/>
        </p:nvSpPr>
        <p:spPr>
          <a:xfrm>
            <a:off x="7139305" y="2167259"/>
            <a:ext cx="18997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). </a:t>
            </a:r>
          </a:p>
        </p:txBody>
      </p:sp>
      <p:sp>
        <p:nvSpPr>
          <p:cNvPr id="1442" name="Text 41"/>
          <p:cNvSpPr txBox="1"/>
          <p:nvPr/>
        </p:nvSpPr>
        <p:spPr>
          <a:xfrm>
            <a:off x="7278475" y="2167259"/>
            <a:ext cx="34935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But </a:t>
            </a:r>
          </a:p>
        </p:txBody>
      </p:sp>
      <p:sp>
        <p:nvSpPr>
          <p:cNvPr id="1443" name="Text 42"/>
          <p:cNvSpPr txBox="1"/>
          <p:nvPr/>
        </p:nvSpPr>
        <p:spPr>
          <a:xfrm>
            <a:off x="7577032" y="2167259"/>
            <a:ext cx="28786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+= </a:t>
            </a:r>
          </a:p>
        </p:txBody>
      </p:sp>
      <p:sp>
        <p:nvSpPr>
          <p:cNvPr id="1444" name="Text 43"/>
          <p:cNvSpPr txBox="1"/>
          <p:nvPr/>
        </p:nvSpPr>
        <p:spPr>
          <a:xfrm>
            <a:off x="7814098" y="2167259"/>
            <a:ext cx="7017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requires </a:t>
            </a:r>
          </a:p>
        </p:txBody>
      </p:sp>
      <p:sp>
        <p:nvSpPr>
          <p:cNvPr id="1445" name="Text 44"/>
          <p:cNvSpPr txBox="1"/>
          <p:nvPr/>
        </p:nvSpPr>
        <p:spPr>
          <a:xfrm>
            <a:off x="8465078" y="2167259"/>
            <a:ext cx="27167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an </a:t>
            </a:r>
          </a:p>
        </p:txBody>
      </p:sp>
      <p:sp>
        <p:nvSpPr>
          <p:cNvPr id="1446" name="Text 45"/>
          <p:cNvSpPr txBox="1"/>
          <p:nvPr/>
        </p:nvSpPr>
        <p:spPr>
          <a:xfrm>
            <a:off x="8685954" y="2167259"/>
            <a:ext cx="77406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exclusive </a:t>
            </a:r>
          </a:p>
        </p:txBody>
      </p:sp>
      <p:sp>
        <p:nvSpPr>
          <p:cNvPr id="1447" name="Text 46"/>
          <p:cNvSpPr txBox="1"/>
          <p:nvPr/>
        </p:nvSpPr>
        <p:spPr>
          <a:xfrm>
            <a:off x="9409217" y="2167259"/>
            <a:ext cx="61690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borrow </a:t>
            </a:r>
          </a:p>
        </p:txBody>
      </p:sp>
      <p:sp>
        <p:nvSpPr>
          <p:cNvPr id="1448" name="Text 47"/>
          <p:cNvSpPr txBox="1"/>
          <p:nvPr/>
        </p:nvSpPr>
        <p:spPr>
          <a:xfrm>
            <a:off x="9975321" y="2167259"/>
            <a:ext cx="10615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(</a:t>
            </a:r>
          </a:p>
        </p:txBody>
      </p:sp>
      <p:sp>
        <p:nvSpPr>
          <p:cNvPr id="1449" name="Text 48"/>
          <p:cNvSpPr txBox="1"/>
          <p:nvPr/>
        </p:nvSpPr>
        <p:spPr>
          <a:xfrm>
            <a:off x="10030670" y="2167259"/>
            <a:ext cx="4470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&amp;mut</a:t>
            </a:r>
          </a:p>
        </p:txBody>
      </p:sp>
      <p:sp>
        <p:nvSpPr>
          <p:cNvPr id="1450" name="Text 49"/>
          <p:cNvSpPr txBox="1"/>
          <p:nvPr/>
        </p:nvSpPr>
        <p:spPr>
          <a:xfrm>
            <a:off x="10426911" y="2167259"/>
            <a:ext cx="1510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).</a:t>
            </a:r>
          </a:p>
        </p:txBody>
      </p:sp>
      <p:sp>
        <p:nvSpPr>
          <p:cNvPr id="1451" name="Text 50"/>
          <p:cNvSpPr txBox="1"/>
          <p:nvPr/>
        </p:nvSpPr>
        <p:spPr>
          <a:xfrm>
            <a:off x="5791200" y="2499990"/>
            <a:ext cx="57556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Aliasing XOR Mutability, caught at compile time.</a:t>
            </a:r>
          </a:p>
        </p:txBody>
      </p:sp>
      <p:sp>
        <p:nvSpPr>
          <p:cNvPr id="1452" name="Shape 51"/>
          <p:cNvSpPr/>
          <p:nvPr/>
        </p:nvSpPr>
        <p:spPr>
          <a:xfrm>
            <a:off x="815975" y="3025775"/>
            <a:ext cx="10560050" cy="2353311"/>
          </a:xfrm>
          <a:prstGeom prst="roundRect">
            <a:avLst>
              <a:gd name="adj" fmla="val 3103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455" name="Text 52"/>
          <p:cNvGrpSpPr/>
          <p:nvPr/>
        </p:nvGrpSpPr>
        <p:grpSpPr>
          <a:xfrm>
            <a:off x="819150" y="3028950"/>
            <a:ext cx="10553700" cy="289560"/>
            <a:chOff x="0" y="0"/>
            <a:chExt cx="10553700" cy="289559"/>
          </a:xfrm>
        </p:grpSpPr>
        <p:sp>
          <p:nvSpPr>
            <p:cNvPr id="1453" name="形狀"/>
            <p:cNvSpPr/>
            <p:nvPr/>
          </p:nvSpPr>
          <p:spPr>
            <a:xfrm>
              <a:off x="0" y="0"/>
              <a:ext cx="10553700" cy="2895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11"/>
                  </a:moveTo>
                  <a:cubicBezTo>
                    <a:pt x="0" y="2333"/>
                    <a:pt x="64" y="0"/>
                    <a:pt x="143" y="0"/>
                  </a:cubicBezTo>
                  <a:lnTo>
                    <a:pt x="21457" y="0"/>
                  </a:lnTo>
                  <a:cubicBezTo>
                    <a:pt x="21536" y="0"/>
                    <a:pt x="21600" y="2333"/>
                    <a:pt x="21600" y="5211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600"/>
                </a:lnSpc>
                <a:defRPr sz="1200"/>
              </a:pPr>
            </a:p>
          </p:txBody>
        </p:sp>
        <p:sp>
          <p:nvSpPr>
            <p:cNvPr id="1454" name="Rust · cargo check"/>
            <p:cNvSpPr txBox="1"/>
            <p:nvPr/>
          </p:nvSpPr>
          <p:spPr>
            <a:xfrm>
              <a:off x="139700" y="25400"/>
              <a:ext cx="10274300" cy="2641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2700" tIns="12700" rIns="12700" bIns="12700" numCol="1" anchor="t">
              <a:normAutofit fontScale="100000" lnSpcReduction="0"/>
            </a:bodyPr>
            <a:lstStyle>
              <a:lvl1pPr>
                <a:lnSpc>
                  <a:spcPts val="1600"/>
                </a:lnSpc>
                <a:defRPr sz="1200">
                  <a:solidFill>
                    <a:srgbClr val="FBF4EE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Rust · cargo check</a:t>
              </a:r>
            </a:p>
          </p:txBody>
        </p:sp>
      </p:grpSp>
      <p:sp>
        <p:nvSpPr>
          <p:cNvPr id="1456" name="Text 53"/>
          <p:cNvSpPr txBox="1"/>
          <p:nvPr/>
        </p:nvSpPr>
        <p:spPr>
          <a:xfrm>
            <a:off x="971549" y="3394719"/>
            <a:ext cx="84251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error[E0594]: cannot assign to `valid_count`, as it is a captured variable in a `Fn` closure</a:t>
            </a:r>
          </a:p>
        </p:txBody>
      </p:sp>
      <p:sp>
        <p:nvSpPr>
          <p:cNvPr id="1457" name="Text 54"/>
          <p:cNvSpPr txBox="1"/>
          <p:nvPr/>
        </p:nvSpPr>
        <p:spPr>
          <a:xfrm>
            <a:off x="971549" y="3585219"/>
            <a:ext cx="21158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--&gt; src/main.rs:10:13</a:t>
            </a:r>
          </a:p>
        </p:txBody>
      </p:sp>
      <p:sp>
        <p:nvSpPr>
          <p:cNvPr id="1458" name="Text 55"/>
          <p:cNvSpPr txBox="1"/>
          <p:nvPr/>
        </p:nvSpPr>
        <p:spPr>
          <a:xfrm>
            <a:off x="971549" y="3775719"/>
            <a:ext cx="3784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|</a:t>
            </a:r>
          </a:p>
        </p:txBody>
      </p:sp>
      <p:sp>
        <p:nvSpPr>
          <p:cNvPr id="1459" name="Text 56"/>
          <p:cNvSpPr txBox="1"/>
          <p:nvPr/>
        </p:nvSpPr>
        <p:spPr>
          <a:xfrm>
            <a:off x="971549" y="3966219"/>
            <a:ext cx="34874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7 |     let mut valid_count: u64 = 0;</a:t>
            </a:r>
          </a:p>
        </p:txBody>
      </p:sp>
      <p:sp>
        <p:nvSpPr>
          <p:cNvPr id="1460" name="Text 57"/>
          <p:cNvSpPr txBox="1"/>
          <p:nvPr/>
        </p:nvSpPr>
        <p:spPr>
          <a:xfrm>
            <a:off x="971549" y="4156719"/>
            <a:ext cx="70535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|         --------------- `valid_count` declared here, outside the closure</a:t>
            </a:r>
          </a:p>
        </p:txBody>
      </p:sp>
      <p:sp>
        <p:nvSpPr>
          <p:cNvPr id="1461" name="Text 58"/>
          <p:cNvSpPr txBox="1"/>
          <p:nvPr/>
        </p:nvSpPr>
        <p:spPr>
          <a:xfrm>
            <a:off x="971549" y="4347219"/>
            <a:ext cx="44018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8 |     amounts.par_iter().for_each(|&amp;amount| {</a:t>
            </a:r>
          </a:p>
        </p:txBody>
      </p:sp>
      <p:sp>
        <p:nvSpPr>
          <p:cNvPr id="1462" name="Text 59"/>
          <p:cNvSpPr txBox="1"/>
          <p:nvPr/>
        </p:nvSpPr>
        <p:spPr>
          <a:xfrm>
            <a:off x="971549" y="4537719"/>
            <a:ext cx="56819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|                                 --------- in this closure</a:t>
            </a:r>
          </a:p>
        </p:txBody>
      </p:sp>
      <p:sp>
        <p:nvSpPr>
          <p:cNvPr id="1463" name="Text 60"/>
          <p:cNvSpPr txBox="1"/>
          <p:nvPr/>
        </p:nvSpPr>
        <p:spPr>
          <a:xfrm>
            <a:off x="971549" y="4728219"/>
            <a:ext cx="30302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9 |         if amount % 2 == 0 {</a:t>
            </a:r>
          </a:p>
        </p:txBody>
      </p:sp>
      <p:sp>
        <p:nvSpPr>
          <p:cNvPr id="1464" name="Text 61"/>
          <p:cNvSpPr txBox="1"/>
          <p:nvPr/>
        </p:nvSpPr>
        <p:spPr>
          <a:xfrm>
            <a:off x="971549" y="4918719"/>
            <a:ext cx="31216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10 |             valid_count += 1;</a:t>
            </a:r>
          </a:p>
        </p:txBody>
      </p:sp>
      <p:sp>
        <p:nvSpPr>
          <p:cNvPr id="1465" name="Text 62"/>
          <p:cNvSpPr txBox="1"/>
          <p:nvPr/>
        </p:nvSpPr>
        <p:spPr>
          <a:xfrm>
            <a:off x="971549" y="5109219"/>
            <a:ext cx="43103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chemeClr val="accent2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|             ^^^^^^^^^^^^^^^^ cannot assign</a:t>
            </a:r>
          </a:p>
        </p:txBody>
      </p:sp>
      <p:sp>
        <p:nvSpPr>
          <p:cNvPr id="1466" name="Shape 63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7" name="Text 64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The compiler rejected the exact counter that Python ran silently. Memory layer, guarded by rustc.</a:t>
            </a:r>
          </a:p>
        </p:txBody>
      </p:sp>
      <p:sp>
        <p:nvSpPr>
          <p:cNvPr id="1468" name="Text 65"/>
          <p:cNvSpPr txBox="1"/>
          <p:nvPr/>
        </p:nvSpPr>
        <p:spPr>
          <a:xfrm>
            <a:off x="812799" y="6238230"/>
            <a:ext cx="1088339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Source: experiments/compile_fail/src/main.rs · results/compile_fail_E0594.txt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Side 1: fixing the counter in Rust</a:t>
            </a:r>
          </a:p>
        </p:txBody>
      </p:sp>
      <p:sp>
        <p:nvSpPr>
          <p:cNvPr id="1471" name="Shape 1"/>
          <p:cNvSpPr/>
          <p:nvPr/>
        </p:nvSpPr>
        <p:spPr>
          <a:xfrm>
            <a:off x="815975" y="1280790"/>
            <a:ext cx="6724650" cy="4141893"/>
          </a:xfrm>
          <a:prstGeom prst="roundRect">
            <a:avLst>
              <a:gd name="adj" fmla="val 1763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474" name="Text 2"/>
          <p:cNvGrpSpPr/>
          <p:nvPr/>
        </p:nvGrpSpPr>
        <p:grpSpPr>
          <a:xfrm>
            <a:off x="819150" y="1283965"/>
            <a:ext cx="6718300" cy="289561"/>
            <a:chOff x="0" y="0"/>
            <a:chExt cx="6718300" cy="289559"/>
          </a:xfrm>
        </p:grpSpPr>
        <p:sp>
          <p:nvSpPr>
            <p:cNvPr id="1472" name="形狀"/>
            <p:cNvSpPr/>
            <p:nvPr/>
          </p:nvSpPr>
          <p:spPr>
            <a:xfrm>
              <a:off x="0" y="0"/>
              <a:ext cx="6718300" cy="2895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11"/>
                  </a:moveTo>
                  <a:cubicBezTo>
                    <a:pt x="0" y="2333"/>
                    <a:pt x="101" y="0"/>
                    <a:pt x="225" y="0"/>
                  </a:cubicBezTo>
                  <a:lnTo>
                    <a:pt x="21375" y="0"/>
                  </a:lnTo>
                  <a:cubicBezTo>
                    <a:pt x="21499" y="0"/>
                    <a:pt x="21600" y="2333"/>
                    <a:pt x="21600" y="5211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600"/>
                </a:lnSpc>
                <a:defRPr sz="1200"/>
              </a:pPr>
            </a:p>
          </p:txBody>
        </p:sp>
        <p:sp>
          <p:nvSpPr>
            <p:cNvPr id="1473" name="Rust"/>
            <p:cNvSpPr txBox="1"/>
            <p:nvPr/>
          </p:nvSpPr>
          <p:spPr>
            <a:xfrm>
              <a:off x="139700" y="25400"/>
              <a:ext cx="6438900" cy="2641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2700" tIns="12700" rIns="12700" bIns="12700" numCol="1" anchor="t">
              <a:normAutofit fontScale="100000" lnSpcReduction="0"/>
            </a:bodyPr>
            <a:lstStyle>
              <a:lvl1pPr>
                <a:lnSpc>
                  <a:spcPts val="1600"/>
                </a:lnSpc>
                <a:defRPr sz="1200">
                  <a:solidFill>
                    <a:srgbClr val="FBF4EE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Rust</a:t>
              </a:r>
            </a:p>
          </p:txBody>
        </p:sp>
      </p:grpSp>
      <p:sp>
        <p:nvSpPr>
          <p:cNvPr id="1475" name="Text 3"/>
          <p:cNvSpPr txBox="1"/>
          <p:nvPr/>
        </p:nvSpPr>
        <p:spPr>
          <a:xfrm>
            <a:off x="946149" y="1637034"/>
            <a:ext cx="4310381" cy="21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// 1. Don't share: count per worker, then merge</a:t>
            </a:r>
          </a:p>
        </p:txBody>
      </p:sp>
      <p:sp>
        <p:nvSpPr>
          <p:cNvPr id="1476" name="Text 4"/>
          <p:cNvSpPr txBox="1"/>
          <p:nvPr/>
        </p:nvSpPr>
        <p:spPr>
          <a:xfrm>
            <a:off x="946149" y="1822971"/>
            <a:ext cx="3304541" cy="21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let valid_count = amounts.par_iter()</a:t>
            </a:r>
          </a:p>
        </p:txBody>
      </p:sp>
      <p:sp>
        <p:nvSpPr>
          <p:cNvPr id="1477" name="Text 5"/>
          <p:cNvSpPr txBox="1"/>
          <p:nvPr/>
        </p:nvSpPr>
        <p:spPr>
          <a:xfrm>
            <a:off x="946149" y="2008932"/>
            <a:ext cx="3578861" cy="21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.filter(|&amp;&amp;amount| amount % 2 == 0)</a:t>
            </a:r>
          </a:p>
        </p:txBody>
      </p:sp>
      <p:sp>
        <p:nvSpPr>
          <p:cNvPr id="1478" name="Text 6"/>
          <p:cNvSpPr txBox="1"/>
          <p:nvPr/>
        </p:nvSpPr>
        <p:spPr>
          <a:xfrm>
            <a:off x="946149" y="2194867"/>
            <a:ext cx="1841501" cy="21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.count() as u64;</a:t>
            </a:r>
          </a:p>
        </p:txBody>
      </p:sp>
      <p:sp>
        <p:nvSpPr>
          <p:cNvPr id="1479" name="Text 7"/>
          <p:cNvSpPr txBox="1"/>
          <p:nvPr/>
        </p:nvSpPr>
        <p:spPr>
          <a:xfrm>
            <a:off x="946149" y="2566764"/>
            <a:ext cx="2755901" cy="21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// 2. Lock: wrap it in a Mutex</a:t>
            </a:r>
          </a:p>
        </p:txBody>
      </p:sp>
      <p:sp>
        <p:nvSpPr>
          <p:cNvPr id="1480" name="Text 8"/>
          <p:cNvSpPr txBox="1"/>
          <p:nvPr/>
        </p:nvSpPr>
        <p:spPr>
          <a:xfrm>
            <a:off x="946149" y="2752725"/>
            <a:ext cx="3213101" cy="211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let valid_count = Mutex::new(0u64);</a:t>
            </a:r>
          </a:p>
        </p:txBody>
      </p:sp>
      <p:sp>
        <p:nvSpPr>
          <p:cNvPr id="1481" name="Text 9"/>
          <p:cNvSpPr txBox="1"/>
          <p:nvPr/>
        </p:nvSpPr>
        <p:spPr>
          <a:xfrm>
            <a:off x="946149" y="2938685"/>
            <a:ext cx="3578861" cy="21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amounts.par_iter().for_each(|&amp;amount| {</a:t>
            </a:r>
          </a:p>
        </p:txBody>
      </p:sp>
      <p:sp>
        <p:nvSpPr>
          <p:cNvPr id="1482" name="Text 10"/>
          <p:cNvSpPr txBox="1"/>
          <p:nvPr/>
        </p:nvSpPr>
        <p:spPr>
          <a:xfrm>
            <a:off x="946149" y="3124622"/>
            <a:ext cx="2207261" cy="21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if amount % 2 == 0 {</a:t>
            </a:r>
          </a:p>
        </p:txBody>
      </p:sp>
      <p:sp>
        <p:nvSpPr>
          <p:cNvPr id="1483" name="Text 11"/>
          <p:cNvSpPr txBox="1"/>
          <p:nvPr/>
        </p:nvSpPr>
        <p:spPr>
          <a:xfrm>
            <a:off x="946149" y="3310582"/>
            <a:ext cx="3853181" cy="21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    *valid_count.lock().unwrap() += 1;</a:t>
            </a:r>
          </a:p>
        </p:txBody>
      </p:sp>
      <p:sp>
        <p:nvSpPr>
          <p:cNvPr id="1484" name="Text 12"/>
          <p:cNvSpPr txBox="1"/>
          <p:nvPr/>
        </p:nvSpPr>
        <p:spPr>
          <a:xfrm>
            <a:off x="946149" y="3496517"/>
            <a:ext cx="469901" cy="21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}</a:t>
            </a:r>
          </a:p>
        </p:txBody>
      </p:sp>
      <p:sp>
        <p:nvSpPr>
          <p:cNvPr id="1485" name="Text 13"/>
          <p:cNvSpPr txBox="1"/>
          <p:nvPr/>
        </p:nvSpPr>
        <p:spPr>
          <a:xfrm>
            <a:off x="946149" y="3682479"/>
            <a:ext cx="287021" cy="21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});</a:t>
            </a:r>
          </a:p>
        </p:txBody>
      </p:sp>
      <p:sp>
        <p:nvSpPr>
          <p:cNvPr id="1486" name="Text 14"/>
          <p:cNvSpPr txBox="1"/>
          <p:nvPr/>
        </p:nvSpPr>
        <p:spPr>
          <a:xfrm>
            <a:off x="946149" y="4054376"/>
            <a:ext cx="4310381" cy="21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// 3. Atomic: a synchronized container, no lock</a:t>
            </a:r>
          </a:p>
        </p:txBody>
      </p:sp>
      <p:sp>
        <p:nvSpPr>
          <p:cNvPr id="1487" name="Text 15"/>
          <p:cNvSpPr txBox="1"/>
          <p:nvPr/>
        </p:nvSpPr>
        <p:spPr>
          <a:xfrm>
            <a:off x="946149" y="4240312"/>
            <a:ext cx="3304541" cy="21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let valid_count = AtomicU64::new(0);</a:t>
            </a:r>
          </a:p>
        </p:txBody>
      </p:sp>
      <p:sp>
        <p:nvSpPr>
          <p:cNvPr id="1488" name="Text 16"/>
          <p:cNvSpPr txBox="1"/>
          <p:nvPr/>
        </p:nvSpPr>
        <p:spPr>
          <a:xfrm>
            <a:off x="946149" y="4426272"/>
            <a:ext cx="3578861" cy="21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amounts.par_iter().for_each(|&amp;amount| {</a:t>
            </a:r>
          </a:p>
        </p:txBody>
      </p:sp>
      <p:sp>
        <p:nvSpPr>
          <p:cNvPr id="1489" name="Text 17"/>
          <p:cNvSpPr txBox="1"/>
          <p:nvPr/>
        </p:nvSpPr>
        <p:spPr>
          <a:xfrm>
            <a:off x="946149" y="4612208"/>
            <a:ext cx="2207261" cy="21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if amount % 2 == 0 {</a:t>
            </a:r>
          </a:p>
        </p:txBody>
      </p:sp>
      <p:sp>
        <p:nvSpPr>
          <p:cNvPr id="1490" name="Text 18"/>
          <p:cNvSpPr txBox="1"/>
          <p:nvPr/>
        </p:nvSpPr>
        <p:spPr>
          <a:xfrm>
            <a:off x="946149" y="4798169"/>
            <a:ext cx="6322061" cy="21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/>
          <a:p>
            <a:pPr>
              <a:lnSpc>
                <a:spcPts val="14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        valid_count.fetch_add(1, Ordering::Relaxed);   </a:t>
            </a:r>
            <a:r>
              <a:rPr>
                <a:solidFill>
                  <a:srgbClr val="5C6370"/>
                </a:solidFill>
              </a:rPr>
              <a:t>// takes &amp;self</a:t>
            </a:r>
          </a:p>
        </p:txBody>
      </p:sp>
      <p:sp>
        <p:nvSpPr>
          <p:cNvPr id="1491" name="Text 19"/>
          <p:cNvSpPr txBox="1"/>
          <p:nvPr/>
        </p:nvSpPr>
        <p:spPr>
          <a:xfrm>
            <a:off x="946149" y="4984105"/>
            <a:ext cx="469901" cy="21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    }</a:t>
            </a:r>
          </a:p>
        </p:txBody>
      </p:sp>
      <p:sp>
        <p:nvSpPr>
          <p:cNvPr id="1492" name="Text 20"/>
          <p:cNvSpPr txBox="1"/>
          <p:nvPr/>
        </p:nvSpPr>
        <p:spPr>
          <a:xfrm>
            <a:off x="946149" y="5170065"/>
            <a:ext cx="287021" cy="21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normAutofit fontScale="100000" lnSpcReduction="0"/>
          </a:bodyPr>
          <a:lstStyle>
            <a:lvl1pPr>
              <a:lnSpc>
                <a:spcPts val="14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});</a:t>
            </a:r>
          </a:p>
        </p:txBody>
      </p:sp>
      <p:sp>
        <p:nvSpPr>
          <p:cNvPr id="1493" name="Shape 21"/>
          <p:cNvSpPr/>
          <p:nvPr/>
        </p:nvSpPr>
        <p:spPr>
          <a:xfrm>
            <a:off x="7696200" y="1277615"/>
            <a:ext cx="3277235" cy="343536"/>
          </a:xfrm>
          <a:prstGeom prst="roundRect">
            <a:avLst>
              <a:gd name="adj" fmla="val 11091"/>
            </a:avLst>
          </a:prstGeom>
          <a:solidFill>
            <a:srgbClr val="FBEDE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4" name="Shape 22"/>
          <p:cNvSpPr/>
          <p:nvPr/>
        </p:nvSpPr>
        <p:spPr>
          <a:xfrm>
            <a:off x="7696200" y="1277615"/>
            <a:ext cx="38100" cy="3435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9671" y="21600"/>
                  <a:pt x="0" y="20527"/>
                  <a:pt x="0" y="19204"/>
                </a:cubicBezTo>
                <a:lnTo>
                  <a:pt x="0" y="2396"/>
                </a:lnTo>
                <a:cubicBezTo>
                  <a:pt x="0" y="1073"/>
                  <a:pt x="9671" y="0"/>
                  <a:pt x="21600" y="0"/>
                </a:cubicBezTo>
                <a:cubicBezTo>
                  <a:pt x="17624" y="0"/>
                  <a:pt x="14400" y="1073"/>
                  <a:pt x="14400" y="2396"/>
                </a:cubicBezTo>
                <a:lnTo>
                  <a:pt x="14400" y="19204"/>
                </a:lnTo>
                <a:cubicBezTo>
                  <a:pt x="14400" y="20527"/>
                  <a:pt x="17624" y="21600"/>
                  <a:pt x="216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5" name="Text 23"/>
          <p:cNvSpPr txBox="1"/>
          <p:nvPr/>
        </p:nvSpPr>
        <p:spPr>
          <a:xfrm>
            <a:off x="7848600" y="1344290"/>
            <a:ext cx="110744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from Act II</a:t>
            </a:r>
          </a:p>
        </p:txBody>
      </p:sp>
      <p:sp>
        <p:nvSpPr>
          <p:cNvPr id="1496" name="Text 24"/>
          <p:cNvSpPr txBox="1"/>
          <p:nvPr/>
        </p:nvSpPr>
        <p:spPr>
          <a:xfrm>
            <a:off x="8956040" y="1341115"/>
            <a:ext cx="2017396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“Don't share · Freeze · Lock”</a:t>
            </a:r>
          </a:p>
        </p:txBody>
      </p:sp>
      <p:sp>
        <p:nvSpPr>
          <p:cNvPr id="1497" name="Shape 25"/>
          <p:cNvSpPr/>
          <p:nvPr/>
        </p:nvSpPr>
        <p:spPr>
          <a:xfrm>
            <a:off x="7699375" y="1738634"/>
            <a:ext cx="3676650" cy="830581"/>
          </a:xfrm>
          <a:prstGeom prst="roundRect">
            <a:avLst>
              <a:gd name="adj" fmla="val 7263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98" name="Text 26"/>
          <p:cNvSpPr txBox="1"/>
          <p:nvPr/>
        </p:nvSpPr>
        <p:spPr>
          <a:xfrm>
            <a:off x="7816850" y="1830709"/>
            <a:ext cx="63510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600"/>
              </a:lnSpc>
              <a:defRPr sz="1200">
                <a:solidFill>
                  <a:schemeClr val="accent1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Python:</a:t>
            </a:r>
            <a:r>
              <a:rPr>
                <a:solidFill>
                  <a:srgbClr val="1B1F27"/>
                </a:solidFill>
                <a:latin typeface="+mj-lt"/>
                <a:ea typeface="+mj-ea"/>
                <a:cs typeface="+mj-cs"/>
                <a:sym typeface="IBM Plex Sans Regular"/>
              </a:rPr>
              <a:t> </a:t>
            </a:r>
          </a:p>
        </p:txBody>
      </p:sp>
      <p:sp>
        <p:nvSpPr>
          <p:cNvPr id="1499" name="Text 27"/>
          <p:cNvSpPr txBox="1"/>
          <p:nvPr/>
        </p:nvSpPr>
        <p:spPr>
          <a:xfrm>
            <a:off x="8401154" y="1830709"/>
            <a:ext cx="310516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the </a:t>
            </a:r>
          </a:p>
        </p:txBody>
      </p:sp>
      <p:sp>
        <p:nvSpPr>
          <p:cNvPr id="1500" name="Text 28"/>
          <p:cNvSpPr txBox="1"/>
          <p:nvPr/>
        </p:nvSpPr>
        <p:spPr>
          <a:xfrm>
            <a:off x="8660871" y="1830709"/>
            <a:ext cx="694479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standard </a:t>
            </a:r>
          </a:p>
        </p:txBody>
      </p:sp>
      <p:sp>
        <p:nvSpPr>
          <p:cNvPr id="1501" name="Text 29"/>
          <p:cNvSpPr txBox="1"/>
          <p:nvPr/>
        </p:nvSpPr>
        <p:spPr>
          <a:xfrm>
            <a:off x="9304549" y="1830709"/>
            <a:ext cx="52504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library </a:t>
            </a:r>
          </a:p>
        </p:txBody>
      </p:sp>
      <p:sp>
        <p:nvSpPr>
          <p:cNvPr id="1502" name="Text 30"/>
          <p:cNvSpPr txBox="1"/>
          <p:nvPr/>
        </p:nvSpPr>
        <p:spPr>
          <a:xfrm>
            <a:off x="9778788" y="1830709"/>
            <a:ext cx="32893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has </a:t>
            </a:r>
          </a:p>
        </p:txBody>
      </p:sp>
      <p:sp>
        <p:nvSpPr>
          <p:cNvPr id="1503" name="Text 31"/>
          <p:cNvSpPr txBox="1"/>
          <p:nvPr/>
        </p:nvSpPr>
        <p:spPr>
          <a:xfrm>
            <a:off x="10056917" y="1830709"/>
            <a:ext cx="25865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no </a:t>
            </a:r>
          </a:p>
        </p:txBody>
      </p:sp>
      <p:sp>
        <p:nvSpPr>
          <p:cNvPr id="1504" name="Text 32"/>
          <p:cNvSpPr txBox="1"/>
          <p:nvPr/>
        </p:nvSpPr>
        <p:spPr>
          <a:xfrm>
            <a:off x="10264775" y="1833884"/>
            <a:ext cx="109728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AtomicInt </a:t>
            </a:r>
          </a:p>
        </p:txBody>
      </p:sp>
      <p:sp>
        <p:nvSpPr>
          <p:cNvPr id="1505" name="Text 33"/>
          <p:cNvSpPr txBox="1"/>
          <p:nvPr/>
        </p:nvSpPr>
        <p:spPr>
          <a:xfrm>
            <a:off x="7816850" y="2047230"/>
            <a:ext cx="38195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with </a:t>
            </a:r>
          </a:p>
        </p:txBody>
      </p:sp>
      <p:sp>
        <p:nvSpPr>
          <p:cNvPr id="1506" name="Text 34"/>
          <p:cNvSpPr txBox="1"/>
          <p:nvPr/>
        </p:nvSpPr>
        <p:spPr>
          <a:xfrm>
            <a:off x="8148002" y="2050405"/>
            <a:ext cx="87376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fetch_add</a:t>
            </a:r>
          </a:p>
        </p:txBody>
      </p:sp>
      <p:sp>
        <p:nvSpPr>
          <p:cNvPr id="1507" name="Text 35"/>
          <p:cNvSpPr txBox="1"/>
          <p:nvPr/>
        </p:nvSpPr>
        <p:spPr>
          <a:xfrm>
            <a:off x="8970963" y="2047230"/>
            <a:ext cx="12827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, </a:t>
            </a:r>
          </a:p>
        </p:txBody>
      </p:sp>
      <p:sp>
        <p:nvSpPr>
          <p:cNvPr id="1508" name="Text 36"/>
          <p:cNvSpPr txBox="1"/>
          <p:nvPr/>
        </p:nvSpPr>
        <p:spPr>
          <a:xfrm>
            <a:off x="9048432" y="2047230"/>
            <a:ext cx="572136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leaving </a:t>
            </a:r>
          </a:p>
        </p:txBody>
      </p:sp>
      <p:sp>
        <p:nvSpPr>
          <p:cNvPr id="1509" name="Text 37"/>
          <p:cNvSpPr txBox="1"/>
          <p:nvPr/>
        </p:nvSpPr>
        <p:spPr>
          <a:xfrm>
            <a:off x="9569767" y="2047230"/>
            <a:ext cx="333905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you </a:t>
            </a:r>
          </a:p>
        </p:txBody>
      </p:sp>
      <p:sp>
        <p:nvSpPr>
          <p:cNvPr id="1510" name="Text 38"/>
          <p:cNvSpPr txBox="1"/>
          <p:nvPr/>
        </p:nvSpPr>
        <p:spPr>
          <a:xfrm>
            <a:off x="9852870" y="2047230"/>
            <a:ext cx="34184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two </a:t>
            </a:r>
          </a:p>
        </p:txBody>
      </p:sp>
      <p:sp>
        <p:nvSpPr>
          <p:cNvPr id="1511" name="Text 39"/>
          <p:cNvSpPr txBox="1"/>
          <p:nvPr/>
        </p:nvSpPr>
        <p:spPr>
          <a:xfrm>
            <a:off x="10143913" y="2047230"/>
            <a:ext cx="557785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roads: </a:t>
            </a:r>
          </a:p>
        </p:txBody>
      </p:sp>
      <p:sp>
        <p:nvSpPr>
          <p:cNvPr id="1512" name="Text 40"/>
          <p:cNvSpPr txBox="1"/>
          <p:nvPr/>
        </p:nvSpPr>
        <p:spPr>
          <a:xfrm>
            <a:off x="7816850" y="2263775"/>
            <a:ext cx="886249" cy="238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accumulate </a:t>
            </a:r>
          </a:p>
        </p:txBody>
      </p:sp>
      <p:sp>
        <p:nvSpPr>
          <p:cNvPr id="1513" name="Text 41"/>
          <p:cNvSpPr txBox="1"/>
          <p:nvPr/>
        </p:nvSpPr>
        <p:spPr>
          <a:xfrm>
            <a:off x="8652298" y="2263775"/>
            <a:ext cx="314749" cy="238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per </a:t>
            </a:r>
          </a:p>
        </p:txBody>
      </p:sp>
      <p:sp>
        <p:nvSpPr>
          <p:cNvPr id="1514" name="Text 42"/>
          <p:cNvSpPr txBox="1"/>
          <p:nvPr/>
        </p:nvSpPr>
        <p:spPr>
          <a:xfrm>
            <a:off x="8916245" y="2263775"/>
            <a:ext cx="417619" cy="238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task, </a:t>
            </a:r>
          </a:p>
        </p:txBody>
      </p:sp>
      <p:sp>
        <p:nvSpPr>
          <p:cNvPr id="1515" name="Text 43"/>
          <p:cNvSpPr txBox="1"/>
          <p:nvPr/>
        </p:nvSpPr>
        <p:spPr>
          <a:xfrm>
            <a:off x="9283065" y="2263775"/>
            <a:ext cx="227966" cy="238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or </a:t>
            </a:r>
          </a:p>
        </p:txBody>
      </p:sp>
      <p:sp>
        <p:nvSpPr>
          <p:cNvPr id="1516" name="Text 44"/>
          <p:cNvSpPr txBox="1"/>
          <p:nvPr/>
        </p:nvSpPr>
        <p:spPr>
          <a:xfrm>
            <a:off x="9460230" y="2263775"/>
            <a:ext cx="331259" cy="238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use </a:t>
            </a:r>
          </a:p>
        </p:txBody>
      </p:sp>
      <p:sp>
        <p:nvSpPr>
          <p:cNvPr id="1517" name="Text 45"/>
          <p:cNvSpPr txBox="1"/>
          <p:nvPr/>
        </p:nvSpPr>
        <p:spPr>
          <a:xfrm>
            <a:off x="9740688" y="2263775"/>
            <a:ext cx="168170" cy="238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a </a:t>
            </a:r>
          </a:p>
        </p:txBody>
      </p:sp>
      <p:sp>
        <p:nvSpPr>
          <p:cNvPr id="1518" name="Text 46"/>
          <p:cNvSpPr txBox="1"/>
          <p:nvPr/>
        </p:nvSpPr>
        <p:spPr>
          <a:xfrm>
            <a:off x="9858057" y="2263775"/>
            <a:ext cx="430277" cy="238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Lock.</a:t>
            </a:r>
          </a:p>
        </p:txBody>
      </p:sp>
      <p:sp>
        <p:nvSpPr>
          <p:cNvPr id="1519" name="Shape 47"/>
          <p:cNvSpPr/>
          <p:nvPr/>
        </p:nvSpPr>
        <p:spPr>
          <a:xfrm>
            <a:off x="7696200" y="4391447"/>
            <a:ext cx="3683000" cy="1034416"/>
          </a:xfrm>
          <a:prstGeom prst="roundRect">
            <a:avLst>
              <a:gd name="adj" fmla="val 4911"/>
            </a:avLst>
          </a:prstGeom>
          <a:solidFill>
            <a:srgbClr val="FBEDE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0" name="Shape 48"/>
          <p:cNvSpPr/>
          <p:nvPr/>
        </p:nvSpPr>
        <p:spPr>
          <a:xfrm>
            <a:off x="7696200" y="4391447"/>
            <a:ext cx="50800" cy="1034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9671" y="21600"/>
                  <a:pt x="0" y="21125"/>
                  <a:pt x="0" y="20539"/>
                </a:cubicBezTo>
                <a:lnTo>
                  <a:pt x="0" y="1061"/>
                </a:lnTo>
                <a:cubicBezTo>
                  <a:pt x="0" y="475"/>
                  <a:pt x="9671" y="0"/>
                  <a:pt x="21600" y="0"/>
                </a:cubicBezTo>
                <a:cubicBezTo>
                  <a:pt x="15635" y="0"/>
                  <a:pt x="10800" y="475"/>
                  <a:pt x="10800" y="1061"/>
                </a:cubicBezTo>
                <a:lnTo>
                  <a:pt x="10800" y="20539"/>
                </a:lnTo>
                <a:cubicBezTo>
                  <a:pt x="10800" y="21125"/>
                  <a:pt x="15635" y="21600"/>
                  <a:pt x="216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1" name="Text 49"/>
          <p:cNvSpPr txBox="1"/>
          <p:nvPr/>
        </p:nvSpPr>
        <p:spPr>
          <a:xfrm>
            <a:off x="7835900" y="4483522"/>
            <a:ext cx="96520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AtomicU64 </a:t>
            </a:r>
          </a:p>
        </p:txBody>
      </p:sp>
      <p:sp>
        <p:nvSpPr>
          <p:cNvPr id="1522" name="Text 50"/>
          <p:cNvSpPr txBox="1"/>
          <p:nvPr/>
        </p:nvSpPr>
        <p:spPr>
          <a:xfrm>
            <a:off x="8750300" y="4480347"/>
            <a:ext cx="19907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is </a:t>
            </a:r>
          </a:p>
        </p:txBody>
      </p:sp>
      <p:sp>
        <p:nvSpPr>
          <p:cNvPr id="1523" name="Text 51"/>
          <p:cNvSpPr txBox="1"/>
          <p:nvPr/>
        </p:nvSpPr>
        <p:spPr>
          <a:xfrm>
            <a:off x="8898572" y="4480347"/>
            <a:ext cx="73490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lock-free, </a:t>
            </a:r>
          </a:p>
        </p:txBody>
      </p:sp>
      <p:sp>
        <p:nvSpPr>
          <p:cNvPr id="1524" name="Text 52"/>
          <p:cNvSpPr txBox="1"/>
          <p:nvPr/>
        </p:nvSpPr>
        <p:spPr>
          <a:xfrm>
            <a:off x="9582678" y="4480347"/>
            <a:ext cx="31517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but </a:t>
            </a:r>
          </a:p>
        </p:txBody>
      </p:sp>
      <p:sp>
        <p:nvSpPr>
          <p:cNvPr id="1525" name="Text 53"/>
          <p:cNvSpPr txBox="1"/>
          <p:nvPr/>
        </p:nvSpPr>
        <p:spPr>
          <a:xfrm>
            <a:off x="9847050" y="4480347"/>
            <a:ext cx="17822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8 </a:t>
            </a:r>
          </a:p>
        </p:txBody>
      </p:sp>
      <p:sp>
        <p:nvSpPr>
          <p:cNvPr id="1526" name="Text 54"/>
          <p:cNvSpPr txBox="1"/>
          <p:nvPr/>
        </p:nvSpPr>
        <p:spPr>
          <a:xfrm>
            <a:off x="9974474" y="4480347"/>
            <a:ext cx="67056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threads </a:t>
            </a:r>
          </a:p>
        </p:txBody>
      </p:sp>
      <p:sp>
        <p:nvSpPr>
          <p:cNvPr id="1527" name="Text 55"/>
          <p:cNvSpPr txBox="1"/>
          <p:nvPr/>
        </p:nvSpPr>
        <p:spPr>
          <a:xfrm>
            <a:off x="7835900" y="4696891"/>
            <a:ext cx="865506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hammering </a:t>
            </a:r>
          </a:p>
        </p:txBody>
      </p:sp>
      <p:sp>
        <p:nvSpPr>
          <p:cNvPr id="1528" name="Text 56"/>
          <p:cNvSpPr txBox="1"/>
          <p:nvPr/>
        </p:nvSpPr>
        <p:spPr>
          <a:xfrm>
            <a:off x="8650605" y="4696891"/>
            <a:ext cx="34237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one </a:t>
            </a:r>
          </a:p>
        </p:txBody>
      </p:sp>
      <p:sp>
        <p:nvSpPr>
          <p:cNvPr id="1529" name="Text 57"/>
          <p:cNvSpPr txBox="1"/>
          <p:nvPr/>
        </p:nvSpPr>
        <p:spPr>
          <a:xfrm>
            <a:off x="8942175" y="4696891"/>
            <a:ext cx="55414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atomic </a:t>
            </a:r>
          </a:p>
        </p:txBody>
      </p:sp>
      <p:sp>
        <p:nvSpPr>
          <p:cNvPr id="1530" name="Text 58"/>
          <p:cNvSpPr txBox="1"/>
          <p:nvPr/>
        </p:nvSpPr>
        <p:spPr>
          <a:xfrm>
            <a:off x="9445520" y="4696891"/>
            <a:ext cx="33358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still </a:t>
            </a:r>
          </a:p>
        </p:txBody>
      </p:sp>
      <p:sp>
        <p:nvSpPr>
          <p:cNvPr id="1531" name="Text 59"/>
          <p:cNvSpPr txBox="1"/>
          <p:nvPr/>
        </p:nvSpPr>
        <p:spPr>
          <a:xfrm>
            <a:off x="9728304" y="4696891"/>
            <a:ext cx="64600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contend </a:t>
            </a:r>
          </a:p>
        </p:txBody>
      </p:sp>
      <p:sp>
        <p:nvSpPr>
          <p:cNvPr id="1532" name="Text 60"/>
          <p:cNvSpPr txBox="1"/>
          <p:nvPr/>
        </p:nvSpPr>
        <p:spPr>
          <a:xfrm>
            <a:off x="10323513" y="4696891"/>
            <a:ext cx="25865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on </a:t>
            </a:r>
          </a:p>
        </p:txBody>
      </p:sp>
      <p:sp>
        <p:nvSpPr>
          <p:cNvPr id="1533" name="Text 61"/>
          <p:cNvSpPr txBox="1"/>
          <p:nvPr/>
        </p:nvSpPr>
        <p:spPr>
          <a:xfrm>
            <a:off x="10531370" y="4696891"/>
            <a:ext cx="310516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the </a:t>
            </a:r>
          </a:p>
        </p:txBody>
      </p:sp>
      <p:sp>
        <p:nvSpPr>
          <p:cNvPr id="1534" name="Text 62"/>
          <p:cNvSpPr txBox="1"/>
          <p:nvPr/>
        </p:nvSpPr>
        <p:spPr>
          <a:xfrm>
            <a:off x="10791083" y="4696891"/>
            <a:ext cx="52908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cache </a:t>
            </a:r>
          </a:p>
        </p:txBody>
      </p:sp>
      <p:sp>
        <p:nvSpPr>
          <p:cNvPr id="1535" name="Text 63"/>
          <p:cNvSpPr txBox="1"/>
          <p:nvPr/>
        </p:nvSpPr>
        <p:spPr>
          <a:xfrm>
            <a:off x="7835900" y="4910237"/>
            <a:ext cx="37507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line. </a:t>
            </a:r>
          </a:p>
        </p:txBody>
      </p:sp>
      <p:sp>
        <p:nvSpPr>
          <p:cNvPr id="1536" name="Text 64"/>
          <p:cNvSpPr txBox="1"/>
          <p:nvPr/>
        </p:nvSpPr>
        <p:spPr>
          <a:xfrm>
            <a:off x="8160173" y="4910237"/>
            <a:ext cx="662941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Per-task </a:t>
            </a:r>
          </a:p>
        </p:txBody>
      </p:sp>
      <p:sp>
        <p:nvSpPr>
          <p:cNvPr id="1537" name="Text 65"/>
          <p:cNvSpPr txBox="1"/>
          <p:nvPr/>
        </p:nvSpPr>
        <p:spPr>
          <a:xfrm>
            <a:off x="8772313" y="4910237"/>
            <a:ext cx="67955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counting </a:t>
            </a:r>
          </a:p>
        </p:txBody>
      </p:sp>
      <p:sp>
        <p:nvSpPr>
          <p:cNvPr id="1538" name="Text 66"/>
          <p:cNvSpPr txBox="1"/>
          <p:nvPr/>
        </p:nvSpPr>
        <p:spPr>
          <a:xfrm>
            <a:off x="9401070" y="4910237"/>
            <a:ext cx="34311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and </a:t>
            </a:r>
          </a:p>
        </p:txBody>
      </p:sp>
      <p:sp>
        <p:nvSpPr>
          <p:cNvPr id="1539" name="Text 67"/>
          <p:cNvSpPr txBox="1"/>
          <p:nvPr/>
        </p:nvSpPr>
        <p:spPr>
          <a:xfrm>
            <a:off x="9693379" y="4910237"/>
            <a:ext cx="64145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merging </a:t>
            </a:r>
          </a:p>
        </p:txBody>
      </p:sp>
      <p:sp>
        <p:nvSpPr>
          <p:cNvPr id="1540" name="Text 68"/>
          <p:cNvSpPr txBox="1"/>
          <p:nvPr/>
        </p:nvSpPr>
        <p:spPr>
          <a:xfrm>
            <a:off x="10284036" y="4910237"/>
            <a:ext cx="19907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is </a:t>
            </a:r>
          </a:p>
        </p:txBody>
      </p:sp>
      <p:sp>
        <p:nvSpPr>
          <p:cNvPr id="1541" name="Text 69"/>
          <p:cNvSpPr txBox="1"/>
          <p:nvPr/>
        </p:nvSpPr>
        <p:spPr>
          <a:xfrm>
            <a:off x="10432308" y="4910237"/>
            <a:ext cx="311659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the </a:t>
            </a:r>
          </a:p>
        </p:txBody>
      </p:sp>
      <p:sp>
        <p:nvSpPr>
          <p:cNvPr id="1542" name="Text 70"/>
          <p:cNvSpPr txBox="1"/>
          <p:nvPr/>
        </p:nvSpPr>
        <p:spPr>
          <a:xfrm>
            <a:off x="7835900" y="5123607"/>
            <a:ext cx="1125856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low-contention </a:t>
            </a:r>
          </a:p>
        </p:txBody>
      </p:sp>
      <p:sp>
        <p:nvSpPr>
          <p:cNvPr id="1543" name="Text 71"/>
          <p:cNvSpPr txBox="1"/>
          <p:nvPr/>
        </p:nvSpPr>
        <p:spPr>
          <a:xfrm>
            <a:off x="8910955" y="5123607"/>
            <a:ext cx="58140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choice.</a:t>
            </a:r>
          </a:p>
        </p:txBody>
      </p:sp>
      <p:sp>
        <p:nvSpPr>
          <p:cNvPr id="1544" name="Shape 72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5" name="Text 73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Three fixes following the exact same roads. (Freezing is out, since counters must change.)</a:t>
            </a:r>
          </a:p>
        </p:txBody>
      </p:sp>
      <p:sp>
        <p:nvSpPr>
          <p:cNvPr id="1546" name="Text 74"/>
          <p:cNvSpPr txBox="1"/>
          <p:nvPr/>
        </p:nvSpPr>
        <p:spPr>
          <a:xfrm>
            <a:off x="812799" y="6238230"/>
            <a:ext cx="1088339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Source: adapted from src/lib.rs (the three variants at the end of the file)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Side 2: PyO3 asks the questions at the boundary</a:t>
            </a:r>
          </a:p>
        </p:txBody>
      </p:sp>
      <p:sp>
        <p:nvSpPr>
          <p:cNvPr id="1549" name="Shape 1"/>
          <p:cNvSpPr/>
          <p:nvPr/>
        </p:nvSpPr>
        <p:spPr>
          <a:xfrm>
            <a:off x="815975" y="1331590"/>
            <a:ext cx="5480050" cy="646431"/>
          </a:xfrm>
          <a:prstGeom prst="roundRect">
            <a:avLst>
              <a:gd name="adj" fmla="val 11297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0" name="Text 2"/>
          <p:cNvSpPr txBox="1"/>
          <p:nvPr/>
        </p:nvSpPr>
        <p:spPr>
          <a:xfrm>
            <a:off x="958850" y="1423665"/>
            <a:ext cx="2381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1.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 </a:t>
            </a:r>
          </a:p>
        </p:txBody>
      </p:sp>
      <p:sp>
        <p:nvSpPr>
          <p:cNvPr id="1551" name="Text 3"/>
          <p:cNvSpPr txBox="1"/>
          <p:nvPr/>
        </p:nvSpPr>
        <p:spPr>
          <a:xfrm>
            <a:off x="1146175" y="1423665"/>
            <a:ext cx="11404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pPr>
            <a:r>
              <a:t>#[pyclass]</a:t>
            </a:r>
            <a:r>
              <a:rPr>
                <a:solidFill>
                  <a:srgbClr val="1B1F27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rPr>
              <a:t> </a:t>
            </a:r>
          </a:p>
        </p:txBody>
      </p:sp>
      <p:sp>
        <p:nvSpPr>
          <p:cNvPr id="1552" name="Text 4"/>
          <p:cNvSpPr txBox="1"/>
          <p:nvPr/>
        </p:nvSpPr>
        <p:spPr>
          <a:xfrm>
            <a:off x="2235835" y="1423665"/>
            <a:ext cx="46492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must </a:t>
            </a:r>
          </a:p>
        </p:txBody>
      </p:sp>
      <p:sp>
        <p:nvSpPr>
          <p:cNvPr id="1553" name="Text 5"/>
          <p:cNvSpPr txBox="1"/>
          <p:nvPr/>
        </p:nvSpPr>
        <p:spPr>
          <a:xfrm>
            <a:off x="2649960" y="1423665"/>
            <a:ext cx="27612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be </a:t>
            </a:r>
          </a:p>
        </p:txBody>
      </p:sp>
      <p:sp>
        <p:nvSpPr>
          <p:cNvPr id="1554" name="Text 6"/>
          <p:cNvSpPr txBox="1"/>
          <p:nvPr/>
        </p:nvSpPr>
        <p:spPr>
          <a:xfrm>
            <a:off x="2875279" y="1423665"/>
            <a:ext cx="45878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solidFill>
                  <a:schemeClr val="accent2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Sync</a:t>
            </a:r>
            <a:r>
              <a:rPr>
                <a:solidFill>
                  <a:srgbClr val="1B1F27"/>
                </a:solidFill>
                <a:latin typeface="+mj-lt"/>
                <a:ea typeface="+mj-ea"/>
                <a:cs typeface="+mj-cs"/>
                <a:sym typeface="IBM Plex Sans Regular"/>
              </a:rPr>
              <a:t> </a:t>
            </a:r>
          </a:p>
        </p:txBody>
      </p:sp>
      <p:sp>
        <p:nvSpPr>
          <p:cNvPr id="1555" name="Text 7"/>
          <p:cNvSpPr txBox="1"/>
          <p:nvPr/>
        </p:nvSpPr>
        <p:spPr>
          <a:xfrm>
            <a:off x="3283267" y="1423665"/>
            <a:ext cx="53318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(since </a:t>
            </a:r>
          </a:p>
        </p:txBody>
      </p:sp>
      <p:sp>
        <p:nvSpPr>
          <p:cNvPr id="1556" name="Text 8"/>
          <p:cNvSpPr txBox="1"/>
          <p:nvPr/>
        </p:nvSpPr>
        <p:spPr>
          <a:xfrm>
            <a:off x="3765655" y="1423665"/>
            <a:ext cx="48799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PyO3 </a:t>
            </a:r>
          </a:p>
        </p:txBody>
      </p:sp>
      <p:sp>
        <p:nvSpPr>
          <p:cNvPr id="1557" name="Text 9"/>
          <p:cNvSpPr txBox="1"/>
          <p:nvPr/>
        </p:nvSpPr>
        <p:spPr>
          <a:xfrm>
            <a:off x="4202853" y="1423665"/>
            <a:ext cx="53541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0.23): </a:t>
            </a:r>
          </a:p>
        </p:txBody>
      </p:sp>
      <p:sp>
        <p:nvSpPr>
          <p:cNvPr id="1558" name="Text 10"/>
          <p:cNvSpPr txBox="1"/>
          <p:nvPr/>
        </p:nvSpPr>
        <p:spPr>
          <a:xfrm>
            <a:off x="4687463" y="1423665"/>
            <a:ext cx="33210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the </a:t>
            </a:r>
          </a:p>
        </p:txBody>
      </p:sp>
      <p:sp>
        <p:nvSpPr>
          <p:cNvPr id="1559" name="Text 11"/>
          <p:cNvSpPr txBox="1"/>
          <p:nvPr/>
        </p:nvSpPr>
        <p:spPr>
          <a:xfrm>
            <a:off x="4968769" y="1423665"/>
            <a:ext cx="44481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Sync </a:t>
            </a:r>
          </a:p>
        </p:txBody>
      </p:sp>
      <p:sp>
        <p:nvSpPr>
          <p:cNvPr id="1560" name="Text 12"/>
          <p:cNvSpPr txBox="1"/>
          <p:nvPr/>
        </p:nvSpPr>
        <p:spPr>
          <a:xfrm>
            <a:off x="5362787" y="1423665"/>
            <a:ext cx="48387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gate, </a:t>
            </a:r>
          </a:p>
        </p:txBody>
      </p:sp>
      <p:sp>
        <p:nvSpPr>
          <p:cNvPr id="1561" name="Text 13"/>
          <p:cNvSpPr txBox="1"/>
          <p:nvPr/>
        </p:nvSpPr>
        <p:spPr>
          <a:xfrm>
            <a:off x="958850" y="1654819"/>
            <a:ext cx="74760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enforced </a:t>
            </a:r>
          </a:p>
        </p:txBody>
      </p:sp>
      <p:sp>
        <p:nvSpPr>
          <p:cNvPr id="1562" name="Text 14"/>
          <p:cNvSpPr txBox="1"/>
          <p:nvPr/>
        </p:nvSpPr>
        <p:spPr>
          <a:xfrm>
            <a:off x="1655657" y="1654819"/>
            <a:ext cx="43063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right </a:t>
            </a:r>
          </a:p>
        </p:txBody>
      </p:sp>
      <p:sp>
        <p:nvSpPr>
          <p:cNvPr id="1563" name="Text 15"/>
          <p:cNvSpPr txBox="1"/>
          <p:nvPr/>
        </p:nvSpPr>
        <p:spPr>
          <a:xfrm>
            <a:off x="2035492" y="1654819"/>
            <a:ext cx="235903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at </a:t>
            </a:r>
          </a:p>
        </p:txBody>
      </p:sp>
      <p:sp>
        <p:nvSpPr>
          <p:cNvPr id="1564" name="Text 16"/>
          <p:cNvSpPr txBox="1"/>
          <p:nvPr/>
        </p:nvSpPr>
        <p:spPr>
          <a:xfrm>
            <a:off x="2220595" y="1654819"/>
            <a:ext cx="33210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the </a:t>
            </a:r>
          </a:p>
        </p:txBody>
      </p:sp>
      <p:sp>
        <p:nvSpPr>
          <p:cNvPr id="1565" name="Text 17"/>
          <p:cNvSpPr txBox="1"/>
          <p:nvPr/>
        </p:nvSpPr>
        <p:spPr>
          <a:xfrm>
            <a:off x="2501900" y="1654819"/>
            <a:ext cx="61012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Python </a:t>
            </a:r>
          </a:p>
        </p:txBody>
      </p:sp>
      <p:sp>
        <p:nvSpPr>
          <p:cNvPr id="1566" name="Text 18"/>
          <p:cNvSpPr txBox="1"/>
          <p:nvPr/>
        </p:nvSpPr>
        <p:spPr>
          <a:xfrm>
            <a:off x="3061229" y="1654819"/>
            <a:ext cx="88823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boundary.</a:t>
            </a:r>
          </a:p>
        </p:txBody>
      </p:sp>
      <p:sp>
        <p:nvSpPr>
          <p:cNvPr id="1567" name="Shape 19"/>
          <p:cNvSpPr/>
          <p:nvPr/>
        </p:nvSpPr>
        <p:spPr>
          <a:xfrm>
            <a:off x="815975" y="2073275"/>
            <a:ext cx="5480050" cy="877570"/>
          </a:xfrm>
          <a:prstGeom prst="roundRect">
            <a:avLst>
              <a:gd name="adj" fmla="val 8321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8" name="Text 20"/>
          <p:cNvSpPr txBox="1"/>
          <p:nvPr/>
        </p:nvSpPr>
        <p:spPr>
          <a:xfrm>
            <a:off x="958850" y="2165350"/>
            <a:ext cx="2381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2.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 </a:t>
            </a:r>
          </a:p>
        </p:txBody>
      </p:sp>
      <p:sp>
        <p:nvSpPr>
          <p:cNvPr id="1569" name="Text 21"/>
          <p:cNvSpPr txBox="1"/>
          <p:nvPr/>
        </p:nvSpPr>
        <p:spPr>
          <a:xfrm>
            <a:off x="1146175" y="2165350"/>
            <a:ext cx="91821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Concurrent </a:t>
            </a:r>
          </a:p>
        </p:txBody>
      </p:sp>
      <p:sp>
        <p:nvSpPr>
          <p:cNvPr id="1570" name="Text 22"/>
          <p:cNvSpPr txBox="1"/>
          <p:nvPr/>
        </p:nvSpPr>
        <p:spPr>
          <a:xfrm>
            <a:off x="2013585" y="2165350"/>
            <a:ext cx="4304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calls </a:t>
            </a:r>
          </a:p>
        </p:txBody>
      </p:sp>
      <p:sp>
        <p:nvSpPr>
          <p:cNvPr id="1571" name="Text 23"/>
          <p:cNvSpPr txBox="1"/>
          <p:nvPr/>
        </p:nvSpPr>
        <p:spPr>
          <a:xfrm>
            <a:off x="2393208" y="2165350"/>
            <a:ext cx="23950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to </a:t>
            </a:r>
          </a:p>
        </p:txBody>
      </p:sp>
      <p:sp>
        <p:nvSpPr>
          <p:cNvPr id="1572" name="Text 24"/>
          <p:cNvSpPr txBox="1"/>
          <p:nvPr/>
        </p:nvSpPr>
        <p:spPr>
          <a:xfrm>
            <a:off x="2581910" y="2165350"/>
            <a:ext cx="17790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 </a:t>
            </a:r>
          </a:p>
        </p:txBody>
      </p:sp>
      <p:sp>
        <p:nvSpPr>
          <p:cNvPr id="1573" name="Text 25"/>
          <p:cNvSpPr txBox="1"/>
          <p:nvPr/>
        </p:nvSpPr>
        <p:spPr>
          <a:xfrm>
            <a:off x="2709016" y="2165350"/>
            <a:ext cx="10414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pPr>
            <a:r>
              <a:t>&amp;mut self</a:t>
            </a:r>
            <a:r>
              <a:rPr>
                <a:solidFill>
                  <a:srgbClr val="1B1F27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rPr>
              <a:t> </a:t>
            </a:r>
          </a:p>
        </p:txBody>
      </p:sp>
      <p:sp>
        <p:nvSpPr>
          <p:cNvPr id="1574" name="Text 26"/>
          <p:cNvSpPr txBox="1"/>
          <p:nvPr/>
        </p:nvSpPr>
        <p:spPr>
          <a:xfrm>
            <a:off x="3699616" y="2165350"/>
            <a:ext cx="66452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method </a:t>
            </a:r>
          </a:p>
        </p:txBody>
      </p:sp>
      <p:sp>
        <p:nvSpPr>
          <p:cNvPr id="1575" name="Text 27"/>
          <p:cNvSpPr txBox="1"/>
          <p:nvPr/>
        </p:nvSpPr>
        <p:spPr>
          <a:xfrm>
            <a:off x="4313342" y="2165350"/>
            <a:ext cx="47917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raise </a:t>
            </a:r>
          </a:p>
        </p:txBody>
      </p:sp>
      <p:sp>
        <p:nvSpPr>
          <p:cNvPr id="1576" name="Text 28"/>
          <p:cNvSpPr txBox="1"/>
          <p:nvPr/>
        </p:nvSpPr>
        <p:spPr>
          <a:xfrm>
            <a:off x="958850" y="2396480"/>
            <a:ext cx="306095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RuntimeError: Already borrowed</a:t>
            </a:r>
          </a:p>
        </p:txBody>
      </p:sp>
      <p:sp>
        <p:nvSpPr>
          <p:cNvPr id="1577" name="Text 29"/>
          <p:cNvSpPr txBox="1"/>
          <p:nvPr/>
        </p:nvSpPr>
        <p:spPr>
          <a:xfrm>
            <a:off x="3930650" y="2396480"/>
            <a:ext cx="13462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. </a:t>
            </a:r>
          </a:p>
        </p:txBody>
      </p:sp>
      <p:sp>
        <p:nvSpPr>
          <p:cNvPr id="1578" name="Text 30"/>
          <p:cNvSpPr txBox="1"/>
          <p:nvPr/>
        </p:nvSpPr>
        <p:spPr>
          <a:xfrm>
            <a:off x="4014470" y="2396480"/>
            <a:ext cx="67257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Aliasing </a:t>
            </a:r>
          </a:p>
        </p:txBody>
      </p:sp>
      <p:sp>
        <p:nvSpPr>
          <p:cNvPr id="1579" name="Text 31"/>
          <p:cNvSpPr txBox="1"/>
          <p:nvPr/>
        </p:nvSpPr>
        <p:spPr>
          <a:xfrm>
            <a:off x="4636241" y="2396480"/>
            <a:ext cx="41095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XOR </a:t>
            </a:r>
          </a:p>
        </p:txBody>
      </p:sp>
      <p:sp>
        <p:nvSpPr>
          <p:cNvPr id="1580" name="Text 32"/>
          <p:cNvSpPr txBox="1"/>
          <p:nvPr/>
        </p:nvSpPr>
        <p:spPr>
          <a:xfrm>
            <a:off x="4996391" y="2396480"/>
            <a:ext cx="974853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Mutability, </a:t>
            </a:r>
          </a:p>
        </p:txBody>
      </p:sp>
      <p:sp>
        <p:nvSpPr>
          <p:cNvPr id="1581" name="Text 33"/>
          <p:cNvSpPr txBox="1"/>
          <p:nvPr/>
        </p:nvSpPr>
        <p:spPr>
          <a:xfrm>
            <a:off x="958850" y="2627634"/>
            <a:ext cx="74760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enforced </a:t>
            </a:r>
          </a:p>
        </p:txBody>
      </p:sp>
      <p:sp>
        <p:nvSpPr>
          <p:cNvPr id="1582" name="Text 34"/>
          <p:cNvSpPr txBox="1"/>
          <p:nvPr/>
        </p:nvSpPr>
        <p:spPr>
          <a:xfrm>
            <a:off x="1655657" y="2627634"/>
            <a:ext cx="235903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at </a:t>
            </a:r>
          </a:p>
        </p:txBody>
      </p:sp>
      <p:sp>
        <p:nvSpPr>
          <p:cNvPr id="1583" name="Text 35"/>
          <p:cNvSpPr txBox="1"/>
          <p:nvPr/>
        </p:nvSpPr>
        <p:spPr>
          <a:xfrm>
            <a:off x="1840758" y="2627634"/>
            <a:ext cx="74853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runtime.</a:t>
            </a:r>
          </a:p>
        </p:txBody>
      </p:sp>
      <p:sp>
        <p:nvSpPr>
          <p:cNvPr id="1584" name="Shape 36"/>
          <p:cNvSpPr/>
          <p:nvPr/>
        </p:nvSpPr>
        <p:spPr>
          <a:xfrm>
            <a:off x="815975" y="3046090"/>
            <a:ext cx="5480050" cy="646431"/>
          </a:xfrm>
          <a:prstGeom prst="roundRect">
            <a:avLst>
              <a:gd name="adj" fmla="val 11297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5" name="Text 37"/>
          <p:cNvSpPr txBox="1"/>
          <p:nvPr/>
        </p:nvSpPr>
        <p:spPr>
          <a:xfrm>
            <a:off x="958850" y="3138165"/>
            <a:ext cx="2381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3.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 </a:t>
            </a:r>
          </a:p>
        </p:txBody>
      </p:sp>
      <p:sp>
        <p:nvSpPr>
          <p:cNvPr id="1586" name="Text 38"/>
          <p:cNvSpPr txBox="1"/>
          <p:nvPr/>
        </p:nvSpPr>
        <p:spPr>
          <a:xfrm>
            <a:off x="1146175" y="3138165"/>
            <a:ext cx="1836573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pPr>
            <a:r>
              <a:t>py.detach(|| ...)</a:t>
            </a:r>
            <a:r>
              <a:rPr>
                <a:solidFill>
                  <a:srgbClr val="1B1F27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rPr>
              <a:t> </a:t>
            </a:r>
          </a:p>
        </p:txBody>
      </p:sp>
      <p:sp>
        <p:nvSpPr>
          <p:cNvPr id="1587" name="Text 39"/>
          <p:cNvSpPr txBox="1"/>
          <p:nvPr/>
        </p:nvSpPr>
        <p:spPr>
          <a:xfrm>
            <a:off x="2929254" y="3138165"/>
            <a:ext cx="7017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requires </a:t>
            </a:r>
          </a:p>
        </p:txBody>
      </p:sp>
      <p:sp>
        <p:nvSpPr>
          <p:cNvPr id="1588" name="Text 40"/>
          <p:cNvSpPr txBox="1"/>
          <p:nvPr/>
        </p:nvSpPr>
        <p:spPr>
          <a:xfrm>
            <a:off x="3580236" y="3138165"/>
            <a:ext cx="531623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solidFill>
                  <a:schemeClr val="accent2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Ungil</a:t>
            </a:r>
            <a:r>
              <a:rPr>
                <a:solidFill>
                  <a:srgbClr val="1B1F27"/>
                </a:solidFill>
                <a:latin typeface="+mj-lt"/>
                <a:ea typeface="+mj-ea"/>
                <a:cs typeface="+mj-cs"/>
                <a:sym typeface="IBM Plex Sans Regular"/>
              </a:rPr>
              <a:t>:</a:t>
            </a:r>
          </a:p>
        </p:txBody>
      </p:sp>
      <p:sp>
        <p:nvSpPr>
          <p:cNvPr id="1589" name="Text 41"/>
          <p:cNvSpPr txBox="1"/>
          <p:nvPr/>
        </p:nvSpPr>
        <p:spPr>
          <a:xfrm>
            <a:off x="958850" y="3369319"/>
            <a:ext cx="65002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nothing </a:t>
            </a:r>
          </a:p>
        </p:txBody>
      </p:sp>
      <p:sp>
        <p:nvSpPr>
          <p:cNvPr id="1590" name="Text 42"/>
          <p:cNvSpPr txBox="1"/>
          <p:nvPr/>
        </p:nvSpPr>
        <p:spPr>
          <a:xfrm>
            <a:off x="1558077" y="3369319"/>
            <a:ext cx="37539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tied </a:t>
            </a:r>
          </a:p>
        </p:txBody>
      </p:sp>
      <p:sp>
        <p:nvSpPr>
          <p:cNvPr id="1591" name="Text 43"/>
          <p:cNvSpPr txBox="1"/>
          <p:nvPr/>
        </p:nvSpPr>
        <p:spPr>
          <a:xfrm>
            <a:off x="1882668" y="3369319"/>
            <a:ext cx="239503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to </a:t>
            </a:r>
          </a:p>
        </p:txBody>
      </p:sp>
      <p:sp>
        <p:nvSpPr>
          <p:cNvPr id="1592" name="Text 44"/>
          <p:cNvSpPr txBox="1"/>
          <p:nvPr/>
        </p:nvSpPr>
        <p:spPr>
          <a:xfrm>
            <a:off x="2071370" y="3369319"/>
            <a:ext cx="33210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the </a:t>
            </a:r>
          </a:p>
        </p:txBody>
      </p:sp>
      <p:sp>
        <p:nvSpPr>
          <p:cNvPr id="1593" name="Text 45"/>
          <p:cNvSpPr txBox="1"/>
          <p:nvPr/>
        </p:nvSpPr>
        <p:spPr>
          <a:xfrm>
            <a:off x="2352675" y="3369319"/>
            <a:ext cx="887943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interpreter </a:t>
            </a:r>
          </a:p>
        </p:txBody>
      </p:sp>
      <p:sp>
        <p:nvSpPr>
          <p:cNvPr id="1594" name="Text 46"/>
          <p:cNvSpPr txBox="1"/>
          <p:nvPr/>
        </p:nvSpPr>
        <p:spPr>
          <a:xfrm>
            <a:off x="3189816" y="3369319"/>
            <a:ext cx="21145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is </a:t>
            </a:r>
          </a:p>
        </p:txBody>
      </p:sp>
      <p:sp>
        <p:nvSpPr>
          <p:cNvPr id="1595" name="Text 47"/>
          <p:cNvSpPr txBox="1"/>
          <p:nvPr/>
        </p:nvSpPr>
        <p:spPr>
          <a:xfrm>
            <a:off x="3350471" y="3369319"/>
            <a:ext cx="67087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allowed </a:t>
            </a:r>
          </a:p>
        </p:txBody>
      </p:sp>
      <p:sp>
        <p:nvSpPr>
          <p:cNvPr id="1596" name="Text 48"/>
          <p:cNvSpPr txBox="1"/>
          <p:nvPr/>
        </p:nvSpPr>
        <p:spPr>
          <a:xfrm>
            <a:off x="3970549" y="3369319"/>
            <a:ext cx="23950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to </a:t>
            </a:r>
          </a:p>
        </p:txBody>
      </p:sp>
      <p:sp>
        <p:nvSpPr>
          <p:cNvPr id="1597" name="Text 49"/>
          <p:cNvSpPr txBox="1"/>
          <p:nvPr/>
        </p:nvSpPr>
        <p:spPr>
          <a:xfrm>
            <a:off x="4159250" y="3369319"/>
            <a:ext cx="52969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sneak </a:t>
            </a:r>
          </a:p>
        </p:txBody>
      </p:sp>
      <p:sp>
        <p:nvSpPr>
          <p:cNvPr id="1598" name="Text 50"/>
          <p:cNvSpPr txBox="1"/>
          <p:nvPr/>
        </p:nvSpPr>
        <p:spPr>
          <a:xfrm>
            <a:off x="4638145" y="3369319"/>
            <a:ext cx="34696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out.</a:t>
            </a:r>
          </a:p>
        </p:txBody>
      </p:sp>
      <p:sp>
        <p:nvSpPr>
          <p:cNvPr id="1599" name="Shape 51"/>
          <p:cNvSpPr/>
          <p:nvPr/>
        </p:nvSpPr>
        <p:spPr>
          <a:xfrm>
            <a:off x="815975" y="3787775"/>
            <a:ext cx="5480050" cy="997586"/>
          </a:xfrm>
          <a:prstGeom prst="roundRect">
            <a:avLst>
              <a:gd name="adj" fmla="val 7320"/>
            </a:avLst>
          </a:prstGeom>
          <a:solidFill>
            <a:schemeClr val="accent5"/>
          </a:solidFill>
          <a:ln w="6350">
            <a:solidFill>
              <a:srgbClr val="E6D3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0" name="Text 52"/>
          <p:cNvSpPr txBox="1"/>
          <p:nvPr/>
        </p:nvSpPr>
        <p:spPr>
          <a:xfrm>
            <a:off x="958849" y="3879850"/>
            <a:ext cx="2251678" cy="238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600"/>
              </a:lnSpc>
              <a:defRPr sz="12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Probe: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 8 Python threads calling </a:t>
            </a:r>
          </a:p>
        </p:txBody>
      </p:sp>
      <p:sp>
        <p:nvSpPr>
          <p:cNvPr id="1601" name="Text 53"/>
          <p:cNvSpPr txBox="1"/>
          <p:nvPr/>
        </p:nvSpPr>
        <p:spPr>
          <a:xfrm>
            <a:off x="3144942" y="3883025"/>
            <a:ext cx="965201" cy="238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bump_mut()</a:t>
            </a:r>
          </a:p>
        </p:txBody>
      </p:sp>
      <p:sp>
        <p:nvSpPr>
          <p:cNvPr id="1602" name="Text 54"/>
          <p:cNvSpPr txBox="1"/>
          <p:nvPr/>
        </p:nvSpPr>
        <p:spPr>
          <a:xfrm>
            <a:off x="4059342" y="3879850"/>
            <a:ext cx="1202945" cy="238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 on one object.</a:t>
            </a:r>
          </a:p>
        </p:txBody>
      </p:sp>
      <p:sp>
        <p:nvSpPr>
          <p:cNvPr id="1603" name="Text 55"/>
          <p:cNvSpPr txBox="1"/>
          <p:nvPr/>
        </p:nvSpPr>
        <p:spPr>
          <a:xfrm>
            <a:off x="958850" y="4222750"/>
            <a:ext cx="605050" cy="238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4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GIL off:</a:t>
            </a:r>
          </a:p>
        </p:txBody>
      </p:sp>
      <p:sp>
        <p:nvSpPr>
          <p:cNvPr id="1604" name="Text 56"/>
          <p:cNvSpPr txBox="1"/>
          <p:nvPr/>
        </p:nvSpPr>
        <p:spPr>
          <a:xfrm>
            <a:off x="1563899" y="4134494"/>
            <a:ext cx="17706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400"/>
              </a:lnSpc>
              <a:defRPr sz="2200">
                <a:solidFill>
                  <a:schemeClr val="accent4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05" name="Text 57"/>
          <p:cNvSpPr txBox="1"/>
          <p:nvPr/>
        </p:nvSpPr>
        <p:spPr>
          <a:xfrm>
            <a:off x="1766358" y="4222750"/>
            <a:ext cx="857886" cy="238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succeeded,</a:t>
            </a:r>
          </a:p>
        </p:txBody>
      </p:sp>
      <p:sp>
        <p:nvSpPr>
          <p:cNvPr id="1606" name="Text 58"/>
          <p:cNvSpPr txBox="1"/>
          <p:nvPr/>
        </p:nvSpPr>
        <p:spPr>
          <a:xfrm>
            <a:off x="2624242" y="4134494"/>
            <a:ext cx="20563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400"/>
              </a:lnSpc>
              <a:defRPr sz="2200">
                <a:solidFill>
                  <a:schemeClr val="accent4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607" name="Text 59"/>
          <p:cNvSpPr txBox="1"/>
          <p:nvPr/>
        </p:nvSpPr>
        <p:spPr>
          <a:xfrm>
            <a:off x="2855277" y="4222750"/>
            <a:ext cx="533295" cy="238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/>
            </a:lvl1pPr>
          </a:lstStyle>
          <a:p>
            <a:pPr/>
            <a:r>
              <a:t>raised </a:t>
            </a:r>
          </a:p>
        </p:txBody>
      </p:sp>
      <p:sp>
        <p:nvSpPr>
          <p:cNvPr id="1608" name="Text 60"/>
          <p:cNvSpPr txBox="1"/>
          <p:nvPr/>
        </p:nvSpPr>
        <p:spPr>
          <a:xfrm>
            <a:off x="3388571" y="4225925"/>
            <a:ext cx="1755648" cy="238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Already borrowed</a:t>
            </a:r>
          </a:p>
        </p:txBody>
      </p:sp>
      <p:sp>
        <p:nvSpPr>
          <p:cNvPr id="1609" name="Text 61"/>
          <p:cNvSpPr txBox="1"/>
          <p:nvPr/>
        </p:nvSpPr>
        <p:spPr>
          <a:xfrm>
            <a:off x="958849" y="4479925"/>
            <a:ext cx="5350131" cy="238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600"/>
              </a:lnSpc>
              <a:defRPr sz="1200">
                <a:solidFill>
                  <a:srgbClr val="56627A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GIL on: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 all 8 succeeded (serialized by the GIL).</a:t>
            </a:r>
          </a:p>
        </p:txBody>
      </p:sp>
      <p:sp>
        <p:nvSpPr>
          <p:cNvPr id="1610" name="Text 62"/>
          <p:cNvSpPr txBox="1"/>
          <p:nvPr/>
        </p:nvSpPr>
        <p:spPr>
          <a:xfrm>
            <a:off x="812800" y="4877444"/>
            <a:ext cx="112363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Recommended </a:t>
            </a:r>
          </a:p>
        </p:txBody>
      </p:sp>
      <p:sp>
        <p:nvSpPr>
          <p:cNvPr id="1611" name="Text 63"/>
          <p:cNvSpPr txBox="1"/>
          <p:nvPr/>
        </p:nvSpPr>
        <p:spPr>
          <a:xfrm>
            <a:off x="1885632" y="4877444"/>
            <a:ext cx="63214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pattern: </a:t>
            </a:r>
          </a:p>
        </p:txBody>
      </p:sp>
      <p:sp>
        <p:nvSpPr>
          <p:cNvPr id="1612" name="Text 64"/>
          <p:cNvSpPr txBox="1"/>
          <p:nvPr/>
        </p:nvSpPr>
        <p:spPr>
          <a:xfrm>
            <a:off x="2466975" y="4880619"/>
            <a:ext cx="178948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#[pyclass(frozen)] </a:t>
            </a:r>
          </a:p>
        </p:txBody>
      </p:sp>
      <p:sp>
        <p:nvSpPr>
          <p:cNvPr id="1613" name="Text 65"/>
          <p:cNvSpPr txBox="1"/>
          <p:nvPr/>
        </p:nvSpPr>
        <p:spPr>
          <a:xfrm>
            <a:off x="4204334" y="4877444"/>
            <a:ext cx="722419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wrapping </a:t>
            </a:r>
          </a:p>
        </p:txBody>
      </p:sp>
      <p:sp>
        <p:nvSpPr>
          <p:cNvPr id="1614" name="Text 66"/>
          <p:cNvSpPr txBox="1"/>
          <p:nvPr/>
        </p:nvSpPr>
        <p:spPr>
          <a:xfrm>
            <a:off x="4875953" y="4877444"/>
            <a:ext cx="16817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a </a:t>
            </a:r>
          </a:p>
        </p:txBody>
      </p:sp>
      <p:sp>
        <p:nvSpPr>
          <p:cNvPr id="1615" name="Text 67"/>
          <p:cNvSpPr txBox="1"/>
          <p:nvPr/>
        </p:nvSpPr>
        <p:spPr>
          <a:xfrm>
            <a:off x="4993321" y="4877444"/>
            <a:ext cx="112763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synchronized </a:t>
            </a:r>
          </a:p>
        </p:txBody>
      </p:sp>
      <p:sp>
        <p:nvSpPr>
          <p:cNvPr id="1616" name="Text 68"/>
          <p:cNvSpPr txBox="1"/>
          <p:nvPr/>
        </p:nvSpPr>
        <p:spPr>
          <a:xfrm>
            <a:off x="812800" y="5093965"/>
            <a:ext cx="73353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container </a:t>
            </a:r>
          </a:p>
        </p:txBody>
      </p:sp>
      <p:sp>
        <p:nvSpPr>
          <p:cNvPr id="1617" name="Text 69"/>
          <p:cNvSpPr txBox="1"/>
          <p:nvPr/>
        </p:nvSpPr>
        <p:spPr>
          <a:xfrm>
            <a:off x="1495531" y="5093965"/>
            <a:ext cx="100986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(“thread-safe </a:t>
            </a:r>
          </a:p>
        </p:txBody>
      </p:sp>
      <p:sp>
        <p:nvSpPr>
          <p:cNvPr id="1618" name="Text 70"/>
          <p:cNvSpPr txBox="1"/>
          <p:nvPr/>
        </p:nvSpPr>
        <p:spPr>
          <a:xfrm>
            <a:off x="2454592" y="5093965"/>
            <a:ext cx="25050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by </a:t>
            </a:r>
          </a:p>
        </p:txBody>
      </p:sp>
      <p:sp>
        <p:nvSpPr>
          <p:cNvPr id="1619" name="Text 71"/>
          <p:cNvSpPr txBox="1"/>
          <p:nvPr/>
        </p:nvSpPr>
        <p:spPr>
          <a:xfrm>
            <a:off x="2654300" y="5093965"/>
            <a:ext cx="1106806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construction”). </a:t>
            </a:r>
          </a:p>
        </p:txBody>
      </p:sp>
      <p:sp>
        <p:nvSpPr>
          <p:cNvPr id="1620" name="Text 72"/>
          <p:cNvSpPr txBox="1"/>
          <p:nvPr/>
        </p:nvSpPr>
        <p:spPr>
          <a:xfrm>
            <a:off x="3710304" y="5093965"/>
            <a:ext cx="611189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Verified </a:t>
            </a:r>
          </a:p>
        </p:txBody>
      </p:sp>
      <p:sp>
        <p:nvSpPr>
          <p:cNvPr id="1621" name="Text 73"/>
          <p:cNvSpPr txBox="1"/>
          <p:nvPr/>
        </p:nvSpPr>
        <p:spPr>
          <a:xfrm>
            <a:off x="4270692" y="5093965"/>
            <a:ext cx="38195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with </a:t>
            </a:r>
          </a:p>
        </p:txBody>
      </p:sp>
      <p:sp>
        <p:nvSpPr>
          <p:cNvPr id="1622" name="Text 74"/>
          <p:cNvSpPr txBox="1"/>
          <p:nvPr/>
        </p:nvSpPr>
        <p:spPr>
          <a:xfrm>
            <a:off x="4601845" y="5093965"/>
            <a:ext cx="159778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pytest-run-parallel.</a:t>
            </a:r>
          </a:p>
        </p:txBody>
      </p:sp>
      <p:sp>
        <p:nvSpPr>
          <p:cNvPr id="1623" name="Shape 75"/>
          <p:cNvSpPr/>
          <p:nvPr/>
        </p:nvSpPr>
        <p:spPr>
          <a:xfrm>
            <a:off x="6553200" y="3495030"/>
            <a:ext cx="4826000" cy="2092961"/>
          </a:xfrm>
          <a:prstGeom prst="rect">
            <a:avLst/>
          </a:prstGeom>
          <a:solidFill>
            <a:srgbClr val="F6F5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24" name="Text 76"/>
          <p:cNvSpPr txBox="1"/>
          <p:nvPr/>
        </p:nvSpPr>
        <p:spPr>
          <a:xfrm>
            <a:off x="7874000" y="3495030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Rust</a:t>
            </a:r>
          </a:p>
        </p:txBody>
      </p:sp>
      <p:sp>
        <p:nvSpPr>
          <p:cNvPr id="1625" name="Text 77"/>
          <p:cNvSpPr txBox="1"/>
          <p:nvPr/>
        </p:nvSpPr>
        <p:spPr>
          <a:xfrm>
            <a:off x="9683750" y="3495030"/>
            <a:ext cx="167005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1626" name="Text 78"/>
          <p:cNvSpPr txBox="1"/>
          <p:nvPr/>
        </p:nvSpPr>
        <p:spPr>
          <a:xfrm>
            <a:off x="6553200" y="37973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Who holds it?</a:t>
            </a:r>
          </a:p>
        </p:txBody>
      </p:sp>
      <p:grpSp>
        <p:nvGrpSpPr>
          <p:cNvPr id="1629" name="Text 79"/>
          <p:cNvGrpSpPr/>
          <p:nvPr/>
        </p:nvGrpSpPr>
        <p:grpSpPr>
          <a:xfrm>
            <a:off x="7804150" y="3752850"/>
            <a:ext cx="1758950" cy="317500"/>
            <a:chOff x="0" y="0"/>
            <a:chExt cx="1758950" cy="317500"/>
          </a:xfrm>
        </p:grpSpPr>
        <p:sp>
          <p:nvSpPr>
            <p:cNvPr id="1627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628" name="owner · &amp; · &amp;mut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owner · &amp; · &amp;mut</a:t>
              </a:r>
            </a:p>
          </p:txBody>
        </p:sp>
      </p:grpSp>
      <p:grpSp>
        <p:nvGrpSpPr>
          <p:cNvPr id="1632" name="Text 80"/>
          <p:cNvGrpSpPr/>
          <p:nvPr/>
        </p:nvGrpSpPr>
        <p:grpSpPr>
          <a:xfrm>
            <a:off x="9613900" y="3752850"/>
            <a:ext cx="1758950" cy="317500"/>
            <a:chOff x="0" y="0"/>
            <a:chExt cx="1758950" cy="317500"/>
          </a:xfrm>
        </p:grpSpPr>
        <p:sp>
          <p:nvSpPr>
            <p:cNvPr id="1630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E8EEF8"/>
            </a:solidFill>
            <a:ln w="127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631" name="a mental reflex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/>
              </a:lvl1pPr>
            </a:lstStyle>
            <a:p>
              <a:pPr/>
              <a:r>
                <a:t>a mental reflex</a:t>
              </a:r>
            </a:p>
          </p:txBody>
        </p:sp>
      </p:grpSp>
      <p:sp>
        <p:nvSpPr>
          <p:cNvPr id="1633" name="Text 81"/>
          <p:cNvSpPr txBox="1"/>
          <p:nvPr/>
        </p:nvSpPr>
        <p:spPr>
          <a:xfrm>
            <a:off x="6553200" y="4165600"/>
            <a:ext cx="12573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Is it mutated?</a:t>
            </a:r>
          </a:p>
        </p:txBody>
      </p:sp>
      <p:grpSp>
        <p:nvGrpSpPr>
          <p:cNvPr id="1636" name="Text 82"/>
          <p:cNvGrpSpPr/>
          <p:nvPr/>
        </p:nvGrpSpPr>
        <p:grpSpPr>
          <a:xfrm>
            <a:off x="7804150" y="4121150"/>
            <a:ext cx="1758950" cy="520700"/>
            <a:chOff x="0" y="0"/>
            <a:chExt cx="1758950" cy="520700"/>
          </a:xfrm>
        </p:grpSpPr>
        <p:sp>
          <p:nvSpPr>
            <p:cNvPr id="1634" name="圓角矩形"/>
            <p:cNvSpPr/>
            <p:nvPr/>
          </p:nvSpPr>
          <p:spPr>
            <a:xfrm>
              <a:off x="0" y="0"/>
              <a:ext cx="1758950" cy="520700"/>
            </a:xfrm>
            <a:prstGeom prst="roundRect">
              <a:avLst>
                <a:gd name="adj" fmla="val 6098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635" name="mut · &amp;mut ·…"/>
            <p:cNvSpPr txBox="1"/>
            <p:nvPr/>
          </p:nvSpPr>
          <p:spPr>
            <a:xfrm>
              <a:off x="66450" y="41049"/>
              <a:ext cx="1676850" cy="453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/>
            <a:p>
              <a: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pPr>
              <a:r>
                <a:t>mut · &amp;mut ·</a:t>
              </a:r>
            </a:p>
            <a:p>
              <a: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pPr>
              <a:r>
                <a:t>Mutex / Atomic</a:t>
              </a:r>
            </a:p>
          </p:txBody>
        </p:sp>
      </p:grpSp>
      <p:grpSp>
        <p:nvGrpSpPr>
          <p:cNvPr id="1639" name="Text 83"/>
          <p:cNvGrpSpPr/>
          <p:nvPr/>
        </p:nvGrpSpPr>
        <p:grpSpPr>
          <a:xfrm>
            <a:off x="9613900" y="4121150"/>
            <a:ext cx="1758950" cy="520700"/>
            <a:chOff x="0" y="0"/>
            <a:chExt cx="1758950" cy="520700"/>
          </a:xfrm>
        </p:grpSpPr>
        <p:sp>
          <p:nvSpPr>
            <p:cNvPr id="1637" name="圓角矩形"/>
            <p:cNvSpPr/>
            <p:nvPr/>
          </p:nvSpPr>
          <p:spPr>
            <a:xfrm>
              <a:off x="0" y="0"/>
              <a:ext cx="1758950" cy="520700"/>
            </a:xfrm>
            <a:prstGeom prst="roundRect">
              <a:avLst>
                <a:gd name="adj" fmla="val 6098"/>
              </a:avLst>
            </a:prstGeom>
            <a:solidFill>
              <a:srgbClr val="E8EEF8"/>
            </a:solidFill>
            <a:ln w="127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638" name="API encapsulation"/>
            <p:cNvSpPr txBox="1"/>
            <p:nvPr/>
          </p:nvSpPr>
          <p:spPr>
            <a:xfrm>
              <a:off x="66450" y="41049"/>
              <a:ext cx="1676850" cy="4386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/>
              </a:lvl1pPr>
            </a:lstStyle>
            <a:p>
              <a:pPr/>
              <a:r>
                <a:t>API encapsulation</a:t>
              </a:r>
            </a:p>
          </p:txBody>
        </p:sp>
      </p:grpSp>
      <p:sp>
        <p:nvSpPr>
          <p:cNvPr id="1640" name="Text 84"/>
          <p:cNvSpPr txBox="1"/>
          <p:nvPr/>
        </p:nvSpPr>
        <p:spPr>
          <a:xfrm>
            <a:off x="6553200" y="4737100"/>
            <a:ext cx="1257300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Across threads</a:t>
            </a:r>
          </a:p>
        </p:txBody>
      </p:sp>
      <p:grpSp>
        <p:nvGrpSpPr>
          <p:cNvPr id="1643" name="Text 85"/>
          <p:cNvGrpSpPr/>
          <p:nvPr/>
        </p:nvGrpSpPr>
        <p:grpSpPr>
          <a:xfrm>
            <a:off x="7804150" y="4692650"/>
            <a:ext cx="1758950" cy="317500"/>
            <a:chOff x="0" y="0"/>
            <a:chExt cx="1758950" cy="317500"/>
          </a:xfrm>
        </p:grpSpPr>
        <p:sp>
          <p:nvSpPr>
            <p:cNvPr id="1641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642" name="Send · Sync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>
                  <a:latin typeface="JetBrains Mono Regular"/>
                  <a:ea typeface="JetBrains Mono Regular"/>
                  <a:cs typeface="JetBrains Mono Regular"/>
                  <a:sym typeface="JetBrains Mono Regular"/>
                </a:defRPr>
              </a:lvl1pPr>
            </a:lstStyle>
            <a:p>
              <a:pPr/>
              <a:r>
                <a:t>Send · Sync</a:t>
              </a:r>
            </a:p>
          </p:txBody>
        </p:sp>
      </p:grpSp>
      <p:grpSp>
        <p:nvGrpSpPr>
          <p:cNvPr id="1646" name="Text 86"/>
          <p:cNvGrpSpPr/>
          <p:nvPr/>
        </p:nvGrpSpPr>
        <p:grpSpPr>
          <a:xfrm>
            <a:off x="9613900" y="4692650"/>
            <a:ext cx="1758950" cy="317500"/>
            <a:chOff x="0" y="0"/>
            <a:chExt cx="1758950" cy="317500"/>
          </a:xfrm>
        </p:grpSpPr>
        <p:sp>
          <p:nvSpPr>
            <p:cNvPr id="1644" name="圓角矩形"/>
            <p:cNvSpPr/>
            <p:nvPr/>
          </p:nvSpPr>
          <p:spPr>
            <a:xfrm>
              <a:off x="0" y="0"/>
              <a:ext cx="1758950" cy="317500"/>
            </a:xfrm>
            <a:prstGeom prst="roundRect">
              <a:avLst>
                <a:gd name="adj" fmla="val 10000"/>
              </a:avLst>
            </a:prstGeom>
            <a:solidFill>
              <a:srgbClr val="E8EEF8"/>
            </a:solidFill>
            <a:ln w="127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645" name="a shared vocabulary"/>
            <p:cNvSpPr txBox="1"/>
            <p:nvPr/>
          </p:nvSpPr>
          <p:spPr>
            <a:xfrm>
              <a:off x="66448" y="41048"/>
              <a:ext cx="1676854" cy="2557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451" tIns="22451" rIns="22451" bIns="22451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/>
              </a:lvl1pPr>
            </a:lstStyle>
            <a:p>
              <a:pPr/>
              <a:r>
                <a:t>a shared vocabulary</a:t>
              </a:r>
            </a:p>
          </p:txBody>
        </p:sp>
      </p:grpSp>
      <p:sp>
        <p:nvSpPr>
          <p:cNvPr id="1647" name="Text 87"/>
          <p:cNvSpPr txBox="1"/>
          <p:nvPr/>
        </p:nvSpPr>
        <p:spPr>
          <a:xfrm>
            <a:off x="6553200" y="5105400"/>
            <a:ext cx="12573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500"/>
              </a:lnSpc>
              <a:defRPr sz="1200">
                <a:solidFill>
                  <a:srgbClr val="3A404B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At the Python boundary</a:t>
            </a:r>
          </a:p>
        </p:txBody>
      </p:sp>
      <p:grpSp>
        <p:nvGrpSpPr>
          <p:cNvPr id="1650" name="Text 88"/>
          <p:cNvGrpSpPr/>
          <p:nvPr/>
        </p:nvGrpSpPr>
        <p:grpSpPr>
          <a:xfrm>
            <a:off x="7804150" y="5060950"/>
            <a:ext cx="3568700" cy="520700"/>
            <a:chOff x="0" y="0"/>
            <a:chExt cx="3568700" cy="520700"/>
          </a:xfrm>
        </p:grpSpPr>
        <p:sp>
          <p:nvSpPr>
            <p:cNvPr id="1648" name="圓角矩形"/>
            <p:cNvSpPr/>
            <p:nvPr/>
          </p:nvSpPr>
          <p:spPr>
            <a:xfrm>
              <a:off x="0" y="0"/>
              <a:ext cx="3568700" cy="520700"/>
            </a:xfrm>
            <a:prstGeom prst="roundRect">
              <a:avLst>
                <a:gd name="adj" fmla="val 6098"/>
              </a:avLst>
            </a:prstGeom>
            <a:solidFill>
              <a:srgbClr val="FBEDE5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1500"/>
                </a:lnSpc>
                <a:defRPr sz="1200"/>
              </a:pPr>
            </a:p>
          </p:txBody>
        </p:sp>
        <p:sp>
          <p:nvSpPr>
            <p:cNvPr id="1649" name="Sync required · runtime borrow check · Ungil"/>
            <p:cNvSpPr txBox="1"/>
            <p:nvPr/>
          </p:nvSpPr>
          <p:spPr>
            <a:xfrm>
              <a:off x="88901" y="63500"/>
              <a:ext cx="3464150" cy="393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rmAutofit fontScale="100000" lnSpcReduction="0"/>
            </a:bodyPr>
            <a:lstStyle>
              <a:lvl1pPr>
                <a:lnSpc>
                  <a:spcPts val="1500"/>
                </a:lnSpc>
                <a:defRPr sz="1200"/>
              </a:lvl1pPr>
            </a:lstStyle>
            <a:p>
              <a:pPr/>
              <a:r>
                <a:t>Sync required · runtime borrow check · Ungil</a:t>
              </a:r>
            </a:p>
          </p:txBody>
        </p:sp>
      </p:grpSp>
      <p:sp>
        <p:nvSpPr>
          <p:cNvPr id="1651" name="Shape 89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2" name="Text 90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PyO3 asks both questions for every object exposed to Python. Memory layer, guarded by PyO3.</a:t>
            </a:r>
          </a:p>
        </p:txBody>
      </p:sp>
      <p:sp>
        <p:nvSpPr>
          <p:cNvPr id="1653" name="Text 91"/>
          <p:cNvSpPr txBox="1"/>
          <p:nvPr/>
        </p:nvSpPr>
        <p:spPr>
          <a:xfrm>
            <a:off x="812799" y="6238230"/>
            <a:ext cx="1088339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Source: results/borrow_checker_probe_2026-10-11.txt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Side 3: your callback, and who guards which half</a:t>
            </a:r>
          </a:p>
        </p:txBody>
      </p:sp>
      <p:sp>
        <p:nvSpPr>
          <p:cNvPr id="1656" name="Text 1"/>
          <p:cNvSpPr txBox="1"/>
          <p:nvPr/>
        </p:nvSpPr>
        <p:spPr>
          <a:xfrm>
            <a:off x="812799" y="1992313"/>
            <a:ext cx="10883394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900"/>
              </a:lnSpc>
              <a:defRPr sz="1400"/>
            </a:pPr>
            <a:r>
              <a:t>Side 3 · Your Python callback: memory is guarded by CPython (per-object locks), but </a:t>
            </a:r>
            <a:r>
              <a:rPr>
                <a:latin typeface="IBM Plex Sans Bold"/>
                <a:ea typeface="IBM Plex Sans Bold"/>
                <a:cs typeface="IBM Plex Sans Bold"/>
                <a:sym typeface="IBM Plex Sans Bold"/>
              </a:rPr>
              <a:t>logic is guarded by nobody.</a:t>
            </a:r>
          </a:p>
        </p:txBody>
      </p:sp>
      <p:sp>
        <p:nvSpPr>
          <p:cNvPr id="1657" name="Shape 2"/>
          <p:cNvSpPr/>
          <p:nvPr/>
        </p:nvSpPr>
        <p:spPr>
          <a:xfrm>
            <a:off x="815975" y="2396802"/>
            <a:ext cx="3393017" cy="1644651"/>
          </a:xfrm>
          <a:prstGeom prst="roundRect">
            <a:avLst>
              <a:gd name="adj" fmla="val 5985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8" name="Text 3"/>
          <p:cNvSpPr txBox="1"/>
          <p:nvPr/>
        </p:nvSpPr>
        <p:spPr>
          <a:xfrm>
            <a:off x="1009650" y="2590477"/>
            <a:ext cx="3095838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6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C Extension Authors</a:t>
            </a:r>
          </a:p>
        </p:txBody>
      </p:sp>
      <p:sp>
        <p:nvSpPr>
          <p:cNvPr id="1659" name="Text 4"/>
          <p:cNvSpPr txBox="1"/>
          <p:nvPr/>
        </p:nvSpPr>
        <p:spPr>
          <a:xfrm>
            <a:off x="1009650" y="2923232"/>
            <a:ext cx="45487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Must </a:t>
            </a:r>
          </a:p>
        </p:txBody>
      </p:sp>
      <p:sp>
        <p:nvSpPr>
          <p:cNvPr id="1660" name="Text 5"/>
          <p:cNvSpPr txBox="1"/>
          <p:nvPr/>
        </p:nvSpPr>
        <p:spPr>
          <a:xfrm>
            <a:off x="1413722" y="2923232"/>
            <a:ext cx="46672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audit </a:t>
            </a:r>
          </a:p>
        </p:txBody>
      </p:sp>
      <p:sp>
        <p:nvSpPr>
          <p:cNvPr id="1661" name="Text 6"/>
          <p:cNvSpPr txBox="1"/>
          <p:nvPr/>
        </p:nvSpPr>
        <p:spPr>
          <a:xfrm>
            <a:off x="1829647" y="2923232"/>
            <a:ext cx="26701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by </a:t>
            </a:r>
          </a:p>
        </p:txBody>
      </p:sp>
      <p:sp>
        <p:nvSpPr>
          <p:cNvPr id="1662" name="Text 7"/>
          <p:cNvSpPr txBox="1"/>
          <p:nvPr/>
        </p:nvSpPr>
        <p:spPr>
          <a:xfrm>
            <a:off x="2045864" y="2923232"/>
            <a:ext cx="50609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hand. </a:t>
            </a:r>
          </a:p>
        </p:txBody>
      </p:sp>
      <p:sp>
        <p:nvSpPr>
          <p:cNvPr id="1663" name="Text 8"/>
          <p:cNvSpPr txBox="1"/>
          <p:nvPr/>
        </p:nvSpPr>
        <p:spPr>
          <a:xfrm>
            <a:off x="2501158" y="2923232"/>
            <a:ext cx="68495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Replace </a:t>
            </a:r>
          </a:p>
        </p:txBody>
      </p:sp>
      <p:sp>
        <p:nvSpPr>
          <p:cNvPr id="1664" name="Text 9"/>
          <p:cNvSpPr txBox="1"/>
          <p:nvPr/>
        </p:nvSpPr>
        <p:spPr>
          <a:xfrm>
            <a:off x="3135313" y="2923232"/>
            <a:ext cx="90195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borrowed </a:t>
            </a:r>
          </a:p>
        </p:txBody>
      </p:sp>
      <p:sp>
        <p:nvSpPr>
          <p:cNvPr id="1665" name="Text 10"/>
          <p:cNvSpPr txBox="1"/>
          <p:nvPr/>
        </p:nvSpPr>
        <p:spPr>
          <a:xfrm>
            <a:off x="1009650" y="3154363"/>
            <a:ext cx="37401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refs </a:t>
            </a:r>
          </a:p>
        </p:txBody>
      </p:sp>
      <p:sp>
        <p:nvSpPr>
          <p:cNvPr id="1666" name="Text 11"/>
          <p:cNvSpPr txBox="1"/>
          <p:nvPr/>
        </p:nvSpPr>
        <p:spPr>
          <a:xfrm>
            <a:off x="1332864" y="3154363"/>
            <a:ext cx="40957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with </a:t>
            </a:r>
          </a:p>
        </p:txBody>
      </p:sp>
      <p:sp>
        <p:nvSpPr>
          <p:cNvPr id="1667" name="Text 12"/>
          <p:cNvSpPr txBox="1"/>
          <p:nvPr/>
        </p:nvSpPr>
        <p:spPr>
          <a:xfrm>
            <a:off x="1691639" y="3154363"/>
            <a:ext cx="173482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PyList_GetItemRef</a:t>
            </a:r>
          </a:p>
        </p:txBody>
      </p:sp>
      <p:sp>
        <p:nvSpPr>
          <p:cNvPr id="1668" name="Text 13"/>
          <p:cNvSpPr txBox="1"/>
          <p:nvPr/>
        </p:nvSpPr>
        <p:spPr>
          <a:xfrm>
            <a:off x="3375659" y="3154363"/>
            <a:ext cx="13800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; </a:t>
            </a:r>
          </a:p>
        </p:txBody>
      </p:sp>
      <p:sp>
        <p:nvSpPr>
          <p:cNvPr id="1669" name="Text 14"/>
          <p:cNvSpPr txBox="1"/>
          <p:nvPr/>
        </p:nvSpPr>
        <p:spPr>
          <a:xfrm>
            <a:off x="1009650" y="3385492"/>
            <a:ext cx="866033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remember </a:t>
            </a:r>
          </a:p>
        </p:txBody>
      </p:sp>
      <p:sp>
        <p:nvSpPr>
          <p:cNvPr id="1670" name="Text 15"/>
          <p:cNvSpPr txBox="1"/>
          <p:nvPr/>
        </p:nvSpPr>
        <p:spPr>
          <a:xfrm>
            <a:off x="1824883" y="3385492"/>
            <a:ext cx="204063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Py_mod_gil_not_used </a:t>
            </a:r>
          </a:p>
        </p:txBody>
      </p:sp>
      <p:sp>
        <p:nvSpPr>
          <p:cNvPr id="1671" name="Text 16"/>
          <p:cNvSpPr txBox="1"/>
          <p:nvPr/>
        </p:nvSpPr>
        <p:spPr>
          <a:xfrm>
            <a:off x="3806083" y="3385492"/>
            <a:ext cx="21145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is </a:t>
            </a:r>
          </a:p>
        </p:txBody>
      </p:sp>
      <p:sp>
        <p:nvSpPr>
          <p:cNvPr id="1672" name="Text 17"/>
          <p:cNvSpPr txBox="1"/>
          <p:nvPr/>
        </p:nvSpPr>
        <p:spPr>
          <a:xfrm>
            <a:off x="1009650" y="3616647"/>
            <a:ext cx="36205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just </a:t>
            </a:r>
          </a:p>
        </p:txBody>
      </p:sp>
      <p:sp>
        <p:nvSpPr>
          <p:cNvPr id="1673" name="Text 18"/>
          <p:cNvSpPr txBox="1"/>
          <p:nvPr/>
        </p:nvSpPr>
        <p:spPr>
          <a:xfrm>
            <a:off x="1320906" y="3616647"/>
            <a:ext cx="17790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 </a:t>
            </a:r>
          </a:p>
        </p:txBody>
      </p:sp>
      <p:sp>
        <p:nvSpPr>
          <p:cNvPr id="1674" name="Text 19"/>
          <p:cNvSpPr txBox="1"/>
          <p:nvPr/>
        </p:nvSpPr>
        <p:spPr>
          <a:xfrm>
            <a:off x="1448012" y="3616647"/>
            <a:ext cx="73586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promise, </a:t>
            </a:r>
          </a:p>
        </p:txBody>
      </p:sp>
      <p:sp>
        <p:nvSpPr>
          <p:cNvPr id="1675" name="Text 20"/>
          <p:cNvSpPr txBox="1"/>
          <p:nvPr/>
        </p:nvSpPr>
        <p:spPr>
          <a:xfrm>
            <a:off x="2133070" y="3616647"/>
            <a:ext cx="33401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not </a:t>
            </a:r>
          </a:p>
        </p:txBody>
      </p:sp>
      <p:sp>
        <p:nvSpPr>
          <p:cNvPr id="1676" name="Text 21"/>
          <p:cNvSpPr txBox="1"/>
          <p:nvPr/>
        </p:nvSpPr>
        <p:spPr>
          <a:xfrm>
            <a:off x="2416281" y="3616647"/>
            <a:ext cx="17790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a </a:t>
            </a:r>
          </a:p>
        </p:txBody>
      </p:sp>
      <p:sp>
        <p:nvSpPr>
          <p:cNvPr id="1677" name="Text 22"/>
          <p:cNvSpPr txBox="1"/>
          <p:nvPr/>
        </p:nvSpPr>
        <p:spPr>
          <a:xfrm>
            <a:off x="2543387" y="3616647"/>
            <a:ext cx="74157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compiler </a:t>
            </a:r>
          </a:p>
        </p:txBody>
      </p:sp>
      <p:sp>
        <p:nvSpPr>
          <p:cNvPr id="1678" name="Text 23"/>
          <p:cNvSpPr txBox="1"/>
          <p:nvPr/>
        </p:nvSpPr>
        <p:spPr>
          <a:xfrm>
            <a:off x="3234160" y="3616647"/>
            <a:ext cx="57886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check.</a:t>
            </a:r>
          </a:p>
        </p:txBody>
      </p:sp>
      <p:sp>
        <p:nvSpPr>
          <p:cNvPr id="1679" name="Shape 24"/>
          <p:cNvSpPr/>
          <p:nvPr/>
        </p:nvSpPr>
        <p:spPr>
          <a:xfrm>
            <a:off x="4393141" y="2396802"/>
            <a:ext cx="3393018" cy="1644651"/>
          </a:xfrm>
          <a:prstGeom prst="roundRect">
            <a:avLst>
              <a:gd name="adj" fmla="val 5985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0" name="Text 25"/>
          <p:cNvSpPr txBox="1"/>
          <p:nvPr/>
        </p:nvSpPr>
        <p:spPr>
          <a:xfrm>
            <a:off x="4586816" y="2590477"/>
            <a:ext cx="3095838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600">
                <a:solidFill>
                  <a:schemeClr val="accent2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PyO3 (Rust) Authors</a:t>
            </a:r>
          </a:p>
        </p:txBody>
      </p:sp>
      <p:sp>
        <p:nvSpPr>
          <p:cNvPr id="1681" name="Text 26"/>
          <p:cNvSpPr txBox="1"/>
          <p:nvPr/>
        </p:nvSpPr>
        <p:spPr>
          <a:xfrm>
            <a:off x="4586816" y="2923232"/>
            <a:ext cx="3095838" cy="718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The type system and runtime borrow checker handle most of the memory audit for you (Side 2).</a:t>
            </a:r>
          </a:p>
        </p:txBody>
      </p:sp>
      <p:sp>
        <p:nvSpPr>
          <p:cNvPr id="1682" name="Shape 27"/>
          <p:cNvSpPr/>
          <p:nvPr/>
        </p:nvSpPr>
        <p:spPr>
          <a:xfrm>
            <a:off x="7973483" y="2399977"/>
            <a:ext cx="3399367" cy="1638301"/>
          </a:xfrm>
          <a:prstGeom prst="roundRect">
            <a:avLst>
              <a:gd name="adj" fmla="val 5814"/>
            </a:avLst>
          </a:prstGeom>
          <a:solidFill>
            <a:schemeClr val="accent5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3" name="Text 28"/>
          <p:cNvSpPr txBox="1"/>
          <p:nvPr/>
        </p:nvSpPr>
        <p:spPr>
          <a:xfrm>
            <a:off x="8170333" y="2596827"/>
            <a:ext cx="3095838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600">
                <a:solidFill>
                  <a:schemeClr val="accent1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You (Python Developers)</a:t>
            </a:r>
          </a:p>
        </p:txBody>
      </p:sp>
      <p:sp>
        <p:nvSpPr>
          <p:cNvPr id="1684" name="Text 29"/>
          <p:cNvSpPr txBox="1"/>
          <p:nvPr/>
        </p:nvSpPr>
        <p:spPr>
          <a:xfrm>
            <a:off x="8170333" y="2929582"/>
            <a:ext cx="3095838" cy="718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/>
            </a:lvl1pPr>
          </a:lstStyle>
          <a:p>
            <a:pPr/>
            <a:r>
              <a:t>Guard the shared state inside your callbacks, using the three questions and API encapsulation.</a:t>
            </a:r>
          </a:p>
        </p:txBody>
      </p:sp>
      <p:sp>
        <p:nvSpPr>
          <p:cNvPr id="1685" name="Shape 30"/>
          <p:cNvSpPr/>
          <p:nvPr/>
        </p:nvSpPr>
        <p:spPr>
          <a:xfrm>
            <a:off x="812800" y="4197027"/>
            <a:ext cx="4447012" cy="343536"/>
          </a:xfrm>
          <a:prstGeom prst="roundRect">
            <a:avLst>
              <a:gd name="adj" fmla="val 11091"/>
            </a:avLst>
          </a:prstGeom>
          <a:solidFill>
            <a:srgbClr val="EEF2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6" name="Shape 31"/>
          <p:cNvSpPr/>
          <p:nvPr/>
        </p:nvSpPr>
        <p:spPr>
          <a:xfrm>
            <a:off x="812799" y="4197027"/>
            <a:ext cx="38101" cy="3435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9671" y="21600"/>
                  <a:pt x="0" y="20527"/>
                  <a:pt x="0" y="19204"/>
                </a:cubicBezTo>
                <a:lnTo>
                  <a:pt x="0" y="2396"/>
                </a:lnTo>
                <a:cubicBezTo>
                  <a:pt x="0" y="1073"/>
                  <a:pt x="9671" y="0"/>
                  <a:pt x="21600" y="0"/>
                </a:cubicBezTo>
                <a:cubicBezTo>
                  <a:pt x="17624" y="0"/>
                  <a:pt x="14400" y="1073"/>
                  <a:pt x="14400" y="2396"/>
                </a:cubicBezTo>
                <a:lnTo>
                  <a:pt x="14400" y="19204"/>
                </a:lnTo>
                <a:cubicBezTo>
                  <a:pt x="14400" y="20527"/>
                  <a:pt x="17624" y="21600"/>
                  <a:pt x="2160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7" name="Text 32"/>
          <p:cNvSpPr txBox="1"/>
          <p:nvPr/>
        </p:nvSpPr>
        <p:spPr>
          <a:xfrm>
            <a:off x="965200" y="4263702"/>
            <a:ext cx="101600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from Act I</a:t>
            </a:r>
          </a:p>
        </p:txBody>
      </p:sp>
      <p:sp>
        <p:nvSpPr>
          <p:cNvPr id="1688" name="Text 33"/>
          <p:cNvSpPr txBox="1"/>
          <p:nvPr/>
        </p:nvSpPr>
        <p:spPr>
          <a:xfrm>
            <a:off x="1981200" y="4260527"/>
            <a:ext cx="327861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“Supports free-threading” is not “thread-safe”.</a:t>
            </a:r>
          </a:p>
        </p:txBody>
      </p:sp>
      <p:sp>
        <p:nvSpPr>
          <p:cNvPr id="1689" name="Text 34"/>
          <p:cNvSpPr txBox="1"/>
          <p:nvPr/>
        </p:nvSpPr>
        <p:spPr>
          <a:xfrm>
            <a:off x="812799" y="4692972"/>
            <a:ext cx="1088339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When a package declares free-threading support, it means it finished its half of the job, under its documented rules.</a:t>
            </a:r>
          </a:p>
        </p:txBody>
      </p:sp>
      <p:sp>
        <p:nvSpPr>
          <p:cNvPr id="1690" name="Shape 35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1" name="Text 36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Every side has a guardian for memory: rustc, PyO3, CPython. None has one for logic. That half is yours.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Text 0"/>
          <p:cNvSpPr txBox="1"/>
          <p:nvPr/>
        </p:nvSpPr>
        <p:spPr>
          <a:xfrm>
            <a:off x="863600" y="1630684"/>
            <a:ext cx="10464800" cy="807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algn="ctr">
              <a:lnSpc>
                <a:spcPts val="3000"/>
              </a:lnSpc>
              <a:defRPr spc="-100" sz="2800">
                <a:solidFill>
                  <a:schemeClr val="accent3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Who else holds this?</a:t>
            </a:r>
          </a:p>
          <a:p>
            <a:pPr algn="ctr">
              <a:lnSpc>
                <a:spcPts val="3000"/>
              </a:lnSpc>
              <a:defRPr spc="-100" sz="2800">
                <a:solidFill>
                  <a:schemeClr val="accent3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Is anyone changing it?</a:t>
            </a:r>
          </a:p>
        </p:txBody>
      </p:sp>
      <p:sp>
        <p:nvSpPr>
          <p:cNvPr id="1694" name="Text 1"/>
          <p:cNvSpPr txBox="1"/>
          <p:nvPr/>
        </p:nvSpPr>
        <p:spPr>
          <a:xfrm>
            <a:off x="1016000" y="2783830"/>
            <a:ext cx="8763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chemeClr val="accent6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Act I</a:t>
            </a:r>
          </a:p>
        </p:txBody>
      </p:sp>
      <p:sp>
        <p:nvSpPr>
          <p:cNvPr id="1695" name="Text 2"/>
          <p:cNvSpPr txBox="1"/>
          <p:nvPr/>
        </p:nvSpPr>
        <p:spPr>
          <a:xfrm>
            <a:off x="1993900" y="2768600"/>
            <a:ext cx="9457564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A9B0BC"/>
                </a:solidFill>
              </a:defRPr>
            </a:lvl1pPr>
          </a:lstStyle>
          <a:p>
            <a:pPr/>
            <a:r>
              <a:t>Python never required the two questions, so we stopped asking.</a:t>
            </a:r>
          </a:p>
        </p:txBody>
      </p:sp>
      <p:sp>
        <p:nvSpPr>
          <p:cNvPr id="1696" name="Text 3"/>
          <p:cNvSpPr txBox="1"/>
          <p:nvPr/>
        </p:nvSpPr>
        <p:spPr>
          <a:xfrm>
            <a:off x="1016000" y="3121669"/>
            <a:ext cx="8763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E8865A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Act II</a:t>
            </a:r>
          </a:p>
        </p:txBody>
      </p:sp>
      <p:sp>
        <p:nvSpPr>
          <p:cNvPr id="1697" name="Text 4"/>
          <p:cNvSpPr txBox="1"/>
          <p:nvPr/>
        </p:nvSpPr>
        <p:spPr>
          <a:xfrm>
            <a:off x="1993900" y="3106415"/>
            <a:ext cx="9457564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A9B0BC"/>
                </a:solidFill>
              </a:defRPr>
            </a:lvl1pPr>
          </a:lstStyle>
          <a:p>
            <a:pPr/>
            <a:r>
              <a:t>Rust's type system asks them for every value, and we brought that mindset home.</a:t>
            </a:r>
          </a:p>
        </p:txBody>
      </p:sp>
      <p:sp>
        <p:nvSpPr>
          <p:cNvPr id="1698" name="Text 5"/>
          <p:cNvSpPr txBox="1"/>
          <p:nvPr/>
        </p:nvSpPr>
        <p:spPr>
          <a:xfrm>
            <a:off x="1016000" y="3459484"/>
            <a:ext cx="87630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4FC2AE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Act III</a:t>
            </a:r>
          </a:p>
        </p:txBody>
      </p:sp>
      <p:sp>
        <p:nvSpPr>
          <p:cNvPr id="1699" name="Text 6"/>
          <p:cNvSpPr txBox="1"/>
          <p:nvPr/>
        </p:nvSpPr>
        <p:spPr>
          <a:xfrm>
            <a:off x="1993900" y="3444230"/>
            <a:ext cx="9457564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A9B0BC"/>
                </a:solidFill>
              </a:defRPr>
            </a:lvl1pPr>
          </a:lstStyle>
          <a:p>
            <a:pPr/>
            <a:r>
              <a:t>Across the boundary: rustc, PyO3, and CPython guard memory. Logic is on you.</a:t>
            </a:r>
          </a:p>
        </p:txBody>
      </p:sp>
      <p:sp>
        <p:nvSpPr>
          <p:cNvPr id="1700" name="Text 7"/>
          <p:cNvSpPr txBox="1"/>
          <p:nvPr/>
        </p:nvSpPr>
        <p:spPr>
          <a:xfrm>
            <a:off x="863600" y="4048769"/>
            <a:ext cx="10464800" cy="1000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algn="ctr">
              <a:lnSpc>
                <a:spcPts val="3800"/>
              </a:lnSpc>
              <a:defRPr spc="-100" sz="3200">
                <a:solidFill>
                  <a:srgbClr val="F1EFE8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Free-threaded builds open the door to parallelism,</a:t>
            </a:r>
          </a:p>
          <a:p>
            <a:pPr algn="ctr">
              <a:lnSpc>
                <a:spcPts val="3800"/>
              </a:lnSpc>
              <a:defRPr spc="-100" sz="3200">
                <a:solidFill>
                  <a:schemeClr val="accent3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but they don't protect you once you walk through it.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Text 0"/>
          <p:cNvSpPr txBox="1"/>
          <p:nvPr>
            <p:ph type="title"/>
          </p:nvPr>
        </p:nvSpPr>
        <p:spPr>
          <a:xfrm>
            <a:off x="812799" y="812800"/>
            <a:ext cx="10883394" cy="380682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 sz="25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Defaults worth borrowing</a:t>
            </a:r>
          </a:p>
        </p:txBody>
      </p:sp>
      <p:sp>
        <p:nvSpPr>
          <p:cNvPr id="1703" name="Shape 1"/>
          <p:cNvSpPr/>
          <p:nvPr/>
        </p:nvSpPr>
        <p:spPr>
          <a:xfrm>
            <a:off x="812800" y="1345878"/>
            <a:ext cx="8807979" cy="338879"/>
          </a:xfrm>
          <a:prstGeom prst="roundRect">
            <a:avLst>
              <a:gd name="adj" fmla="val 11243"/>
            </a:avLst>
          </a:prstGeom>
          <a:solidFill>
            <a:srgbClr val="FBEDE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4" name="Shape 2"/>
          <p:cNvSpPr/>
          <p:nvPr/>
        </p:nvSpPr>
        <p:spPr>
          <a:xfrm>
            <a:off x="812800" y="1345878"/>
            <a:ext cx="38101" cy="3388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9671" y="21600"/>
                  <a:pt x="0" y="20513"/>
                  <a:pt x="0" y="19172"/>
                </a:cubicBezTo>
                <a:lnTo>
                  <a:pt x="0" y="2428"/>
                </a:lnTo>
                <a:cubicBezTo>
                  <a:pt x="0" y="1087"/>
                  <a:pt x="9671" y="0"/>
                  <a:pt x="21600" y="0"/>
                </a:cubicBezTo>
                <a:cubicBezTo>
                  <a:pt x="17624" y="0"/>
                  <a:pt x="14400" y="1087"/>
                  <a:pt x="14400" y="2428"/>
                </a:cubicBezTo>
                <a:lnTo>
                  <a:pt x="14400" y="19172"/>
                </a:lnTo>
                <a:cubicBezTo>
                  <a:pt x="14400" y="20513"/>
                  <a:pt x="17624" y="21600"/>
                  <a:pt x="216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5" name="Text 3"/>
          <p:cNvSpPr txBox="1"/>
          <p:nvPr/>
        </p:nvSpPr>
        <p:spPr>
          <a:xfrm>
            <a:off x="965200" y="1412553"/>
            <a:ext cx="110744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from Act II</a:t>
            </a:r>
          </a:p>
        </p:txBody>
      </p:sp>
      <p:sp>
        <p:nvSpPr>
          <p:cNvPr id="1706" name="Text 4"/>
          <p:cNvSpPr txBox="1"/>
          <p:nvPr/>
        </p:nvSpPr>
        <p:spPr>
          <a:xfrm>
            <a:off x="2072639" y="1409378"/>
            <a:ext cx="394548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“Not </a:t>
            </a:r>
          </a:p>
        </p:txBody>
      </p:sp>
      <p:sp>
        <p:nvSpPr>
          <p:cNvPr id="1707" name="Text 5"/>
          <p:cNvSpPr txBox="1"/>
          <p:nvPr/>
        </p:nvSpPr>
        <p:spPr>
          <a:xfrm>
            <a:off x="2416387" y="1409378"/>
            <a:ext cx="555097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shared </a:t>
            </a:r>
          </a:p>
        </p:txBody>
      </p:sp>
      <p:sp>
        <p:nvSpPr>
          <p:cNvPr id="1708" name="Text 6"/>
          <p:cNvSpPr txBox="1"/>
          <p:nvPr/>
        </p:nvSpPr>
        <p:spPr>
          <a:xfrm>
            <a:off x="2920682" y="1409378"/>
            <a:ext cx="519325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unless </a:t>
            </a:r>
          </a:p>
        </p:txBody>
      </p:sp>
      <p:sp>
        <p:nvSpPr>
          <p:cNvPr id="1709" name="Text 7"/>
          <p:cNvSpPr txBox="1"/>
          <p:nvPr/>
        </p:nvSpPr>
        <p:spPr>
          <a:xfrm>
            <a:off x="3389207" y="1409378"/>
            <a:ext cx="68368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wrapped </a:t>
            </a:r>
          </a:p>
        </p:txBody>
      </p:sp>
      <p:sp>
        <p:nvSpPr>
          <p:cNvPr id="1710" name="Text 8"/>
          <p:cNvSpPr txBox="1"/>
          <p:nvPr/>
        </p:nvSpPr>
        <p:spPr>
          <a:xfrm>
            <a:off x="4022090" y="1409378"/>
            <a:ext cx="213149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in </a:t>
            </a:r>
          </a:p>
        </p:txBody>
      </p:sp>
      <p:sp>
        <p:nvSpPr>
          <p:cNvPr id="1711" name="Text 9"/>
          <p:cNvSpPr txBox="1"/>
          <p:nvPr/>
        </p:nvSpPr>
        <p:spPr>
          <a:xfrm>
            <a:off x="4184437" y="1412553"/>
            <a:ext cx="1330962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Arc&lt;Mutex&lt;T&gt;&gt; </a:t>
            </a:r>
          </a:p>
        </p:txBody>
      </p:sp>
      <p:sp>
        <p:nvSpPr>
          <p:cNvPr id="1712" name="Text 10"/>
          <p:cNvSpPr txBox="1"/>
          <p:nvPr/>
        </p:nvSpPr>
        <p:spPr>
          <a:xfrm>
            <a:off x="5464597" y="1409378"/>
            <a:ext cx="134939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· </a:t>
            </a:r>
          </a:p>
        </p:txBody>
      </p:sp>
      <p:sp>
        <p:nvSpPr>
          <p:cNvPr id="1713" name="Text 11"/>
          <p:cNvSpPr txBox="1"/>
          <p:nvPr/>
        </p:nvSpPr>
        <p:spPr>
          <a:xfrm>
            <a:off x="5548736" y="1409378"/>
            <a:ext cx="832063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Immutable </a:t>
            </a:r>
          </a:p>
        </p:txBody>
      </p:sp>
      <p:sp>
        <p:nvSpPr>
          <p:cNvPr id="1714" name="Text 12"/>
          <p:cNvSpPr txBox="1"/>
          <p:nvPr/>
        </p:nvSpPr>
        <p:spPr>
          <a:xfrm>
            <a:off x="6329996" y="1409378"/>
            <a:ext cx="519325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unless </a:t>
            </a:r>
          </a:p>
        </p:txBody>
      </p:sp>
      <p:sp>
        <p:nvSpPr>
          <p:cNvPr id="1715" name="Text 13"/>
          <p:cNvSpPr txBox="1"/>
          <p:nvPr/>
        </p:nvSpPr>
        <p:spPr>
          <a:xfrm>
            <a:off x="6798520" y="1409378"/>
            <a:ext cx="67860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declared </a:t>
            </a:r>
          </a:p>
        </p:txBody>
      </p:sp>
      <p:sp>
        <p:nvSpPr>
          <p:cNvPr id="1716" name="Text 14"/>
          <p:cNvSpPr txBox="1"/>
          <p:nvPr/>
        </p:nvSpPr>
        <p:spPr>
          <a:xfrm>
            <a:off x="7426325" y="1412553"/>
            <a:ext cx="41656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mut </a:t>
            </a:r>
          </a:p>
        </p:txBody>
      </p:sp>
      <p:sp>
        <p:nvSpPr>
          <p:cNvPr id="1717" name="Text 15"/>
          <p:cNvSpPr txBox="1"/>
          <p:nvPr/>
        </p:nvSpPr>
        <p:spPr>
          <a:xfrm>
            <a:off x="7792084" y="1409378"/>
            <a:ext cx="134939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· </a:t>
            </a:r>
          </a:p>
        </p:txBody>
      </p:sp>
      <p:sp>
        <p:nvSpPr>
          <p:cNvPr id="1718" name="Text 16"/>
          <p:cNvSpPr txBox="1"/>
          <p:nvPr/>
        </p:nvSpPr>
        <p:spPr>
          <a:xfrm>
            <a:off x="7876222" y="1409378"/>
            <a:ext cx="33570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The </a:t>
            </a:r>
          </a:p>
        </p:txBody>
      </p:sp>
      <p:sp>
        <p:nvSpPr>
          <p:cNvPr id="1719" name="Text 17"/>
          <p:cNvSpPr txBox="1"/>
          <p:nvPr/>
        </p:nvSpPr>
        <p:spPr>
          <a:xfrm>
            <a:off x="8161125" y="1409378"/>
            <a:ext cx="364279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lock </a:t>
            </a:r>
          </a:p>
        </p:txBody>
      </p:sp>
      <p:sp>
        <p:nvSpPr>
          <p:cNvPr id="1720" name="Text 18"/>
          <p:cNvSpPr txBox="1"/>
          <p:nvPr/>
        </p:nvSpPr>
        <p:spPr>
          <a:xfrm>
            <a:off x="8474603" y="1409378"/>
            <a:ext cx="43783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owns </a:t>
            </a:r>
          </a:p>
        </p:txBody>
      </p:sp>
      <p:sp>
        <p:nvSpPr>
          <p:cNvPr id="1721" name="Text 19"/>
          <p:cNvSpPr txBox="1"/>
          <p:nvPr/>
        </p:nvSpPr>
        <p:spPr>
          <a:xfrm>
            <a:off x="8861636" y="1409378"/>
            <a:ext cx="299615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the </a:t>
            </a:r>
          </a:p>
        </p:txBody>
      </p:sp>
      <p:sp>
        <p:nvSpPr>
          <p:cNvPr id="1722" name="Text 20"/>
          <p:cNvSpPr txBox="1"/>
          <p:nvPr/>
        </p:nvSpPr>
        <p:spPr>
          <a:xfrm>
            <a:off x="9110450" y="1409378"/>
            <a:ext cx="459995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data”</a:t>
            </a:r>
          </a:p>
        </p:txBody>
      </p:sp>
      <p:sp>
        <p:nvSpPr>
          <p:cNvPr id="1723" name="Shape 21"/>
          <p:cNvSpPr/>
          <p:nvPr/>
        </p:nvSpPr>
        <p:spPr>
          <a:xfrm>
            <a:off x="815975" y="1865733"/>
            <a:ext cx="10560050" cy="635953"/>
          </a:xfrm>
          <a:prstGeom prst="roundRect">
            <a:avLst>
              <a:gd name="adj" fmla="val 11483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4" name="Text 22"/>
          <p:cNvSpPr txBox="1"/>
          <p:nvPr/>
        </p:nvSpPr>
        <p:spPr>
          <a:xfrm>
            <a:off x="1022350" y="1988194"/>
            <a:ext cx="355600" cy="416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000"/>
              </a:lnSpc>
              <a:defRPr sz="2200">
                <a:solidFill>
                  <a:schemeClr val="accent4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25" name="Text 23"/>
          <p:cNvSpPr txBox="1"/>
          <p:nvPr/>
        </p:nvSpPr>
        <p:spPr>
          <a:xfrm>
            <a:off x="1504949" y="2037927"/>
            <a:ext cx="9954643" cy="31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200"/>
              </a:lnSpc>
              <a:defRPr sz="17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Shared data: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 make it immutable by default.</a:t>
            </a:r>
          </a:p>
        </p:txBody>
      </p:sp>
      <p:sp>
        <p:nvSpPr>
          <p:cNvPr id="1726" name="Shape 24"/>
          <p:cNvSpPr/>
          <p:nvPr/>
        </p:nvSpPr>
        <p:spPr>
          <a:xfrm>
            <a:off x="815975" y="2596926"/>
            <a:ext cx="10560050" cy="635954"/>
          </a:xfrm>
          <a:prstGeom prst="roundRect">
            <a:avLst>
              <a:gd name="adj" fmla="val 11483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7" name="Text 25"/>
          <p:cNvSpPr txBox="1"/>
          <p:nvPr/>
        </p:nvSpPr>
        <p:spPr>
          <a:xfrm>
            <a:off x="1022350" y="2719388"/>
            <a:ext cx="355600" cy="416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000"/>
              </a:lnSpc>
              <a:defRPr sz="2200">
                <a:solidFill>
                  <a:schemeClr val="accent4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728" name="Text 26"/>
          <p:cNvSpPr txBox="1"/>
          <p:nvPr/>
        </p:nvSpPr>
        <p:spPr>
          <a:xfrm>
            <a:off x="1504949" y="2769121"/>
            <a:ext cx="9954643" cy="31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200"/>
              </a:lnSpc>
              <a:defRPr sz="17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Mutable data: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 bind it to its lock, and expose only complete operations.</a:t>
            </a:r>
          </a:p>
        </p:txBody>
      </p:sp>
      <p:sp>
        <p:nvSpPr>
          <p:cNvPr id="1729" name="Shape 27"/>
          <p:cNvSpPr/>
          <p:nvPr/>
        </p:nvSpPr>
        <p:spPr>
          <a:xfrm>
            <a:off x="815975" y="3328144"/>
            <a:ext cx="10560050" cy="635953"/>
          </a:xfrm>
          <a:prstGeom prst="roundRect">
            <a:avLst>
              <a:gd name="adj" fmla="val 11483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0" name="Text 28"/>
          <p:cNvSpPr txBox="1"/>
          <p:nvPr/>
        </p:nvSpPr>
        <p:spPr>
          <a:xfrm>
            <a:off x="1022350" y="3450580"/>
            <a:ext cx="355600" cy="416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000"/>
              </a:lnSpc>
              <a:defRPr sz="2200">
                <a:solidFill>
                  <a:schemeClr val="accent4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31" name="Text 29"/>
          <p:cNvSpPr txBox="1"/>
          <p:nvPr/>
        </p:nvSpPr>
        <p:spPr>
          <a:xfrm>
            <a:off x="1504949" y="3500337"/>
            <a:ext cx="9954643" cy="31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200"/>
              </a:lnSpc>
              <a:defRPr sz="1700"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Crossing threads: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 hand ownership over, then let go.</a:t>
            </a:r>
          </a:p>
        </p:txBody>
      </p:sp>
      <p:sp>
        <p:nvSpPr>
          <p:cNvPr id="1732" name="Text 30"/>
          <p:cNvSpPr txBox="1"/>
          <p:nvPr/>
        </p:nvSpPr>
        <p:spPr>
          <a:xfrm>
            <a:off x="812800" y="4145062"/>
            <a:ext cx="61012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Python </a:t>
            </a:r>
          </a:p>
        </p:txBody>
      </p:sp>
      <p:sp>
        <p:nvSpPr>
          <p:cNvPr id="1733" name="Text 31"/>
          <p:cNvSpPr txBox="1"/>
          <p:nvPr/>
        </p:nvSpPr>
        <p:spPr>
          <a:xfrm>
            <a:off x="1372129" y="4145062"/>
            <a:ext cx="4318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3.15 </a:t>
            </a:r>
          </a:p>
        </p:txBody>
      </p:sp>
      <p:sp>
        <p:nvSpPr>
          <p:cNvPr id="1734" name="Text 32"/>
          <p:cNvSpPr txBox="1"/>
          <p:nvPr/>
        </p:nvSpPr>
        <p:spPr>
          <a:xfrm>
            <a:off x="1753129" y="4145062"/>
            <a:ext cx="44989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adds </a:t>
            </a:r>
          </a:p>
        </p:txBody>
      </p:sp>
      <p:sp>
        <p:nvSpPr>
          <p:cNvPr id="1735" name="Text 33"/>
          <p:cNvSpPr txBox="1"/>
          <p:nvPr/>
        </p:nvSpPr>
        <p:spPr>
          <a:xfrm>
            <a:off x="2152226" y="4145062"/>
            <a:ext cx="114046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800"/>
              </a:lnSpc>
              <a:defRPr sz="1300">
                <a:solidFill>
                  <a:srgbClr val="3A404B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pPr>
            <a:r>
              <a:t>frozendict</a:t>
            </a:r>
            <a:r>
              <a:rPr>
                <a:latin typeface="JetBrains Mono Regular"/>
                <a:ea typeface="JetBrains Mono Regular"/>
                <a:cs typeface="JetBrains Mono Regular"/>
                <a:sym typeface="JetBrains Mono Regular"/>
              </a:rPr>
              <a:t> </a:t>
            </a:r>
          </a:p>
        </p:txBody>
      </p:sp>
      <p:sp>
        <p:nvSpPr>
          <p:cNvPr id="1736" name="Text 34"/>
          <p:cNvSpPr txBox="1"/>
          <p:nvPr/>
        </p:nvSpPr>
        <p:spPr>
          <a:xfrm>
            <a:off x="3241887" y="4145062"/>
            <a:ext cx="44132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(PEP </a:t>
            </a:r>
          </a:p>
        </p:txBody>
      </p:sp>
      <p:sp>
        <p:nvSpPr>
          <p:cNvPr id="1737" name="Text 35"/>
          <p:cNvSpPr txBox="1"/>
          <p:nvPr/>
        </p:nvSpPr>
        <p:spPr>
          <a:xfrm>
            <a:off x="3632412" y="4145062"/>
            <a:ext cx="49053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814): </a:t>
            </a:r>
          </a:p>
        </p:txBody>
      </p:sp>
      <p:sp>
        <p:nvSpPr>
          <p:cNvPr id="1738" name="Text 36"/>
          <p:cNvSpPr txBox="1"/>
          <p:nvPr/>
        </p:nvSpPr>
        <p:spPr>
          <a:xfrm>
            <a:off x="4072149" y="4145062"/>
            <a:ext cx="17790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a </a:t>
            </a:r>
          </a:p>
        </p:txBody>
      </p:sp>
      <p:sp>
        <p:nvSpPr>
          <p:cNvPr id="1739" name="Text 37"/>
          <p:cNvSpPr txBox="1"/>
          <p:nvPr/>
        </p:nvSpPr>
        <p:spPr>
          <a:xfrm>
            <a:off x="4199254" y="4145062"/>
            <a:ext cx="45667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good </a:t>
            </a:r>
          </a:p>
        </p:txBody>
      </p:sp>
      <p:sp>
        <p:nvSpPr>
          <p:cNvPr id="1740" name="Text 38"/>
          <p:cNvSpPr txBox="1"/>
          <p:nvPr/>
        </p:nvSpPr>
        <p:spPr>
          <a:xfrm>
            <a:off x="4605125" y="4145062"/>
            <a:ext cx="24140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fit </a:t>
            </a:r>
          </a:p>
        </p:txBody>
      </p:sp>
      <p:sp>
        <p:nvSpPr>
          <p:cNvPr id="1741" name="Text 39"/>
          <p:cNvSpPr txBox="1"/>
          <p:nvPr/>
        </p:nvSpPr>
        <p:spPr>
          <a:xfrm>
            <a:off x="4795732" y="4145062"/>
            <a:ext cx="29569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for </a:t>
            </a:r>
          </a:p>
        </p:txBody>
      </p:sp>
      <p:sp>
        <p:nvSpPr>
          <p:cNvPr id="1742" name="Text 40"/>
          <p:cNvSpPr txBox="1"/>
          <p:nvPr/>
        </p:nvSpPr>
        <p:spPr>
          <a:xfrm>
            <a:off x="5040629" y="4145062"/>
            <a:ext cx="59827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shared </a:t>
            </a:r>
          </a:p>
        </p:txBody>
      </p:sp>
      <p:sp>
        <p:nvSpPr>
          <p:cNvPr id="1743" name="Text 41"/>
          <p:cNvSpPr txBox="1"/>
          <p:nvPr/>
        </p:nvSpPr>
        <p:spPr>
          <a:xfrm>
            <a:off x="5588105" y="4145062"/>
            <a:ext cx="80348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read-only </a:t>
            </a:r>
          </a:p>
        </p:txBody>
      </p:sp>
      <p:sp>
        <p:nvSpPr>
          <p:cNvPr id="1744" name="Text 42"/>
          <p:cNvSpPr txBox="1"/>
          <p:nvPr/>
        </p:nvSpPr>
        <p:spPr>
          <a:xfrm>
            <a:off x="6340792" y="4145062"/>
            <a:ext cx="50461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state. </a:t>
            </a:r>
          </a:p>
        </p:txBody>
      </p:sp>
      <p:sp>
        <p:nvSpPr>
          <p:cNvPr id="1745" name="Text 43"/>
          <p:cNvSpPr txBox="1"/>
          <p:nvPr/>
        </p:nvSpPr>
        <p:spPr>
          <a:xfrm>
            <a:off x="6794604" y="4145062"/>
            <a:ext cx="37391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Still </a:t>
            </a:r>
          </a:p>
        </p:txBody>
      </p:sp>
      <p:sp>
        <p:nvSpPr>
          <p:cNvPr id="1746" name="Text 44"/>
          <p:cNvSpPr txBox="1"/>
          <p:nvPr/>
        </p:nvSpPr>
        <p:spPr>
          <a:xfrm>
            <a:off x="7117715" y="4145062"/>
            <a:ext cx="177907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a </a:t>
            </a:r>
          </a:p>
        </p:txBody>
      </p:sp>
      <p:sp>
        <p:nvSpPr>
          <p:cNvPr id="1747" name="Text 45"/>
          <p:cNvSpPr txBox="1"/>
          <p:nvPr/>
        </p:nvSpPr>
        <p:spPr>
          <a:xfrm>
            <a:off x="7244821" y="4145062"/>
            <a:ext cx="65955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shallow </a:t>
            </a:r>
          </a:p>
        </p:txBody>
      </p:sp>
      <p:sp>
        <p:nvSpPr>
          <p:cNvPr id="1748" name="Text 46"/>
          <p:cNvSpPr txBox="1"/>
          <p:nvPr/>
        </p:nvSpPr>
        <p:spPr>
          <a:xfrm>
            <a:off x="7853574" y="4145062"/>
            <a:ext cx="59055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freeze, </a:t>
            </a:r>
          </a:p>
        </p:txBody>
      </p:sp>
      <p:sp>
        <p:nvSpPr>
          <p:cNvPr id="1749" name="Text 47"/>
          <p:cNvSpPr txBox="1"/>
          <p:nvPr/>
        </p:nvSpPr>
        <p:spPr>
          <a:xfrm>
            <a:off x="8393324" y="4145062"/>
            <a:ext cx="350733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like </a:t>
            </a:r>
          </a:p>
        </p:txBody>
      </p:sp>
      <p:sp>
        <p:nvSpPr>
          <p:cNvPr id="1750" name="Text 48"/>
          <p:cNvSpPr txBox="1"/>
          <p:nvPr/>
        </p:nvSpPr>
        <p:spPr>
          <a:xfrm>
            <a:off x="8693254" y="4145062"/>
            <a:ext cx="33210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the </a:t>
            </a:r>
          </a:p>
        </p:txBody>
      </p:sp>
      <p:sp>
        <p:nvSpPr>
          <p:cNvPr id="1751" name="Text 49"/>
          <p:cNvSpPr txBox="1"/>
          <p:nvPr/>
        </p:nvSpPr>
        <p:spPr>
          <a:xfrm>
            <a:off x="8974560" y="4145062"/>
            <a:ext cx="39903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300">
                <a:solidFill>
                  <a:srgbClr val="3A404B"/>
                </a:solidFill>
              </a:defRPr>
            </a:lvl1pPr>
          </a:lstStyle>
          <a:p>
            <a:pPr/>
            <a:r>
              <a:t>rest.</a:t>
            </a:r>
          </a:p>
        </p:txBody>
      </p:sp>
      <p:sp>
        <p:nvSpPr>
          <p:cNvPr id="1752" name="Text 50"/>
          <p:cNvSpPr txBox="1"/>
          <p:nvPr/>
        </p:nvSpPr>
        <p:spPr>
          <a:xfrm>
            <a:off x="1072895" y="4726830"/>
            <a:ext cx="10046210" cy="708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algn="ctr">
              <a:lnSpc>
                <a:spcPts val="2700"/>
              </a:lnSpc>
              <a:defRPr spc="-100" sz="2100">
                <a:solidFill>
                  <a:schemeClr val="accent4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Now that the stable ABI has landed,</a:t>
            </a:r>
          </a:p>
          <a:p>
            <a:pPr algn="ctr">
              <a:lnSpc>
                <a:spcPts val="2700"/>
              </a:lnSpc>
              <a:defRPr spc="-100" sz="2100">
                <a:solidFill>
                  <a:schemeClr val="accent4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t>what should Python's concurrency defaults look like?</a:t>
            </a:r>
          </a:p>
        </p:txBody>
      </p:sp>
      <p:sp>
        <p:nvSpPr>
          <p:cNvPr id="1753" name="Shape 51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54" name="Text 52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Rust gets these defaults from its compiler. In Python, we build them into our own APIs.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Text 0"/>
          <p:cNvSpPr txBox="1"/>
          <p:nvPr>
            <p:ph type="title"/>
          </p:nvPr>
        </p:nvSpPr>
        <p:spPr>
          <a:xfrm>
            <a:off x="812799" y="81280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Start today with just one object</a:t>
            </a:r>
          </a:p>
        </p:txBody>
      </p:sp>
      <p:sp>
        <p:nvSpPr>
          <p:cNvPr id="1757" name="Shape 1"/>
          <p:cNvSpPr/>
          <p:nvPr/>
        </p:nvSpPr>
        <p:spPr>
          <a:xfrm>
            <a:off x="812800" y="1328415"/>
            <a:ext cx="4788535" cy="343536"/>
          </a:xfrm>
          <a:prstGeom prst="roundRect">
            <a:avLst>
              <a:gd name="adj" fmla="val 11091"/>
            </a:avLst>
          </a:prstGeom>
          <a:solidFill>
            <a:srgbClr val="EEF2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8" name="Shape 2"/>
          <p:cNvSpPr/>
          <p:nvPr/>
        </p:nvSpPr>
        <p:spPr>
          <a:xfrm>
            <a:off x="812800" y="1328415"/>
            <a:ext cx="38101" cy="3435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9671" y="21600"/>
                  <a:pt x="0" y="20527"/>
                  <a:pt x="0" y="19204"/>
                </a:cubicBezTo>
                <a:lnTo>
                  <a:pt x="0" y="2396"/>
                </a:lnTo>
                <a:cubicBezTo>
                  <a:pt x="0" y="1073"/>
                  <a:pt x="9671" y="0"/>
                  <a:pt x="21600" y="0"/>
                </a:cubicBezTo>
                <a:cubicBezTo>
                  <a:pt x="17624" y="0"/>
                  <a:pt x="14400" y="1073"/>
                  <a:pt x="14400" y="2396"/>
                </a:cubicBezTo>
                <a:lnTo>
                  <a:pt x="14400" y="19204"/>
                </a:lnTo>
                <a:cubicBezTo>
                  <a:pt x="14400" y="20527"/>
                  <a:pt x="17624" y="21600"/>
                  <a:pt x="2160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9" name="Text 3"/>
          <p:cNvSpPr txBox="1"/>
          <p:nvPr/>
        </p:nvSpPr>
        <p:spPr>
          <a:xfrm>
            <a:off x="965200" y="1395090"/>
            <a:ext cx="1016000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chemeClr val="accent1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lvl1pPr>
          </a:lstStyle>
          <a:p>
            <a:pPr/>
            <a:r>
              <a:t>from Act I</a:t>
            </a:r>
          </a:p>
        </p:txBody>
      </p:sp>
      <p:sp>
        <p:nvSpPr>
          <p:cNvPr id="1760" name="Text 4"/>
          <p:cNvSpPr txBox="1"/>
          <p:nvPr/>
        </p:nvSpPr>
        <p:spPr>
          <a:xfrm>
            <a:off x="1981200" y="1391915"/>
            <a:ext cx="3620135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i="1" sz="1200">
                <a:solidFill>
                  <a:srgbClr val="3A404B"/>
                </a:solidFill>
              </a:defRPr>
            </a:lvl1pPr>
          </a:lstStyle>
          <a:p>
            <a:pPr/>
            <a:r>
              <a:t>“Thread safety isn't my problem. Python handles it.”</a:t>
            </a:r>
          </a:p>
        </p:txBody>
      </p:sp>
      <p:sp>
        <p:nvSpPr>
          <p:cNvPr id="1761" name="Shape 5"/>
          <p:cNvSpPr/>
          <p:nvPr/>
        </p:nvSpPr>
        <p:spPr>
          <a:xfrm>
            <a:off x="815975" y="1827534"/>
            <a:ext cx="10560050" cy="600711"/>
          </a:xfrm>
          <a:prstGeom prst="roundRect">
            <a:avLst>
              <a:gd name="adj" fmla="val 12156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2" name="Text 6"/>
          <p:cNvSpPr txBox="1"/>
          <p:nvPr/>
        </p:nvSpPr>
        <p:spPr>
          <a:xfrm>
            <a:off x="1022350" y="1932309"/>
            <a:ext cx="355600" cy="416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000"/>
              </a:lnSpc>
              <a:defRPr sz="2200">
                <a:solidFill>
                  <a:schemeClr val="accent2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63" name="Text 7"/>
          <p:cNvSpPr txBox="1"/>
          <p:nvPr/>
        </p:nvSpPr>
        <p:spPr>
          <a:xfrm>
            <a:off x="1504949" y="1990725"/>
            <a:ext cx="9954643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/>
            </a:lvl1pPr>
          </a:lstStyle>
          <a:p>
            <a:pPr/>
            <a:r>
              <a:t>Pick one shared cache, counter, or Session in your codebase.</a:t>
            </a:r>
          </a:p>
        </p:txBody>
      </p:sp>
      <p:sp>
        <p:nvSpPr>
          <p:cNvPr id="1764" name="Shape 8"/>
          <p:cNvSpPr/>
          <p:nvPr/>
        </p:nvSpPr>
        <p:spPr>
          <a:xfrm>
            <a:off x="815975" y="2510780"/>
            <a:ext cx="10560050" cy="600711"/>
          </a:xfrm>
          <a:prstGeom prst="roundRect">
            <a:avLst>
              <a:gd name="adj" fmla="val 12156"/>
            </a:avLst>
          </a:prstGeom>
          <a:solidFill>
            <a:schemeClr val="accent5"/>
          </a:solidFill>
          <a:ln w="6350">
            <a:solidFill>
              <a:srgbClr val="E6D3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5" name="Text 9"/>
          <p:cNvSpPr txBox="1"/>
          <p:nvPr/>
        </p:nvSpPr>
        <p:spPr>
          <a:xfrm>
            <a:off x="1022350" y="2615555"/>
            <a:ext cx="355600" cy="416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000"/>
              </a:lnSpc>
              <a:defRPr sz="2200">
                <a:solidFill>
                  <a:schemeClr val="accent2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766" name="Text 10"/>
          <p:cNvSpPr txBox="1"/>
          <p:nvPr/>
        </p:nvSpPr>
        <p:spPr>
          <a:xfrm>
            <a:off x="1504949" y="2673994"/>
            <a:ext cx="9954643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100"/>
              </a:lnSpc>
              <a:defRPr sz="1600"/>
            </a:pPr>
            <a:r>
              <a:t>Ask: </a:t>
            </a:r>
            <a:r>
              <a:rPr>
                <a:latin typeface="IBM Plex Sans Bold"/>
                <a:ea typeface="IBM Plex Sans Bold"/>
                <a:cs typeface="IBM Plex Sans Bold"/>
                <a:sym typeface="IBM Plex Sans Bold"/>
              </a:rPr>
              <a:t>Who else holds this? Is anyone changing it?</a:t>
            </a:r>
          </a:p>
        </p:txBody>
      </p:sp>
      <p:sp>
        <p:nvSpPr>
          <p:cNvPr id="1767" name="Shape 11"/>
          <p:cNvSpPr/>
          <p:nvPr/>
        </p:nvSpPr>
        <p:spPr>
          <a:xfrm>
            <a:off x="815975" y="3194050"/>
            <a:ext cx="10560050" cy="600710"/>
          </a:xfrm>
          <a:prstGeom prst="roundRect">
            <a:avLst>
              <a:gd name="adj" fmla="val 12156"/>
            </a:avLst>
          </a:prstGeom>
          <a:solidFill>
            <a:srgbClr val="FDFCF9"/>
          </a:solidFill>
          <a:ln w="6350">
            <a:solidFill>
              <a:srgbClr val="DCD8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8" name="Text 12"/>
          <p:cNvSpPr txBox="1"/>
          <p:nvPr/>
        </p:nvSpPr>
        <p:spPr>
          <a:xfrm>
            <a:off x="1022350" y="3298825"/>
            <a:ext cx="355600" cy="416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3000"/>
              </a:lnSpc>
              <a:defRPr sz="2200">
                <a:solidFill>
                  <a:schemeClr val="accent2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69" name="Text 13"/>
          <p:cNvSpPr txBox="1"/>
          <p:nvPr/>
        </p:nvSpPr>
        <p:spPr>
          <a:xfrm>
            <a:off x="1504949" y="3357240"/>
            <a:ext cx="9954643" cy="29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600"/>
            </a:lvl1pPr>
          </a:lstStyle>
          <a:p>
            <a:pPr/>
            <a:r>
              <a:t>If both: give each thread a copy, freeze it, or wrap the whole operation in one method.</a:t>
            </a:r>
          </a:p>
        </p:txBody>
      </p:sp>
      <p:sp>
        <p:nvSpPr>
          <p:cNvPr id="1770" name="Shape 14"/>
          <p:cNvSpPr/>
          <p:nvPr/>
        </p:nvSpPr>
        <p:spPr>
          <a:xfrm>
            <a:off x="812800" y="4197350"/>
            <a:ext cx="4543848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71" name="Text 15"/>
          <p:cNvSpPr txBox="1"/>
          <p:nvPr/>
        </p:nvSpPr>
        <p:spPr>
          <a:xfrm>
            <a:off x="838200" y="4298950"/>
            <a:ext cx="4627841" cy="29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chemeClr val="accent4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Upgrade</a:t>
            </a:r>
          </a:p>
        </p:txBody>
      </p:sp>
      <p:sp>
        <p:nvSpPr>
          <p:cNvPr id="1772" name="Text 16"/>
          <p:cNvSpPr txBox="1"/>
          <p:nvPr/>
        </p:nvSpPr>
        <p:spPr>
          <a:xfrm>
            <a:off x="838200" y="4603750"/>
            <a:ext cx="392960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The </a:t>
            </a:r>
          </a:p>
        </p:txBody>
      </p:sp>
      <p:sp>
        <p:nvSpPr>
          <p:cNvPr id="1773" name="Text 17"/>
          <p:cNvSpPr txBox="1"/>
          <p:nvPr/>
        </p:nvSpPr>
        <p:spPr>
          <a:xfrm>
            <a:off x="1180358" y="4603750"/>
            <a:ext cx="461117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3.15 </a:t>
            </a:r>
          </a:p>
        </p:txBody>
      </p:sp>
      <p:sp>
        <p:nvSpPr>
          <p:cNvPr id="1774" name="Text 18"/>
          <p:cNvSpPr txBox="1"/>
          <p:nvPr/>
        </p:nvSpPr>
        <p:spPr>
          <a:xfrm>
            <a:off x="1590675" y="4603750"/>
            <a:ext cx="661458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macOS </a:t>
            </a:r>
          </a:p>
        </p:txBody>
      </p:sp>
      <p:sp>
        <p:nvSpPr>
          <p:cNvPr id="1775" name="Text 19"/>
          <p:cNvSpPr txBox="1"/>
          <p:nvPr/>
        </p:nvSpPr>
        <p:spPr>
          <a:xfrm>
            <a:off x="2201333" y="4603750"/>
            <a:ext cx="739564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installer </a:t>
            </a:r>
          </a:p>
        </p:txBody>
      </p:sp>
      <p:sp>
        <p:nvSpPr>
          <p:cNvPr id="1776" name="Text 20"/>
          <p:cNvSpPr txBox="1"/>
          <p:nvPr/>
        </p:nvSpPr>
        <p:spPr>
          <a:xfrm>
            <a:off x="2890097" y="4603750"/>
            <a:ext cx="51435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ships </a:t>
            </a:r>
          </a:p>
        </p:txBody>
      </p:sp>
      <p:sp>
        <p:nvSpPr>
          <p:cNvPr id="1777" name="Text 21"/>
          <p:cNvSpPr txBox="1"/>
          <p:nvPr/>
        </p:nvSpPr>
        <p:spPr>
          <a:xfrm>
            <a:off x="3353646" y="4606925"/>
            <a:ext cx="133096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python3.15t </a:t>
            </a:r>
          </a:p>
        </p:txBody>
      </p:sp>
      <p:sp>
        <p:nvSpPr>
          <p:cNvPr id="1778" name="Text 22"/>
          <p:cNvSpPr txBox="1"/>
          <p:nvPr/>
        </p:nvSpPr>
        <p:spPr>
          <a:xfrm>
            <a:off x="4633807" y="4603750"/>
            <a:ext cx="283634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by </a:t>
            </a:r>
          </a:p>
        </p:txBody>
      </p:sp>
      <p:sp>
        <p:nvSpPr>
          <p:cNvPr id="1779" name="Text 23"/>
          <p:cNvSpPr txBox="1"/>
          <p:nvPr/>
        </p:nvSpPr>
        <p:spPr>
          <a:xfrm>
            <a:off x="838200" y="4855840"/>
            <a:ext cx="656803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default </a:t>
            </a:r>
          </a:p>
        </p:txBody>
      </p:sp>
      <p:sp>
        <p:nvSpPr>
          <p:cNvPr id="1780" name="Text 24"/>
          <p:cNvSpPr txBox="1"/>
          <p:nvPr/>
        </p:nvSpPr>
        <p:spPr>
          <a:xfrm>
            <a:off x="1444201" y="4855840"/>
            <a:ext cx="436139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(GIL </a:t>
            </a:r>
          </a:p>
        </p:txBody>
      </p:sp>
      <p:sp>
        <p:nvSpPr>
          <p:cNvPr id="1781" name="Text 25"/>
          <p:cNvSpPr txBox="1"/>
          <p:nvPr/>
        </p:nvSpPr>
        <p:spPr>
          <a:xfrm>
            <a:off x="1829541" y="4855840"/>
            <a:ext cx="306389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off </a:t>
            </a:r>
          </a:p>
        </p:txBody>
      </p:sp>
      <p:sp>
        <p:nvSpPr>
          <p:cNvPr id="1782" name="Text 26"/>
          <p:cNvSpPr txBox="1"/>
          <p:nvPr/>
        </p:nvSpPr>
        <p:spPr>
          <a:xfrm>
            <a:off x="2085127" y="4855840"/>
            <a:ext cx="283634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by </a:t>
            </a:r>
          </a:p>
        </p:txBody>
      </p:sp>
      <p:sp>
        <p:nvSpPr>
          <p:cNvPr id="1783" name="Text 27"/>
          <p:cNvSpPr txBox="1"/>
          <p:nvPr/>
        </p:nvSpPr>
        <p:spPr>
          <a:xfrm>
            <a:off x="2317962" y="4855840"/>
            <a:ext cx="764753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default). </a:t>
            </a:r>
          </a:p>
        </p:txBody>
      </p:sp>
      <p:sp>
        <p:nvSpPr>
          <p:cNvPr id="1784" name="Text 28"/>
          <p:cNvSpPr txBox="1"/>
          <p:nvPr/>
        </p:nvSpPr>
        <p:spPr>
          <a:xfrm>
            <a:off x="3031912" y="4855840"/>
            <a:ext cx="408413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Run </a:t>
            </a:r>
          </a:p>
        </p:txBody>
      </p:sp>
      <p:sp>
        <p:nvSpPr>
          <p:cNvPr id="1785" name="Text 29"/>
          <p:cNvSpPr txBox="1"/>
          <p:nvPr/>
        </p:nvSpPr>
        <p:spPr>
          <a:xfrm>
            <a:off x="3389524" y="4855840"/>
            <a:ext cx="353696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the </a:t>
            </a:r>
          </a:p>
        </p:txBody>
      </p:sp>
      <p:sp>
        <p:nvSpPr>
          <p:cNvPr id="1786" name="Text 30"/>
          <p:cNvSpPr txBox="1"/>
          <p:nvPr/>
        </p:nvSpPr>
        <p:spPr>
          <a:xfrm>
            <a:off x="3692419" y="4855840"/>
            <a:ext cx="390420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two </a:t>
            </a:r>
          </a:p>
        </p:txBody>
      </p:sp>
      <p:sp>
        <p:nvSpPr>
          <p:cNvPr id="1787" name="Text 31"/>
          <p:cNvSpPr txBox="1"/>
          <p:nvPr/>
        </p:nvSpPr>
        <p:spPr>
          <a:xfrm>
            <a:off x="4032037" y="4855840"/>
            <a:ext cx="648654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checks </a:t>
            </a:r>
          </a:p>
        </p:txBody>
      </p:sp>
      <p:sp>
        <p:nvSpPr>
          <p:cNvPr id="1788" name="Text 32"/>
          <p:cNvSpPr txBox="1"/>
          <p:nvPr/>
        </p:nvSpPr>
        <p:spPr>
          <a:xfrm>
            <a:off x="4629891" y="4855840"/>
            <a:ext cx="293265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on </a:t>
            </a:r>
          </a:p>
        </p:txBody>
      </p:sp>
      <p:sp>
        <p:nvSpPr>
          <p:cNvPr id="1789" name="Text 33"/>
          <p:cNvSpPr txBox="1"/>
          <p:nvPr/>
        </p:nvSpPr>
        <p:spPr>
          <a:xfrm>
            <a:off x="4872354" y="4855840"/>
            <a:ext cx="474727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your </a:t>
            </a:r>
          </a:p>
        </p:txBody>
      </p:sp>
      <p:sp>
        <p:nvSpPr>
          <p:cNvPr id="1790" name="Text 34"/>
          <p:cNvSpPr txBox="1"/>
          <p:nvPr/>
        </p:nvSpPr>
        <p:spPr>
          <a:xfrm>
            <a:off x="838200" y="5104755"/>
            <a:ext cx="1214650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dependencies </a:t>
            </a:r>
          </a:p>
        </p:txBody>
      </p:sp>
      <p:sp>
        <p:nvSpPr>
          <p:cNvPr id="1791" name="Text 35"/>
          <p:cNvSpPr txBox="1"/>
          <p:nvPr/>
        </p:nvSpPr>
        <p:spPr>
          <a:xfrm>
            <a:off x="2002048" y="5104755"/>
            <a:ext cx="434722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first.</a:t>
            </a:r>
          </a:p>
        </p:txBody>
      </p:sp>
      <p:sp>
        <p:nvSpPr>
          <p:cNvPr id="1792" name="Shape 36"/>
          <p:cNvSpPr/>
          <p:nvPr/>
        </p:nvSpPr>
        <p:spPr>
          <a:xfrm>
            <a:off x="5509047" y="4197350"/>
            <a:ext cx="2858877" cy="0"/>
          </a:xfrm>
          <a:prstGeom prst="line">
            <a:avLst/>
          </a:prstGeom>
          <a:ln w="25400">
            <a:solidFill>
              <a:srgbClr val="5662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93" name="Text 37"/>
          <p:cNvSpPr txBox="1"/>
          <p:nvPr/>
        </p:nvSpPr>
        <p:spPr>
          <a:xfrm>
            <a:off x="5534447" y="4298950"/>
            <a:ext cx="2892319" cy="29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rgbClr val="56627A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Wait</a:t>
            </a:r>
          </a:p>
        </p:txBody>
      </p:sp>
      <p:sp>
        <p:nvSpPr>
          <p:cNvPr id="1794" name="Text 38"/>
          <p:cNvSpPr txBox="1"/>
          <p:nvPr/>
        </p:nvSpPr>
        <p:spPr>
          <a:xfrm>
            <a:off x="5534447" y="4603750"/>
            <a:ext cx="2892319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3A404B"/>
                </a:solidFill>
              </a:defRPr>
            </a:lvl1pPr>
          </a:lstStyle>
          <a:p>
            <a:pPr/>
            <a:r>
              <a:t>Let the tracking table and wheel availability guide your timeline.</a:t>
            </a:r>
          </a:p>
        </p:txBody>
      </p:sp>
      <p:sp>
        <p:nvSpPr>
          <p:cNvPr id="1795" name="Shape 39"/>
          <p:cNvSpPr/>
          <p:nvPr/>
        </p:nvSpPr>
        <p:spPr>
          <a:xfrm>
            <a:off x="8520324" y="4197350"/>
            <a:ext cx="2858877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96" name="Text 40"/>
          <p:cNvSpPr txBox="1"/>
          <p:nvPr/>
        </p:nvSpPr>
        <p:spPr>
          <a:xfrm>
            <a:off x="8545724" y="4298950"/>
            <a:ext cx="2892319" cy="29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100"/>
              </a:lnSpc>
              <a:defRPr sz="1500">
                <a:solidFill>
                  <a:schemeClr val="accent2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Build</a:t>
            </a:r>
          </a:p>
        </p:txBody>
      </p:sp>
      <p:sp>
        <p:nvSpPr>
          <p:cNvPr id="1797" name="Text 41"/>
          <p:cNvSpPr txBox="1"/>
          <p:nvPr/>
        </p:nvSpPr>
        <p:spPr>
          <a:xfrm>
            <a:off x="8545724" y="4603750"/>
            <a:ext cx="2892319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900"/>
              </a:lnSpc>
              <a:defRPr sz="1400">
                <a:solidFill>
                  <a:srgbClr val="3A404B"/>
                </a:solidFill>
              </a:defRPr>
            </a:pPr>
            <a:r>
              <a:t>Rewrite your own hotspots</a:t>
            </a:r>
          </a:p>
          <a:p>
            <a:pPr>
              <a:lnSpc>
                <a:spcPts val="1900"/>
              </a:lnSpc>
              <a:defRPr sz="1400">
                <a:solidFill>
                  <a:srgbClr val="3A404B"/>
                </a:solidFill>
              </a:defRPr>
            </a:pPr>
            <a:r>
              <a:t>in Rust with PyO3.</a:t>
            </a:r>
          </a:p>
        </p:txBody>
      </p:sp>
      <p:sp>
        <p:nvSpPr>
          <p:cNvPr id="1798" name="Shape 42"/>
          <p:cNvSpPr/>
          <p:nvPr/>
        </p:nvSpPr>
        <p:spPr>
          <a:xfrm>
            <a:off x="825499" y="5779765"/>
            <a:ext cx="1" cy="265431"/>
          </a:xfrm>
          <a:prstGeom prst="line">
            <a:avLst/>
          </a:prstGeom>
          <a:ln w="254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99" name="Text 43"/>
          <p:cNvSpPr txBox="1"/>
          <p:nvPr/>
        </p:nvSpPr>
        <p:spPr>
          <a:xfrm>
            <a:off x="965199" y="5792465"/>
            <a:ext cx="10726422" cy="265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800"/>
              </a:lnSpc>
              <a:defRPr sz="1400"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Start with one object today. Whether you upgrade tomorrow depends on your packages, not on this talk.</a:t>
            </a:r>
          </a:p>
        </p:txBody>
      </p:sp>
      <p:sp>
        <p:nvSpPr>
          <p:cNvPr id="1800" name="Text 44"/>
          <p:cNvSpPr txBox="1"/>
          <p:nvPr/>
        </p:nvSpPr>
        <p:spPr>
          <a:xfrm>
            <a:off x="812799" y="6238230"/>
            <a:ext cx="10883394" cy="23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600"/>
              </a:lnSpc>
              <a:defRPr sz="1200">
                <a:solidFill>
                  <a:srgbClr val="5C6370"/>
                </a:solidFill>
              </a:defRPr>
            </a:lvl1pPr>
          </a:lstStyle>
          <a:p>
            <a:pPr/>
            <a:r>
              <a:t>See the repo README for a complete 6-question checklist.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Text 0"/>
          <p:cNvSpPr txBox="1"/>
          <p:nvPr>
            <p:ph type="title"/>
          </p:nvPr>
        </p:nvSpPr>
        <p:spPr>
          <a:xfrm>
            <a:off x="812799" y="876300"/>
            <a:ext cx="10883394" cy="665481"/>
          </a:xfrm>
          <a:prstGeom prst="rect">
            <a:avLst/>
          </a:prstGeom>
        </p:spPr>
        <p:txBody>
          <a:bodyPr/>
          <a:lstStyle>
            <a:lvl1pPr defTabSz="877823">
              <a:lnSpc>
                <a:spcPts val="4700"/>
              </a:lnSpc>
              <a:defRPr spc="-96" sz="4608">
                <a:solidFill>
                  <a:srgbClr val="F1EFE8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1803" name="Text 1"/>
          <p:cNvSpPr txBox="1"/>
          <p:nvPr/>
        </p:nvSpPr>
        <p:spPr>
          <a:xfrm>
            <a:off x="812799" y="1821184"/>
            <a:ext cx="10883394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500"/>
              </a:lnSpc>
              <a:defRPr>
                <a:solidFill>
                  <a:srgbClr val="A9B0BC"/>
                </a:solidFill>
              </a:defRPr>
            </a:pPr>
            <a:r>
              <a:t>Repo:</a:t>
            </a:r>
            <a:r>
              <a:rPr>
                <a:solidFill>
                  <a:srgbClr val="F1EFE8"/>
                </a:solidFill>
              </a:rPr>
              <a:t> github.com/xavierforge/red_envelope_demo</a:t>
            </a:r>
          </a:p>
        </p:txBody>
      </p:sp>
      <p:sp>
        <p:nvSpPr>
          <p:cNvPr id="1804" name="Text 2"/>
          <p:cNvSpPr txBox="1"/>
          <p:nvPr/>
        </p:nvSpPr>
        <p:spPr>
          <a:xfrm>
            <a:off x="812799" y="2217415"/>
            <a:ext cx="10883394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500"/>
              </a:lnSpc>
              <a:defRPr>
                <a:solidFill>
                  <a:srgbClr val="A9B0BC"/>
                </a:solidFill>
              </a:defRPr>
            </a:pPr>
            <a:r>
              <a:t>Book:</a:t>
            </a:r>
            <a:r>
              <a:rPr>
                <a:solidFill>
                  <a:srgbClr val="F1EFE8"/>
                </a:solidFill>
              </a:rPr>
              <a:t> From Pythonista to Rustacean (深智數位, 2026)</a:t>
            </a:r>
          </a:p>
        </p:txBody>
      </p:sp>
      <p:sp>
        <p:nvSpPr>
          <p:cNvPr id="1805" name="Text 3"/>
          <p:cNvSpPr txBox="1"/>
          <p:nvPr/>
        </p:nvSpPr>
        <p:spPr>
          <a:xfrm>
            <a:off x="812799" y="2613669"/>
            <a:ext cx="10883394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  <a:defRPr>
                <a:solidFill>
                  <a:schemeClr val="accent3"/>
                </a:solidFill>
              </a:defRPr>
            </a:lvl1pPr>
          </a:lstStyle>
          <a:p>
            <a:pPr/>
            <a:r>
              <a:t>xavierforge.dev</a:t>
            </a:r>
          </a:p>
        </p:txBody>
      </p:sp>
      <p:pic>
        <p:nvPicPr>
          <p:cNvPr id="180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2800" y="3238500"/>
            <a:ext cx="2540000" cy="2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48" y="0"/>
                </a:moveTo>
                <a:cubicBezTo>
                  <a:pt x="290" y="0"/>
                  <a:pt x="0" y="290"/>
                  <a:pt x="0" y="648"/>
                </a:cubicBezTo>
                <a:lnTo>
                  <a:pt x="0" y="20952"/>
                </a:lnTo>
                <a:cubicBezTo>
                  <a:pt x="0" y="21310"/>
                  <a:pt x="290" y="21600"/>
                  <a:pt x="648" y="21600"/>
                </a:cubicBezTo>
                <a:lnTo>
                  <a:pt x="20952" y="21600"/>
                </a:lnTo>
                <a:cubicBezTo>
                  <a:pt x="21310" y="21600"/>
                  <a:pt x="21600" y="21310"/>
                  <a:pt x="21600" y="20952"/>
                </a:cubicBezTo>
                <a:lnTo>
                  <a:pt x="21600" y="648"/>
                </a:lnTo>
                <a:cubicBezTo>
                  <a:pt x="21600" y="290"/>
                  <a:pt x="21310" y="0"/>
                  <a:pt x="20952" y="0"/>
                </a:cubicBezTo>
                <a:lnTo>
                  <a:pt x="64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80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88000" y="3238500"/>
            <a:ext cx="4168450" cy="2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7" y="0"/>
                </a:moveTo>
                <a:cubicBezTo>
                  <a:pt x="183" y="0"/>
                  <a:pt x="21" y="256"/>
                  <a:pt x="0" y="581"/>
                </a:cubicBezTo>
                <a:lnTo>
                  <a:pt x="0" y="21020"/>
                </a:lnTo>
                <a:cubicBezTo>
                  <a:pt x="21" y="21344"/>
                  <a:pt x="183" y="21600"/>
                  <a:pt x="387" y="21600"/>
                </a:cubicBezTo>
                <a:lnTo>
                  <a:pt x="21213" y="21600"/>
                </a:lnTo>
                <a:cubicBezTo>
                  <a:pt x="21417" y="21600"/>
                  <a:pt x="21579" y="21344"/>
                  <a:pt x="21600" y="21020"/>
                </a:cubicBezTo>
                <a:lnTo>
                  <a:pt x="21600" y="581"/>
                </a:lnTo>
                <a:cubicBezTo>
                  <a:pt x="21579" y="256"/>
                  <a:pt x="21417" y="0"/>
                  <a:pt x="21213" y="0"/>
                </a:cubicBezTo>
                <a:lnTo>
                  <a:pt x="38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808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392662" y="3238500"/>
            <a:ext cx="1985526" cy="2540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C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2" name="Text 0"/>
          <p:cNvGrpSpPr/>
          <p:nvPr/>
        </p:nvGrpSpPr>
        <p:grpSpPr>
          <a:xfrm>
            <a:off x="812800" y="812800"/>
            <a:ext cx="1234440" cy="289560"/>
            <a:chOff x="0" y="0"/>
            <a:chExt cx="1234439" cy="289559"/>
          </a:xfrm>
        </p:grpSpPr>
        <p:sp>
          <p:nvSpPr>
            <p:cNvPr id="1810" name="圓角矩形"/>
            <p:cNvSpPr/>
            <p:nvPr/>
          </p:nvSpPr>
          <p:spPr>
            <a:xfrm>
              <a:off x="0" y="0"/>
              <a:ext cx="1234440" cy="289560"/>
            </a:xfrm>
            <a:prstGeom prst="roundRect">
              <a:avLst>
                <a:gd name="adj" fmla="val 17544"/>
              </a:avLst>
            </a:prstGeom>
            <a:solidFill>
              <a:srgbClr val="56627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1600"/>
                </a:lnSpc>
                <a:defRPr sz="1200"/>
              </a:pPr>
            </a:p>
          </p:txBody>
        </p:sp>
        <p:sp>
          <p:nvSpPr>
            <p:cNvPr id="1811" name="Backup · B1"/>
            <p:cNvSpPr txBox="1"/>
            <p:nvPr/>
          </p:nvSpPr>
          <p:spPr>
            <a:xfrm>
              <a:off x="107949" y="14879"/>
              <a:ext cx="1018541" cy="259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Backup · B1</a:t>
              </a:r>
            </a:p>
          </p:txBody>
        </p:sp>
      </p:grpSp>
      <p:sp>
        <p:nvSpPr>
          <p:cNvPr id="1813" name="Text 1"/>
          <p:cNvSpPr txBox="1"/>
          <p:nvPr>
            <p:ph type="title"/>
          </p:nvPr>
        </p:nvSpPr>
        <p:spPr>
          <a:xfrm>
            <a:off x="812799" y="135637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The GIL in 20 seconds</a:t>
            </a:r>
          </a:p>
        </p:txBody>
      </p:sp>
      <p:sp>
        <p:nvSpPr>
          <p:cNvPr id="1814" name="Text 2"/>
          <p:cNvSpPr txBox="1"/>
          <p:nvPr/>
        </p:nvSpPr>
        <p:spPr>
          <a:xfrm>
            <a:off x="812800" y="1973584"/>
            <a:ext cx="1137920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</a:lvl1pPr>
          </a:lstStyle>
          <a:p>
            <a:pPr/>
            <a:r>
              <a:t>The GIL (global interpreter lock) lets only one thread in a process execute Python bytecode at a time.</a:t>
            </a:r>
          </a:p>
        </p:txBody>
      </p:sp>
      <p:sp>
        <p:nvSpPr>
          <p:cNvPr id="1815" name="Text 3"/>
          <p:cNvSpPr txBox="1"/>
          <p:nvPr/>
        </p:nvSpPr>
        <p:spPr>
          <a:xfrm>
            <a:off x="812799" y="2446015"/>
            <a:ext cx="10883394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</a:lvl1pPr>
          </a:lstStyle>
          <a:p>
            <a:pPr/>
            <a:r>
              <a:t>The free-threaded build removes it; per-object locks keep the interpreter's own structures safe.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C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9" name="Text 0"/>
          <p:cNvGrpSpPr/>
          <p:nvPr/>
        </p:nvGrpSpPr>
        <p:grpSpPr>
          <a:xfrm>
            <a:off x="812800" y="812800"/>
            <a:ext cx="1234440" cy="289560"/>
            <a:chOff x="0" y="0"/>
            <a:chExt cx="1234439" cy="289559"/>
          </a:xfrm>
        </p:grpSpPr>
        <p:sp>
          <p:nvSpPr>
            <p:cNvPr id="1817" name="圓角矩形"/>
            <p:cNvSpPr/>
            <p:nvPr/>
          </p:nvSpPr>
          <p:spPr>
            <a:xfrm>
              <a:off x="0" y="0"/>
              <a:ext cx="1234440" cy="289560"/>
            </a:xfrm>
            <a:prstGeom prst="roundRect">
              <a:avLst>
                <a:gd name="adj" fmla="val 17544"/>
              </a:avLst>
            </a:prstGeom>
            <a:solidFill>
              <a:srgbClr val="56627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1600"/>
                </a:lnSpc>
                <a:defRPr sz="1200"/>
              </a:pPr>
            </a:p>
          </p:txBody>
        </p:sp>
        <p:sp>
          <p:nvSpPr>
            <p:cNvPr id="1818" name="Backup · B2"/>
            <p:cNvSpPr txBox="1"/>
            <p:nvPr/>
          </p:nvSpPr>
          <p:spPr>
            <a:xfrm>
              <a:off x="107949" y="14879"/>
              <a:ext cx="1018541" cy="259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Backup · B2</a:t>
              </a:r>
            </a:p>
          </p:txBody>
        </p:sp>
      </p:grpSp>
      <p:sp>
        <p:nvSpPr>
          <p:cNvPr id="1820" name="Text 1"/>
          <p:cNvSpPr txBox="1"/>
          <p:nvPr>
            <p:ph type="title"/>
          </p:nvPr>
        </p:nvSpPr>
        <p:spPr>
          <a:xfrm>
            <a:off x="812799" y="135637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PyO3 version trail</a:t>
            </a:r>
          </a:p>
        </p:txBody>
      </p:sp>
      <p:graphicFrame>
        <p:nvGraphicFramePr>
          <p:cNvPr id="1821" name="Table 0"/>
          <p:cNvGraphicFramePr/>
          <p:nvPr/>
        </p:nvGraphicFramePr>
        <p:xfrm>
          <a:off x="825500" y="1986284"/>
          <a:ext cx="10553700" cy="21971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899666"/>
                <a:gridCol w="8654034"/>
              </a:tblGrid>
              <a:tr h="439419"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B1F27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Version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BCBBB4"/>
                      </a:solidFill>
                    </a:lnL>
                    <a:lnR w="12700">
                      <a:solidFill>
                        <a:srgbClr val="B2AEA6"/>
                      </a:solidFill>
                    </a:lnR>
                    <a:lnT w="12700">
                      <a:solidFill>
                        <a:srgbClr val="BCBBB4"/>
                      </a:solidFill>
                    </a:lnT>
                    <a:lnB w="12700">
                      <a:solidFill>
                        <a:srgbClr val="B2AEA6"/>
                      </a:solidFill>
                    </a:lnB>
                    <a:solidFill>
                      <a:srgbClr val="DEDAD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B1F27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Change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B2AEA6"/>
                      </a:solidFill>
                    </a:lnL>
                    <a:lnR w="12700">
                      <a:solidFill>
                        <a:srgbClr val="B2AEA6"/>
                      </a:solidFill>
                    </a:lnR>
                    <a:lnT w="12700">
                      <a:solidFill>
                        <a:srgbClr val="BCBBB4"/>
                      </a:solidFill>
                    </a:lnT>
                    <a:lnB w="12700">
                      <a:solidFill>
                        <a:srgbClr val="B2AEA6"/>
                      </a:solidFill>
                    </a:lnB>
                    <a:solidFill>
                      <a:srgbClr val="DEDAD0"/>
                    </a:solidFill>
                  </a:tcPr>
                </a:tc>
              </a:tr>
              <a:tr h="439419"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2"/>
                          </a:solidFill>
                        </a:rPr>
                        <a:t>0.23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BCBBB4"/>
                      </a:solidFill>
                    </a:lnL>
                    <a:lnR w="12700">
                      <a:solidFill>
                        <a:srgbClr val="BCBBB4"/>
                      </a:solidFill>
                    </a:lnR>
                    <a:lnT w="12700">
                      <a:solidFill>
                        <a:srgbClr val="B2AEA6"/>
                      </a:solidFill>
                    </a:lnT>
                    <a:lnB w="12700">
                      <a:solidFill>
                        <a:srgbClr val="BCBBB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B1F27"/>
                          </a:solidFill>
                        </a:rPr>
                        <a:t>#[pyclass] requires Sync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BCBBB4"/>
                      </a:solidFill>
                    </a:lnL>
                    <a:lnR w="12700">
                      <a:solidFill>
                        <a:srgbClr val="BCBBB4"/>
                      </a:solidFill>
                    </a:lnR>
                    <a:lnT w="12700">
                      <a:solidFill>
                        <a:srgbClr val="B2AEA6"/>
                      </a:solidFill>
                    </a:lnT>
                    <a:lnB w="12700">
                      <a:solidFill>
                        <a:srgbClr val="BCBBB4"/>
                      </a:solidFill>
                    </a:lnB>
                    <a:noFill/>
                  </a:tcPr>
                </a:tc>
              </a:tr>
              <a:tr h="439419"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2"/>
                          </a:solidFill>
                        </a:rPr>
                        <a:t>0.26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BCBBB4"/>
                      </a:solidFill>
                    </a:lnL>
                    <a:lnR w="12700">
                      <a:solidFill>
                        <a:srgbClr val="B6B4AD"/>
                      </a:solidFill>
                    </a:lnR>
                    <a:lnT w="12700">
                      <a:solidFill>
                        <a:srgbClr val="BCBBB4"/>
                      </a:solidFill>
                    </a:lnT>
                    <a:lnB w="12700">
                      <a:solidFill>
                        <a:srgbClr val="B6B4AD"/>
                      </a:solidFill>
                    </a:lnB>
                    <a:solidFill>
                      <a:srgbClr val="E4E1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B1F27"/>
                          </a:solidFill>
                        </a:rPr>
                        <a:t>with_gil / allow_threads renamed to attach / detach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B6B4AD"/>
                      </a:solidFill>
                    </a:lnL>
                    <a:lnR w="12700">
                      <a:solidFill>
                        <a:srgbClr val="B6B4AD"/>
                      </a:solidFill>
                    </a:lnR>
                    <a:lnT w="12700">
                      <a:solidFill>
                        <a:srgbClr val="BCBBB4"/>
                      </a:solidFill>
                    </a:lnT>
                    <a:lnB w="12700">
                      <a:solidFill>
                        <a:srgbClr val="B6B4AD"/>
                      </a:solidFill>
                    </a:lnB>
                    <a:solidFill>
                      <a:srgbClr val="E4E1D8"/>
                    </a:solidFill>
                  </a:tcPr>
                </a:tc>
              </a:tr>
              <a:tr h="439419"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2"/>
                          </a:solidFill>
                        </a:rPr>
                        <a:t>0.28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BCBBB4"/>
                      </a:solidFill>
                    </a:lnL>
                    <a:lnR w="12700">
                      <a:solidFill>
                        <a:srgbClr val="BCBBB4"/>
                      </a:solidFill>
                    </a:lnR>
                    <a:lnT w="12700">
                      <a:solidFill>
                        <a:srgbClr val="B6B4AD"/>
                      </a:solidFill>
                    </a:lnT>
                    <a:lnB w="12700">
                      <a:solidFill>
                        <a:srgbClr val="BCBBB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B1F27"/>
                          </a:solidFill>
                        </a:rPr>
                        <a:t>declares free-thread-safe by default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BCBBB4"/>
                      </a:solidFill>
                    </a:lnL>
                    <a:lnR w="12700">
                      <a:solidFill>
                        <a:srgbClr val="BCBBB4"/>
                      </a:solidFill>
                    </a:lnR>
                    <a:lnT w="12700">
                      <a:solidFill>
                        <a:srgbClr val="B6B4AD"/>
                      </a:solidFill>
                    </a:lnT>
                    <a:lnB w="12700">
                      <a:solidFill>
                        <a:srgbClr val="BCBBB4"/>
                      </a:solidFill>
                    </a:lnB>
                    <a:noFill/>
                  </a:tcPr>
                </a:tc>
              </a:tr>
              <a:tr h="439419"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2"/>
                          </a:solidFill>
                        </a:rPr>
                        <a:t>0.29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BCBBB4"/>
                      </a:solidFill>
                    </a:lnL>
                    <a:lnR w="12700">
                      <a:solidFill>
                        <a:srgbClr val="B6B4AD"/>
                      </a:solidFill>
                    </a:lnR>
                    <a:lnT w="12700">
                      <a:solidFill>
                        <a:srgbClr val="BCBBB4"/>
                      </a:solidFill>
                    </a:lnT>
                    <a:lnB w="12700">
                      <a:solidFill>
                        <a:srgbClr val="B6B4AD"/>
                      </a:solidFill>
                    </a:lnB>
                    <a:solidFill>
                      <a:srgbClr val="E4E1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B1F27"/>
                          </a:solidFill>
                        </a:rPr>
                        <a:t>abi3t</a:t>
                      </a:r>
                    </a:p>
                  </a:txBody>
                  <a:tcPr marL="71120" marR="71120" marT="71120" marB="71120" anchor="t" anchorCtr="0" horzOverflow="overflow">
                    <a:lnL w="12700">
                      <a:solidFill>
                        <a:srgbClr val="B6B4AD"/>
                      </a:solidFill>
                    </a:lnL>
                    <a:lnR w="12700">
                      <a:solidFill>
                        <a:srgbClr val="B6B4AD"/>
                      </a:solidFill>
                    </a:lnR>
                    <a:lnT w="12700">
                      <a:solidFill>
                        <a:srgbClr val="BCBBB4"/>
                      </a:solidFill>
                    </a:lnT>
                    <a:lnB w="12700">
                      <a:solidFill>
                        <a:srgbClr val="B6B4AD"/>
                      </a:solidFill>
                    </a:lnB>
                    <a:solidFill>
                      <a:srgbClr val="E4E1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C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5" name="Text 0"/>
          <p:cNvGrpSpPr/>
          <p:nvPr/>
        </p:nvGrpSpPr>
        <p:grpSpPr>
          <a:xfrm>
            <a:off x="812800" y="812800"/>
            <a:ext cx="1234440" cy="289560"/>
            <a:chOff x="0" y="0"/>
            <a:chExt cx="1234439" cy="289559"/>
          </a:xfrm>
        </p:grpSpPr>
        <p:sp>
          <p:nvSpPr>
            <p:cNvPr id="1823" name="圓角矩形"/>
            <p:cNvSpPr/>
            <p:nvPr/>
          </p:nvSpPr>
          <p:spPr>
            <a:xfrm>
              <a:off x="0" y="0"/>
              <a:ext cx="1234440" cy="289560"/>
            </a:xfrm>
            <a:prstGeom prst="roundRect">
              <a:avLst>
                <a:gd name="adj" fmla="val 17544"/>
              </a:avLst>
            </a:prstGeom>
            <a:solidFill>
              <a:srgbClr val="56627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1600"/>
                </a:lnSpc>
                <a:defRPr sz="1200"/>
              </a:pPr>
            </a:p>
          </p:txBody>
        </p:sp>
        <p:sp>
          <p:nvSpPr>
            <p:cNvPr id="1824" name="Backup · B3"/>
            <p:cNvSpPr txBox="1"/>
            <p:nvPr/>
          </p:nvSpPr>
          <p:spPr>
            <a:xfrm>
              <a:off x="107949" y="14879"/>
              <a:ext cx="1018541" cy="259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Backup · B3</a:t>
              </a:r>
            </a:p>
          </p:txBody>
        </p:sp>
      </p:grpSp>
      <p:sp>
        <p:nvSpPr>
          <p:cNvPr id="1826" name="Text 1"/>
          <p:cNvSpPr txBox="1"/>
          <p:nvPr>
            <p:ph type="title"/>
          </p:nvPr>
        </p:nvSpPr>
        <p:spPr>
          <a:xfrm>
            <a:off x="812799" y="135637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PEP 788 (Final, 3.15)</a:t>
            </a:r>
          </a:p>
        </p:txBody>
      </p:sp>
      <p:sp>
        <p:nvSpPr>
          <p:cNvPr id="1827" name="Text 2"/>
          <p:cNvSpPr txBox="1"/>
          <p:nvPr/>
        </p:nvSpPr>
        <p:spPr>
          <a:xfrm>
            <a:off x="812799" y="1973584"/>
            <a:ext cx="10883394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500"/>
              </a:lnSpc>
              <a:defRPr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PyGILState_*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 is soft-deprecated in favor of </a:t>
            </a:r>
            <a:r>
              <a:t>PyThreadState</a:t>
            </a:r>
            <a:r>
              <a:rPr>
                <a:latin typeface="+mj-lt"/>
                <a:ea typeface="+mj-ea"/>
                <a:cs typeface="+mj-cs"/>
                <a:sym typeface="IBM Plex Sans Regular"/>
              </a:rPr>
              <a:t> APIs.</a:t>
            </a:r>
          </a:p>
        </p:txBody>
      </p:sp>
      <p:sp>
        <p:nvSpPr>
          <p:cNvPr id="1828" name="Text 3"/>
          <p:cNvSpPr txBox="1"/>
          <p:nvPr/>
        </p:nvSpPr>
        <p:spPr>
          <a:xfrm>
            <a:off x="812799" y="2446015"/>
            <a:ext cx="10883394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</a:lvl1pPr>
          </a:lstStyle>
          <a:p>
            <a:pPr/>
            <a:r>
              <a:t>It also addresses finalization.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C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2" name="Text 0"/>
          <p:cNvGrpSpPr/>
          <p:nvPr/>
        </p:nvGrpSpPr>
        <p:grpSpPr>
          <a:xfrm>
            <a:off x="812800" y="812800"/>
            <a:ext cx="1234440" cy="289560"/>
            <a:chOff x="0" y="0"/>
            <a:chExt cx="1234439" cy="289559"/>
          </a:xfrm>
        </p:grpSpPr>
        <p:sp>
          <p:nvSpPr>
            <p:cNvPr id="1830" name="圓角矩形"/>
            <p:cNvSpPr/>
            <p:nvPr/>
          </p:nvSpPr>
          <p:spPr>
            <a:xfrm>
              <a:off x="0" y="0"/>
              <a:ext cx="1234440" cy="289560"/>
            </a:xfrm>
            <a:prstGeom prst="roundRect">
              <a:avLst>
                <a:gd name="adj" fmla="val 17544"/>
              </a:avLst>
            </a:prstGeom>
            <a:solidFill>
              <a:srgbClr val="56627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1600"/>
                </a:lnSpc>
                <a:defRPr sz="1200"/>
              </a:pPr>
            </a:p>
          </p:txBody>
        </p:sp>
        <p:sp>
          <p:nvSpPr>
            <p:cNvPr id="1831" name="Backup · B4"/>
            <p:cNvSpPr txBox="1"/>
            <p:nvPr/>
          </p:nvSpPr>
          <p:spPr>
            <a:xfrm>
              <a:off x="107949" y="14879"/>
              <a:ext cx="1018541" cy="259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Backup · B4</a:t>
              </a:r>
            </a:p>
          </p:txBody>
        </p:sp>
      </p:grpSp>
      <p:sp>
        <p:nvSpPr>
          <p:cNvPr id="1833" name="Text 1"/>
          <p:cNvSpPr txBox="1"/>
          <p:nvPr>
            <p:ph type="title"/>
          </p:nvPr>
        </p:nvSpPr>
        <p:spPr>
          <a:xfrm>
            <a:off x="812799" y="135637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Data race, full definition</a:t>
            </a:r>
          </a:p>
        </p:txBody>
      </p:sp>
      <p:sp>
        <p:nvSpPr>
          <p:cNvPr id="1834" name="Text 2"/>
          <p:cNvSpPr txBox="1"/>
          <p:nvPr/>
        </p:nvSpPr>
        <p:spPr>
          <a:xfrm>
            <a:off x="812799" y="1973584"/>
            <a:ext cx="10883394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500"/>
              </a:lnSpc>
              <a:defRPr>
                <a:solidFill>
                  <a:schemeClr val="accent2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1</a:t>
            </a:r>
            <a:r>
              <a:rPr>
                <a:solidFill>
                  <a:srgbClr val="1B1F27"/>
                </a:solidFill>
                <a:latin typeface="+mj-lt"/>
                <a:ea typeface="+mj-ea"/>
                <a:cs typeface="+mj-cs"/>
                <a:sym typeface="IBM Plex Sans Regular"/>
              </a:rPr>
              <a:t> Two or more threads access the same memory location concurrently.</a:t>
            </a:r>
          </a:p>
        </p:txBody>
      </p:sp>
      <p:sp>
        <p:nvSpPr>
          <p:cNvPr id="1835" name="Text 3"/>
          <p:cNvSpPr txBox="1"/>
          <p:nvPr/>
        </p:nvSpPr>
        <p:spPr>
          <a:xfrm>
            <a:off x="812799" y="2395215"/>
            <a:ext cx="10883394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500"/>
              </a:lnSpc>
              <a:defRPr>
                <a:solidFill>
                  <a:schemeClr val="accent2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2</a:t>
            </a:r>
            <a:r>
              <a:rPr>
                <a:solidFill>
                  <a:srgbClr val="1B1F27"/>
                </a:solidFill>
                <a:latin typeface="+mj-lt"/>
                <a:ea typeface="+mj-ea"/>
                <a:cs typeface="+mj-cs"/>
                <a:sym typeface="IBM Plex Sans Regular"/>
              </a:rPr>
              <a:t> At least one of the accesses is a write.</a:t>
            </a:r>
          </a:p>
        </p:txBody>
      </p:sp>
      <p:sp>
        <p:nvSpPr>
          <p:cNvPr id="1836" name="Text 4"/>
          <p:cNvSpPr txBox="1"/>
          <p:nvPr/>
        </p:nvSpPr>
        <p:spPr>
          <a:xfrm>
            <a:off x="812799" y="2816869"/>
            <a:ext cx="10883394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500"/>
              </a:lnSpc>
              <a:defRPr>
                <a:solidFill>
                  <a:schemeClr val="accent2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pPr>
            <a:r>
              <a:t>3</a:t>
            </a:r>
            <a:r>
              <a:rPr>
                <a:solidFill>
                  <a:srgbClr val="1B1F27"/>
                </a:solidFill>
                <a:latin typeface="+mj-lt"/>
                <a:ea typeface="+mj-ea"/>
                <a:cs typeface="+mj-cs"/>
                <a:sym typeface="IBM Plex Sans Regular"/>
              </a:rPr>
              <a:t> The accesses are not synchronized.</a:t>
            </a:r>
          </a:p>
        </p:txBody>
      </p:sp>
      <p:grpSp>
        <p:nvGrpSpPr>
          <p:cNvPr id="1839" name="Text 5"/>
          <p:cNvGrpSpPr/>
          <p:nvPr/>
        </p:nvGrpSpPr>
        <p:grpSpPr>
          <a:xfrm>
            <a:off x="815975" y="3394075"/>
            <a:ext cx="10560050" cy="930911"/>
            <a:chOff x="0" y="0"/>
            <a:chExt cx="10560050" cy="930910"/>
          </a:xfrm>
        </p:grpSpPr>
        <p:sp>
          <p:nvSpPr>
            <p:cNvPr id="1837" name="圓角矩形"/>
            <p:cNvSpPr/>
            <p:nvPr/>
          </p:nvSpPr>
          <p:spPr>
            <a:xfrm>
              <a:off x="0" y="0"/>
              <a:ext cx="10560050" cy="930911"/>
            </a:xfrm>
            <a:prstGeom prst="roundRect">
              <a:avLst>
                <a:gd name="adj" fmla="val 7844"/>
              </a:avLst>
            </a:prstGeom>
            <a:solidFill>
              <a:srgbClr val="F6F5F0"/>
            </a:solidFill>
            <a:ln w="6350" cap="flat">
              <a:solidFill>
                <a:srgbClr val="D3CFC3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200"/>
                </a:lnSpc>
                <a:defRPr sz="1600"/>
              </a:pPr>
            </a:p>
          </p:txBody>
        </p:sp>
        <p:sp>
          <p:nvSpPr>
            <p:cNvPr id="1838" name="Synchronized means the accesses are ordered by something: a lock, an atomic operation, a channel send and receive, or a thread join."/>
            <p:cNvSpPr txBox="1"/>
            <p:nvPr/>
          </p:nvSpPr>
          <p:spPr>
            <a:xfrm>
              <a:off x="234949" y="184148"/>
              <a:ext cx="10300539" cy="5880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rmAutofit fontScale="100000" lnSpcReduction="0"/>
            </a:bodyPr>
            <a:lstStyle/>
            <a:p>
              <a:pPr>
                <a:lnSpc>
                  <a:spcPts val="2200"/>
                </a:lnSpc>
                <a:defRPr sz="1600">
                  <a:latin typeface="IBM Plex Sans Bold"/>
                  <a:ea typeface="IBM Plex Sans Bold"/>
                  <a:cs typeface="IBM Plex Sans Bold"/>
                  <a:sym typeface="IBM Plex Sans Bold"/>
                </a:defRPr>
              </a:pPr>
              <a:r>
                <a:t>Synchronized</a:t>
              </a:r>
              <a:r>
                <a:rPr>
                  <a:latin typeface="+mj-lt"/>
                  <a:ea typeface="+mj-ea"/>
                  <a:cs typeface="+mj-cs"/>
                  <a:sym typeface="IBM Plex Sans Regular"/>
                </a:rPr>
                <a:t> means the accesses are ordered by something: a lock, an atomic operation, a channel send and receive, or a thread join.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C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" name="Text 0"/>
          <p:cNvGrpSpPr/>
          <p:nvPr/>
        </p:nvGrpSpPr>
        <p:grpSpPr>
          <a:xfrm>
            <a:off x="812800" y="812800"/>
            <a:ext cx="1234440" cy="289560"/>
            <a:chOff x="0" y="0"/>
            <a:chExt cx="1234439" cy="289559"/>
          </a:xfrm>
        </p:grpSpPr>
        <p:sp>
          <p:nvSpPr>
            <p:cNvPr id="1841" name="圓角矩形"/>
            <p:cNvSpPr/>
            <p:nvPr/>
          </p:nvSpPr>
          <p:spPr>
            <a:xfrm>
              <a:off x="0" y="0"/>
              <a:ext cx="1234440" cy="289560"/>
            </a:xfrm>
            <a:prstGeom prst="roundRect">
              <a:avLst>
                <a:gd name="adj" fmla="val 17544"/>
              </a:avLst>
            </a:prstGeom>
            <a:solidFill>
              <a:srgbClr val="56627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1600"/>
                </a:lnSpc>
                <a:defRPr sz="1200"/>
              </a:pPr>
            </a:p>
          </p:txBody>
        </p:sp>
        <p:sp>
          <p:nvSpPr>
            <p:cNvPr id="1842" name="Backup · B5"/>
            <p:cNvSpPr txBox="1"/>
            <p:nvPr/>
          </p:nvSpPr>
          <p:spPr>
            <a:xfrm>
              <a:off x="107949" y="14879"/>
              <a:ext cx="1018541" cy="259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Backup · B5</a:t>
              </a:r>
            </a:p>
          </p:txBody>
        </p:sp>
      </p:grpSp>
      <p:sp>
        <p:nvSpPr>
          <p:cNvPr id="1844" name="Text 1"/>
          <p:cNvSpPr txBox="1"/>
          <p:nvPr>
            <p:ph type="title"/>
          </p:nvPr>
        </p:nvSpPr>
        <p:spPr>
          <a:xfrm>
            <a:off x="812799" y="135637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PEP 703 pillars</a:t>
            </a:r>
          </a:p>
        </p:txBody>
      </p:sp>
      <p:grpSp>
        <p:nvGrpSpPr>
          <p:cNvPr id="1847" name="Text 2"/>
          <p:cNvGrpSpPr/>
          <p:nvPr/>
        </p:nvGrpSpPr>
        <p:grpSpPr>
          <a:xfrm>
            <a:off x="815975" y="1976759"/>
            <a:ext cx="3414184" cy="732791"/>
            <a:chOff x="0" y="0"/>
            <a:chExt cx="3414183" cy="732790"/>
          </a:xfrm>
        </p:grpSpPr>
        <p:sp>
          <p:nvSpPr>
            <p:cNvPr id="1845" name="圓角矩形"/>
            <p:cNvSpPr/>
            <p:nvPr/>
          </p:nvSpPr>
          <p:spPr>
            <a:xfrm>
              <a:off x="0" y="0"/>
              <a:ext cx="3414184" cy="732791"/>
            </a:xfrm>
            <a:prstGeom prst="roundRect">
              <a:avLst>
                <a:gd name="adj" fmla="val 9965"/>
              </a:avLst>
            </a:prstGeom>
            <a:solidFill>
              <a:srgbClr val="F6F5F0"/>
            </a:solidFill>
            <a:ln w="6350" cap="flat">
              <a:solidFill>
                <a:srgbClr val="D3CFC3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500"/>
                </a:lnSpc>
              </a:pPr>
            </a:p>
          </p:txBody>
        </p:sp>
        <p:sp>
          <p:nvSpPr>
            <p:cNvPr id="1846" name="Biased RC"/>
            <p:cNvSpPr txBox="1"/>
            <p:nvPr/>
          </p:nvSpPr>
          <p:spPr>
            <a:xfrm>
              <a:off x="114606" y="114606"/>
              <a:ext cx="3275015" cy="5289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4943" tIns="94943" rIns="94943" bIns="94943" numCol="1" anchor="t">
              <a:normAutofit fontScale="100000" lnSpcReduction="0"/>
            </a:bodyPr>
            <a:lstStyle>
              <a:lvl1pPr>
                <a:lnSpc>
                  <a:spcPts val="2500"/>
                </a:lnSpc>
                <a:defRPr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Biased RC</a:t>
              </a:r>
            </a:p>
          </p:txBody>
        </p:sp>
      </p:grpSp>
      <p:grpSp>
        <p:nvGrpSpPr>
          <p:cNvPr id="1850" name="Text 3"/>
          <p:cNvGrpSpPr/>
          <p:nvPr/>
        </p:nvGrpSpPr>
        <p:grpSpPr>
          <a:xfrm>
            <a:off x="4388908" y="1976759"/>
            <a:ext cx="3414184" cy="732791"/>
            <a:chOff x="0" y="0"/>
            <a:chExt cx="3414183" cy="732790"/>
          </a:xfrm>
        </p:grpSpPr>
        <p:sp>
          <p:nvSpPr>
            <p:cNvPr id="1848" name="圓角矩形"/>
            <p:cNvSpPr/>
            <p:nvPr/>
          </p:nvSpPr>
          <p:spPr>
            <a:xfrm>
              <a:off x="0" y="0"/>
              <a:ext cx="3414184" cy="732791"/>
            </a:xfrm>
            <a:prstGeom prst="roundRect">
              <a:avLst>
                <a:gd name="adj" fmla="val 9965"/>
              </a:avLst>
            </a:prstGeom>
            <a:solidFill>
              <a:srgbClr val="F6F5F0"/>
            </a:solidFill>
            <a:ln w="6350" cap="flat">
              <a:solidFill>
                <a:srgbClr val="D3CFC3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500"/>
                </a:lnSpc>
              </a:pPr>
            </a:p>
          </p:txBody>
        </p:sp>
        <p:sp>
          <p:nvSpPr>
            <p:cNvPr id="1849" name="Immortal objects"/>
            <p:cNvSpPr txBox="1"/>
            <p:nvPr/>
          </p:nvSpPr>
          <p:spPr>
            <a:xfrm>
              <a:off x="114606" y="114606"/>
              <a:ext cx="3275015" cy="5289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4943" tIns="94943" rIns="94943" bIns="94943" numCol="1" anchor="t">
              <a:normAutofit fontScale="100000" lnSpcReduction="0"/>
            </a:bodyPr>
            <a:lstStyle>
              <a:lvl1pPr>
                <a:lnSpc>
                  <a:spcPts val="2500"/>
                </a:lnSpc>
                <a:defRPr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Immortal objects</a:t>
              </a:r>
            </a:p>
          </p:txBody>
        </p:sp>
      </p:grpSp>
      <p:grpSp>
        <p:nvGrpSpPr>
          <p:cNvPr id="1853" name="Text 4"/>
          <p:cNvGrpSpPr/>
          <p:nvPr/>
        </p:nvGrpSpPr>
        <p:grpSpPr>
          <a:xfrm>
            <a:off x="7961841" y="1976759"/>
            <a:ext cx="3414184" cy="732791"/>
            <a:chOff x="0" y="0"/>
            <a:chExt cx="3414183" cy="732790"/>
          </a:xfrm>
        </p:grpSpPr>
        <p:sp>
          <p:nvSpPr>
            <p:cNvPr id="1851" name="圓角矩形"/>
            <p:cNvSpPr/>
            <p:nvPr/>
          </p:nvSpPr>
          <p:spPr>
            <a:xfrm>
              <a:off x="0" y="0"/>
              <a:ext cx="3414184" cy="732791"/>
            </a:xfrm>
            <a:prstGeom prst="roundRect">
              <a:avLst>
                <a:gd name="adj" fmla="val 9965"/>
              </a:avLst>
            </a:prstGeom>
            <a:solidFill>
              <a:srgbClr val="F6F5F0"/>
            </a:solidFill>
            <a:ln w="6350" cap="flat">
              <a:solidFill>
                <a:srgbClr val="D3CFC3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500"/>
                </a:lnSpc>
              </a:pPr>
            </a:p>
          </p:txBody>
        </p:sp>
        <p:sp>
          <p:nvSpPr>
            <p:cNvPr id="1852" name="Deferred RC"/>
            <p:cNvSpPr txBox="1"/>
            <p:nvPr/>
          </p:nvSpPr>
          <p:spPr>
            <a:xfrm>
              <a:off x="114606" y="114606"/>
              <a:ext cx="3275015" cy="5289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4943" tIns="94943" rIns="94943" bIns="94943" numCol="1" anchor="t">
              <a:normAutofit fontScale="100000" lnSpcReduction="0"/>
            </a:bodyPr>
            <a:lstStyle>
              <a:lvl1pPr>
                <a:lnSpc>
                  <a:spcPts val="2500"/>
                </a:lnSpc>
                <a:defRPr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Deferred RC</a:t>
              </a:r>
            </a:p>
          </p:txBody>
        </p:sp>
      </p:grpSp>
      <p:grpSp>
        <p:nvGrpSpPr>
          <p:cNvPr id="1856" name="Text 5"/>
          <p:cNvGrpSpPr/>
          <p:nvPr/>
        </p:nvGrpSpPr>
        <p:grpSpPr>
          <a:xfrm>
            <a:off x="815975" y="2868290"/>
            <a:ext cx="3414184" cy="732791"/>
            <a:chOff x="0" y="0"/>
            <a:chExt cx="3414183" cy="732790"/>
          </a:xfrm>
        </p:grpSpPr>
        <p:sp>
          <p:nvSpPr>
            <p:cNvPr id="1854" name="圓角矩形"/>
            <p:cNvSpPr/>
            <p:nvPr/>
          </p:nvSpPr>
          <p:spPr>
            <a:xfrm>
              <a:off x="0" y="0"/>
              <a:ext cx="3414184" cy="732791"/>
            </a:xfrm>
            <a:prstGeom prst="roundRect">
              <a:avLst>
                <a:gd name="adj" fmla="val 9965"/>
              </a:avLst>
            </a:prstGeom>
            <a:solidFill>
              <a:srgbClr val="F6F5F0"/>
            </a:solidFill>
            <a:ln w="6350" cap="flat">
              <a:solidFill>
                <a:srgbClr val="D3CFC3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500"/>
                </a:lnSpc>
              </a:pPr>
            </a:p>
          </p:txBody>
        </p:sp>
        <p:sp>
          <p:nvSpPr>
            <p:cNvPr id="1855" name="Per-object locks"/>
            <p:cNvSpPr txBox="1"/>
            <p:nvPr/>
          </p:nvSpPr>
          <p:spPr>
            <a:xfrm>
              <a:off x="114606" y="114606"/>
              <a:ext cx="3275015" cy="5289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4943" tIns="94943" rIns="94943" bIns="94943" numCol="1" anchor="t">
              <a:normAutofit fontScale="100000" lnSpcReduction="0"/>
            </a:bodyPr>
            <a:lstStyle>
              <a:lvl1pPr>
                <a:lnSpc>
                  <a:spcPts val="2500"/>
                </a:lnSpc>
                <a:defRPr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Per-object locks</a:t>
              </a:r>
            </a:p>
          </p:txBody>
        </p:sp>
      </p:grpSp>
      <p:grpSp>
        <p:nvGrpSpPr>
          <p:cNvPr id="1859" name="Text 6"/>
          <p:cNvGrpSpPr/>
          <p:nvPr/>
        </p:nvGrpSpPr>
        <p:grpSpPr>
          <a:xfrm>
            <a:off x="4388908" y="2868290"/>
            <a:ext cx="3414184" cy="732791"/>
            <a:chOff x="0" y="0"/>
            <a:chExt cx="3414183" cy="732790"/>
          </a:xfrm>
        </p:grpSpPr>
        <p:sp>
          <p:nvSpPr>
            <p:cNvPr id="1857" name="圓角矩形"/>
            <p:cNvSpPr/>
            <p:nvPr/>
          </p:nvSpPr>
          <p:spPr>
            <a:xfrm>
              <a:off x="0" y="0"/>
              <a:ext cx="3414184" cy="732791"/>
            </a:xfrm>
            <a:prstGeom prst="roundRect">
              <a:avLst>
                <a:gd name="adj" fmla="val 9965"/>
              </a:avLst>
            </a:prstGeom>
            <a:solidFill>
              <a:srgbClr val="F6F5F0"/>
            </a:solidFill>
            <a:ln w="6350" cap="flat">
              <a:solidFill>
                <a:srgbClr val="D3CFC3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500"/>
                </a:lnSpc>
              </a:pPr>
            </a:p>
          </p:txBody>
        </p:sp>
        <p:sp>
          <p:nvSpPr>
            <p:cNvPr id="1858" name="mimalloc"/>
            <p:cNvSpPr txBox="1"/>
            <p:nvPr/>
          </p:nvSpPr>
          <p:spPr>
            <a:xfrm>
              <a:off x="114606" y="114606"/>
              <a:ext cx="3275015" cy="5289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4943" tIns="94943" rIns="94943" bIns="94943" numCol="1" anchor="t">
              <a:normAutofit fontScale="100000" lnSpcReduction="0"/>
            </a:bodyPr>
            <a:lstStyle>
              <a:lvl1pPr>
                <a:lnSpc>
                  <a:spcPts val="2500"/>
                </a:lnSpc>
                <a:defRPr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mimalloc</a:t>
              </a:r>
            </a:p>
          </p:txBody>
        </p:sp>
      </p:grpSp>
      <p:grpSp>
        <p:nvGrpSpPr>
          <p:cNvPr id="1862" name="Text 7"/>
          <p:cNvGrpSpPr/>
          <p:nvPr/>
        </p:nvGrpSpPr>
        <p:grpSpPr>
          <a:xfrm>
            <a:off x="7961841" y="2868290"/>
            <a:ext cx="3414184" cy="732791"/>
            <a:chOff x="0" y="0"/>
            <a:chExt cx="3414183" cy="732790"/>
          </a:xfrm>
        </p:grpSpPr>
        <p:sp>
          <p:nvSpPr>
            <p:cNvPr id="1860" name="圓角矩形"/>
            <p:cNvSpPr/>
            <p:nvPr/>
          </p:nvSpPr>
          <p:spPr>
            <a:xfrm>
              <a:off x="0" y="0"/>
              <a:ext cx="3414184" cy="732791"/>
            </a:xfrm>
            <a:prstGeom prst="roundRect">
              <a:avLst>
                <a:gd name="adj" fmla="val 9965"/>
              </a:avLst>
            </a:prstGeom>
            <a:solidFill>
              <a:srgbClr val="F6F5F0"/>
            </a:solidFill>
            <a:ln w="6350" cap="flat">
              <a:solidFill>
                <a:srgbClr val="D3CFC3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ts val="2500"/>
                </a:lnSpc>
              </a:pPr>
            </a:p>
          </p:txBody>
        </p:sp>
        <p:sp>
          <p:nvSpPr>
            <p:cNvPr id="1861" name="Stop-the-world GC"/>
            <p:cNvSpPr txBox="1"/>
            <p:nvPr/>
          </p:nvSpPr>
          <p:spPr>
            <a:xfrm>
              <a:off x="114606" y="114606"/>
              <a:ext cx="3275015" cy="5289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4943" tIns="94943" rIns="94943" bIns="94943" numCol="1" anchor="t">
              <a:normAutofit fontScale="100000" lnSpcReduction="0"/>
            </a:bodyPr>
            <a:lstStyle>
              <a:lvl1pPr>
                <a:lnSpc>
                  <a:spcPts val="2500"/>
                </a:lnSpc>
                <a:defRPr>
                  <a:latin typeface="IBM Plex Sans Bold"/>
                  <a:ea typeface="IBM Plex Sans Bold"/>
                  <a:cs typeface="IBM Plex Sans Bold"/>
                  <a:sym typeface="IBM Plex Sans Bold"/>
                </a:defRPr>
              </a:lvl1pPr>
            </a:lstStyle>
            <a:p>
              <a:pPr/>
              <a:r>
                <a:t>Stop-the-world GC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C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6" name="Text 0"/>
          <p:cNvGrpSpPr/>
          <p:nvPr/>
        </p:nvGrpSpPr>
        <p:grpSpPr>
          <a:xfrm>
            <a:off x="812800" y="812800"/>
            <a:ext cx="1234440" cy="289560"/>
            <a:chOff x="0" y="0"/>
            <a:chExt cx="1234439" cy="289559"/>
          </a:xfrm>
        </p:grpSpPr>
        <p:sp>
          <p:nvSpPr>
            <p:cNvPr id="1864" name="圓角矩形"/>
            <p:cNvSpPr/>
            <p:nvPr/>
          </p:nvSpPr>
          <p:spPr>
            <a:xfrm>
              <a:off x="0" y="0"/>
              <a:ext cx="1234440" cy="289560"/>
            </a:xfrm>
            <a:prstGeom prst="roundRect">
              <a:avLst>
                <a:gd name="adj" fmla="val 17544"/>
              </a:avLst>
            </a:prstGeom>
            <a:solidFill>
              <a:srgbClr val="56627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1600"/>
                </a:lnSpc>
                <a:defRPr sz="1200"/>
              </a:pPr>
            </a:p>
          </p:txBody>
        </p:sp>
        <p:sp>
          <p:nvSpPr>
            <p:cNvPr id="1865" name="Backup · B6"/>
            <p:cNvSpPr txBox="1"/>
            <p:nvPr/>
          </p:nvSpPr>
          <p:spPr>
            <a:xfrm>
              <a:off x="107949" y="14879"/>
              <a:ext cx="1018541" cy="259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Backup · B6</a:t>
              </a:r>
            </a:p>
          </p:txBody>
        </p:sp>
      </p:grpSp>
      <p:sp>
        <p:nvSpPr>
          <p:cNvPr id="1867" name="Text 1"/>
          <p:cNvSpPr txBox="1"/>
          <p:nvPr>
            <p:ph type="title"/>
          </p:nvPr>
        </p:nvSpPr>
        <p:spPr>
          <a:xfrm>
            <a:off x="812799" y="135637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Critical sections are not MutexGuards</a:t>
            </a:r>
          </a:p>
        </p:txBody>
      </p:sp>
      <p:sp>
        <p:nvSpPr>
          <p:cNvPr id="1868" name="Text 2"/>
          <p:cNvSpPr txBox="1"/>
          <p:nvPr/>
        </p:nvSpPr>
        <p:spPr>
          <a:xfrm>
            <a:off x="812799" y="1973559"/>
            <a:ext cx="10883394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</a:lvl1pPr>
          </a:lstStyle>
          <a:p>
            <a:pPr/>
            <a:r>
              <a:t>They can be released when the thread is about to block.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C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2" name="Text 0"/>
          <p:cNvGrpSpPr/>
          <p:nvPr/>
        </p:nvGrpSpPr>
        <p:grpSpPr>
          <a:xfrm>
            <a:off x="812800" y="812800"/>
            <a:ext cx="1234440" cy="289560"/>
            <a:chOff x="0" y="0"/>
            <a:chExt cx="1234439" cy="289559"/>
          </a:xfrm>
        </p:grpSpPr>
        <p:sp>
          <p:nvSpPr>
            <p:cNvPr id="1870" name="圓角矩形"/>
            <p:cNvSpPr/>
            <p:nvPr/>
          </p:nvSpPr>
          <p:spPr>
            <a:xfrm>
              <a:off x="0" y="0"/>
              <a:ext cx="1234440" cy="289560"/>
            </a:xfrm>
            <a:prstGeom prst="roundRect">
              <a:avLst>
                <a:gd name="adj" fmla="val 17544"/>
              </a:avLst>
            </a:prstGeom>
            <a:solidFill>
              <a:srgbClr val="56627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1600"/>
                </a:lnSpc>
                <a:defRPr sz="1200"/>
              </a:pPr>
            </a:p>
          </p:txBody>
        </p:sp>
        <p:sp>
          <p:nvSpPr>
            <p:cNvPr id="1871" name="Backup · B7"/>
            <p:cNvSpPr txBox="1"/>
            <p:nvPr/>
          </p:nvSpPr>
          <p:spPr>
            <a:xfrm>
              <a:off x="107949" y="14879"/>
              <a:ext cx="1018541" cy="259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Backup · B7</a:t>
              </a:r>
            </a:p>
          </p:txBody>
        </p:sp>
      </p:grpSp>
      <p:sp>
        <p:nvSpPr>
          <p:cNvPr id="1873" name="Text 1"/>
          <p:cNvSpPr txBox="1"/>
          <p:nvPr>
            <p:ph type="title"/>
          </p:nvPr>
        </p:nvSpPr>
        <p:spPr>
          <a:xfrm>
            <a:off x="812799" y="135637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Why Mutex&lt;T&gt;: Sync needs only T: Send</a:t>
            </a:r>
          </a:p>
        </p:txBody>
      </p:sp>
      <p:sp>
        <p:nvSpPr>
          <p:cNvPr id="1874" name="Text 2"/>
          <p:cNvSpPr txBox="1"/>
          <p:nvPr/>
        </p:nvSpPr>
        <p:spPr>
          <a:xfrm>
            <a:off x="812800" y="1973559"/>
            <a:ext cx="273033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</a:lvl1pPr>
          </a:lstStyle>
          <a:p>
            <a:pPr/>
            <a:r>
              <a:t>The mutex hands out one </a:t>
            </a:r>
          </a:p>
        </p:txBody>
      </p:sp>
      <p:sp>
        <p:nvSpPr>
          <p:cNvPr id="1875" name="Text 3"/>
          <p:cNvSpPr txBox="1"/>
          <p:nvPr/>
        </p:nvSpPr>
        <p:spPr>
          <a:xfrm>
            <a:off x="3463607" y="1976734"/>
            <a:ext cx="101092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2500"/>
              </a:lnSpc>
              <a:defRPr>
                <a:solidFill>
                  <a:schemeClr val="accent2"/>
                </a:solidFill>
                <a:latin typeface="JetBrains Mono Bold"/>
                <a:ea typeface="JetBrains Mono Bold"/>
                <a:cs typeface="JetBrains Mono Bold"/>
                <a:sym typeface="JetBrains Mono Bold"/>
              </a:defRPr>
            </a:pPr>
            <a:r>
              <a:t>&amp;mut T</a:t>
            </a:r>
            <a:r>
              <a:rPr>
                <a:solidFill>
                  <a:srgbClr val="1B1F27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rPr>
              <a:t> </a:t>
            </a:r>
          </a:p>
        </p:txBody>
      </p:sp>
      <p:sp>
        <p:nvSpPr>
          <p:cNvPr id="1876" name="Text 4"/>
          <p:cNvSpPr txBox="1"/>
          <p:nvPr/>
        </p:nvSpPr>
        <p:spPr>
          <a:xfrm>
            <a:off x="4423728" y="1973559"/>
            <a:ext cx="1142874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</a:lvl1pPr>
          </a:lstStyle>
          <a:p>
            <a:pPr/>
            <a:r>
              <a:t>at a time.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C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0" name="Text 0"/>
          <p:cNvGrpSpPr/>
          <p:nvPr/>
        </p:nvGrpSpPr>
        <p:grpSpPr>
          <a:xfrm>
            <a:off x="812800" y="812800"/>
            <a:ext cx="1234440" cy="289560"/>
            <a:chOff x="0" y="0"/>
            <a:chExt cx="1234439" cy="289559"/>
          </a:xfrm>
        </p:grpSpPr>
        <p:sp>
          <p:nvSpPr>
            <p:cNvPr id="1878" name="圓角矩形"/>
            <p:cNvSpPr/>
            <p:nvPr/>
          </p:nvSpPr>
          <p:spPr>
            <a:xfrm>
              <a:off x="0" y="0"/>
              <a:ext cx="1234440" cy="289560"/>
            </a:xfrm>
            <a:prstGeom prst="roundRect">
              <a:avLst>
                <a:gd name="adj" fmla="val 17544"/>
              </a:avLst>
            </a:prstGeom>
            <a:solidFill>
              <a:srgbClr val="56627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1600"/>
                </a:lnSpc>
                <a:defRPr sz="1200"/>
              </a:pPr>
            </a:p>
          </p:txBody>
        </p:sp>
        <p:sp>
          <p:nvSpPr>
            <p:cNvPr id="1879" name="Backup · B8"/>
            <p:cNvSpPr txBox="1"/>
            <p:nvPr/>
          </p:nvSpPr>
          <p:spPr>
            <a:xfrm>
              <a:off x="107949" y="14879"/>
              <a:ext cx="1018541" cy="259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Backup · B8</a:t>
              </a:r>
            </a:p>
          </p:txBody>
        </p:sp>
      </p:grpSp>
      <p:sp>
        <p:nvSpPr>
          <p:cNvPr id="1881" name="Text 1"/>
          <p:cNvSpPr txBox="1"/>
          <p:nvPr>
            <p:ph type="title"/>
          </p:nvPr>
        </p:nvSpPr>
        <p:spPr>
          <a:xfrm>
            <a:off x="812799" y="135637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cache_probe, the 1 µs column</a:t>
            </a:r>
          </a:p>
        </p:txBody>
      </p:sp>
      <p:sp>
        <p:nvSpPr>
          <p:cNvPr id="1882" name="Shape 2"/>
          <p:cNvSpPr/>
          <p:nvPr/>
        </p:nvSpPr>
        <p:spPr>
          <a:xfrm>
            <a:off x="815975" y="1976734"/>
            <a:ext cx="3211514" cy="1769112"/>
          </a:xfrm>
          <a:prstGeom prst="roundRect">
            <a:avLst>
              <a:gd name="adj" fmla="val 5564"/>
            </a:avLst>
          </a:prstGeom>
          <a:solidFill>
            <a:srgbClr val="F6F5F0"/>
          </a:solidFill>
          <a:ln w="6350">
            <a:solidFill>
              <a:srgbClr val="D3CFC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83" name="Text 3"/>
          <p:cNvSpPr txBox="1"/>
          <p:nvPr/>
        </p:nvSpPr>
        <p:spPr>
          <a:xfrm>
            <a:off x="1123950" y="2208509"/>
            <a:ext cx="2673430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1900"/>
              </a:lnSpc>
              <a:defRPr sz="1400">
                <a:solidFill>
                  <a:srgbClr val="56627A"/>
                </a:solidFill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GIL on, 1 µs</a:t>
            </a:r>
          </a:p>
        </p:txBody>
      </p:sp>
      <p:sp>
        <p:nvSpPr>
          <p:cNvPr id="1884" name="Text 4"/>
          <p:cNvSpPr txBox="1"/>
          <p:nvPr/>
        </p:nvSpPr>
        <p:spPr>
          <a:xfrm>
            <a:off x="1123950" y="2508250"/>
            <a:ext cx="2900364" cy="695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96111">
              <a:lnSpc>
                <a:spcPts val="5000"/>
              </a:lnSpc>
              <a:defRPr sz="4704">
                <a:solidFill>
                  <a:srgbClr val="56627A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425–435</a:t>
            </a:r>
          </a:p>
        </p:txBody>
      </p:sp>
      <p:sp>
        <p:nvSpPr>
          <p:cNvPr id="1885" name="Text 5"/>
          <p:cNvSpPr txBox="1"/>
          <p:nvPr/>
        </p:nvSpPr>
        <p:spPr>
          <a:xfrm>
            <a:off x="1123950" y="3229619"/>
            <a:ext cx="2673430" cy="30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200"/>
              </a:lnSpc>
              <a:defRPr sz="1600">
                <a:solidFill>
                  <a:srgbClr val="3A404B"/>
                </a:solidFill>
              </a:defRPr>
            </a:lvl1pPr>
          </a:lstStyle>
          <a:p>
            <a:pPr/>
            <a:r>
              <a:t>duplicates</a:t>
            </a:r>
          </a:p>
        </p:txBody>
      </p:sp>
      <p:sp>
        <p:nvSpPr>
          <p:cNvPr id="1886" name="Text 6"/>
          <p:cNvSpPr txBox="1"/>
          <p:nvPr/>
        </p:nvSpPr>
        <p:spPr>
          <a:xfrm>
            <a:off x="4335462" y="2477790"/>
            <a:ext cx="725505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  <a:defRPr>
                <a:latin typeface="IBM Plex Sans Bold"/>
                <a:ea typeface="IBM Plex Sans Bold"/>
                <a:cs typeface="IBM Plex Sans Bold"/>
                <a:sym typeface="IBM Plex Sans Bold"/>
              </a:defRPr>
            </a:lvl1pPr>
          </a:lstStyle>
          <a:p>
            <a:pPr/>
            <a:r>
              <a:t>Higher than GIL off.</a:t>
            </a:r>
          </a:p>
        </p:txBody>
      </p:sp>
      <p:sp>
        <p:nvSpPr>
          <p:cNvPr id="1887" name="Text 7"/>
          <p:cNvSpPr txBox="1"/>
          <p:nvPr/>
        </p:nvSpPr>
        <p:spPr>
          <a:xfrm>
            <a:off x="4335462" y="2924819"/>
            <a:ext cx="725505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</a:lvl1pPr>
          </a:lstStyle>
          <a:p>
            <a:pPr/>
            <a:r>
              <a:t>Time-slicing stretches every compute window across all 8 threads.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C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1" name="Text 0"/>
          <p:cNvGrpSpPr/>
          <p:nvPr/>
        </p:nvGrpSpPr>
        <p:grpSpPr>
          <a:xfrm>
            <a:off x="812800" y="812800"/>
            <a:ext cx="1234440" cy="289560"/>
            <a:chOff x="0" y="0"/>
            <a:chExt cx="1234439" cy="289559"/>
          </a:xfrm>
        </p:grpSpPr>
        <p:sp>
          <p:nvSpPr>
            <p:cNvPr id="1889" name="圓角矩形"/>
            <p:cNvSpPr/>
            <p:nvPr/>
          </p:nvSpPr>
          <p:spPr>
            <a:xfrm>
              <a:off x="0" y="0"/>
              <a:ext cx="1234440" cy="289560"/>
            </a:xfrm>
            <a:prstGeom prst="roundRect">
              <a:avLst>
                <a:gd name="adj" fmla="val 17544"/>
              </a:avLst>
            </a:prstGeom>
            <a:solidFill>
              <a:srgbClr val="56627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1600"/>
                </a:lnSpc>
                <a:defRPr sz="1200"/>
              </a:pPr>
            </a:p>
          </p:txBody>
        </p:sp>
        <p:sp>
          <p:nvSpPr>
            <p:cNvPr id="1890" name="Backup · B9"/>
            <p:cNvSpPr txBox="1"/>
            <p:nvPr/>
          </p:nvSpPr>
          <p:spPr>
            <a:xfrm>
              <a:off x="107949" y="14879"/>
              <a:ext cx="1018541" cy="259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normAutofit fontScale="100000" lnSpcReduction="0"/>
            </a:bodyPr>
            <a:lstStyle>
              <a:lvl1pPr algn="ctr">
                <a:lnSpc>
                  <a:spcPts val="1600"/>
                </a:lnSpc>
                <a:defRPr sz="1200">
                  <a:solidFill>
                    <a:srgbClr val="F6F5F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defRPr>
              </a:lvl1pPr>
            </a:lstStyle>
            <a:p>
              <a:pPr/>
              <a:r>
                <a:t>Backup · B9</a:t>
              </a:r>
            </a:p>
          </p:txBody>
        </p:sp>
      </p:grpSp>
      <p:sp>
        <p:nvSpPr>
          <p:cNvPr id="1892" name="Text 1"/>
          <p:cNvSpPr txBox="1"/>
          <p:nvPr>
            <p:ph type="title"/>
          </p:nvPr>
        </p:nvSpPr>
        <p:spPr>
          <a:xfrm>
            <a:off x="812799" y="1356370"/>
            <a:ext cx="10883394" cy="388621"/>
          </a:xfrm>
          <a:prstGeom prst="rect">
            <a:avLst/>
          </a:prstGeom>
        </p:spPr>
        <p:txBody>
          <a:bodyPr/>
          <a:lstStyle>
            <a:lvl1pPr>
              <a:lnSpc>
                <a:spcPts val="2800"/>
              </a:lnSpc>
              <a:defRPr spc="-100"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pPr/>
            <a:r>
              <a:t>Why 5x on 8 threads</a:t>
            </a:r>
          </a:p>
        </p:txBody>
      </p:sp>
      <p:sp>
        <p:nvSpPr>
          <p:cNvPr id="1893" name="Text 2"/>
          <p:cNvSpPr txBox="1"/>
          <p:nvPr/>
        </p:nvSpPr>
        <p:spPr>
          <a:xfrm>
            <a:off x="812799" y="1973559"/>
            <a:ext cx="10883394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ts val="2500"/>
              </a:lnSpc>
            </a:lvl1pPr>
          </a:lstStyle>
          <a:p>
            <a:pPr/>
            <a:r>
              <a:t>Apple M1 Pro: 6 performance + 2 efficiency cores.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Unlearning the GIL in Free-threaded Python">
  <a:themeElements>
    <a:clrScheme name="Unlearning the GIL in Free-threaded Python">
      <a:dk1>
        <a:srgbClr val="1B1F27"/>
      </a:dk1>
      <a:lt1>
        <a:srgbClr val="F6F5F0"/>
      </a:lt1>
      <a:dk2>
        <a:srgbClr val="A7A7A7"/>
      </a:dk2>
      <a:lt2>
        <a:srgbClr val="535353"/>
      </a:lt2>
      <a:accent1>
        <a:srgbClr val="2F62B0"/>
      </a:accent1>
      <a:accent2>
        <a:srgbClr val="B4461A"/>
      </a:accent2>
      <a:accent3>
        <a:srgbClr val="F7DC7A"/>
      </a:accent3>
      <a:accent4>
        <a:srgbClr val="0E7A69"/>
      </a:accent4>
      <a:accent5>
        <a:srgbClr val="FBF3D2"/>
      </a:accent5>
      <a:accent6>
        <a:srgbClr val="7FA6E0"/>
      </a:accent6>
      <a:hlink>
        <a:srgbClr val="0000FF"/>
      </a:hlink>
      <a:folHlink>
        <a:srgbClr val="FF00FF"/>
      </a:folHlink>
    </a:clrScheme>
    <a:fontScheme name="Unlearning the GIL in Free-threaded Python">
      <a:majorFont>
        <a:latin typeface="IBM Plex Sans Regular"/>
        <a:ea typeface="IBM Plex Sans Regular"/>
        <a:cs typeface="IBM Plex Sans Regular"/>
      </a:majorFont>
      <a:minorFont>
        <a:latin typeface="Helvetica"/>
        <a:ea typeface="Helvetica"/>
        <a:cs typeface="Helvetica"/>
      </a:minorFont>
    </a:fontScheme>
    <a:fmtScheme name="Unlearning the GIL in Free-threaded Pyth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6F5F0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B1F27"/>
            </a:solidFill>
            <a:effectLst/>
            <a:uFillTx/>
            <a:latin typeface="+mj-lt"/>
            <a:ea typeface="+mj-ea"/>
            <a:cs typeface="+mj-cs"/>
            <a:sym typeface="IBM Plex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B1F27"/>
            </a:solidFill>
            <a:effectLst/>
            <a:uFillTx/>
            <a:latin typeface="+mj-lt"/>
            <a:ea typeface="+mj-ea"/>
            <a:cs typeface="+mj-cs"/>
            <a:sym typeface="IBM Plex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Unlearning the GIL in Free-threaded Python">
  <a:themeElements>
    <a:clrScheme name="Unlearning the GIL in Free-threaded Pyth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2F62B0"/>
      </a:accent1>
      <a:accent2>
        <a:srgbClr val="B4461A"/>
      </a:accent2>
      <a:accent3>
        <a:srgbClr val="F7DC7A"/>
      </a:accent3>
      <a:accent4>
        <a:srgbClr val="0E7A69"/>
      </a:accent4>
      <a:accent5>
        <a:srgbClr val="FBF3D2"/>
      </a:accent5>
      <a:accent6>
        <a:srgbClr val="7FA6E0"/>
      </a:accent6>
      <a:hlink>
        <a:srgbClr val="0000FF"/>
      </a:hlink>
      <a:folHlink>
        <a:srgbClr val="FF00FF"/>
      </a:folHlink>
    </a:clrScheme>
    <a:fontScheme name="Unlearning the GIL in Free-threaded Python">
      <a:majorFont>
        <a:latin typeface="IBM Plex Sans Regular"/>
        <a:ea typeface="IBM Plex Sans Regular"/>
        <a:cs typeface="IBM Plex Sans Regular"/>
      </a:majorFont>
      <a:minorFont>
        <a:latin typeface="Helvetica"/>
        <a:ea typeface="Helvetica"/>
        <a:cs typeface="Helvetica"/>
      </a:minorFont>
    </a:fontScheme>
    <a:fmtScheme name="Unlearning the GIL in Free-threaded Pyth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6F5F0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B1F27"/>
            </a:solidFill>
            <a:effectLst/>
            <a:uFillTx/>
            <a:latin typeface="+mj-lt"/>
            <a:ea typeface="+mj-ea"/>
            <a:cs typeface="+mj-cs"/>
            <a:sym typeface="IBM Plex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B1F27"/>
            </a:solidFill>
            <a:effectLst/>
            <a:uFillTx/>
            <a:latin typeface="+mj-lt"/>
            <a:ea typeface="+mj-ea"/>
            <a:cs typeface="+mj-cs"/>
            <a:sym typeface="IBM Plex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Unlearning the GIL in Free-threaded Python</dc:title>
  <dc:subject>Rethinking Python concurrency through a Rust lens (PyCon TW 2026)</dc:subject>
  <dc:creator>Xavier Yen (顏志穎)</dc:creator>
  <cp:keywords>Python; free-threading; GIL; Rust; PyO3; concurrency; PyCon TW 2026</cp:keywords>
  <dc:description>Slides for the PyCon TW 2026 talk. Companion repo: https://github.com/xavierforge/red_envelope_demo</dc:description>
  <cp:lastModifiedBy>Xavier Yen (顏志穎)</cp:lastModifiedBy>
  <dc:language>en-US</dc:language>
  <dcterms:created xsi:type="dcterms:W3CDTF">2026-10-17T00:00:00Z</dcterms:created>
  <dcterms:modified xsi:type="dcterms:W3CDTF">2026-10-17T00:00:00Z</dcterms:modified>
</cp:coreProperties>
</file>